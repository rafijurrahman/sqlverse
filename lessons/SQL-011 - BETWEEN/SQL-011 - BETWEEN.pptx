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13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51" d="100"/>
          <a:sy n="151" d="100"/>
        </p:scale>
        <p:origin x="474" y="13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Relationship Id="rId13" Type="http://schemas.openxmlformats.org/officeDocument/2006/relationships/slide" Target="slides/slide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0135083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715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371600" cy="365760"/>
          </a:xfrm>
          <a:prstGeom prst="roundRect">
            <a:avLst>
              <a:gd name="adj" fmla="val 50000"/>
            </a:avLst>
          </a:prstGeom>
          <a:solidFill>
            <a:srgbClr val="0F2540"/>
          </a:solidFill>
          <a:ln w="12700">
            <a:solidFill>
              <a:srgbClr val="3B82F6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548640" y="457200"/>
            <a:ext cx="1371600" cy="36576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8AA0BF"/>
                </a:solidFill>
                <a:latin typeface="MiSans"/>
              </a:rPr>
              <a:t>SQL-011</a:t>
            </a:r>
          </a:p>
        </p:txBody>
      </p:sp>
      <p:sp>
        <p:nvSpPr>
          <p:cNvPr id="4" name="Text 2"/>
          <p:cNvSpPr/>
          <p:nvPr/>
        </p:nvSpPr>
        <p:spPr>
          <a:xfrm>
            <a:off x="548640" y="914400"/>
            <a:ext cx="5669280" cy="91440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FFFFFF"/>
                </a:solidFill>
                <a:latin typeface="MiSans"/>
              </a:rPr>
              <a:t>BETWEEN</a:t>
            </a:r>
          </a:p>
        </p:txBody>
      </p:sp>
      <p:sp>
        <p:nvSpPr>
          <p:cNvPr id="5" name="Text 3"/>
          <p:cNvSpPr/>
          <p:nvPr/>
        </p:nvSpPr>
        <p:spPr>
          <a:xfrm>
            <a:off x="548640" y="1691640"/>
            <a:ext cx="5486400" cy="45720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C9D4E5"/>
                </a:solidFill>
                <a:latin typeface="MiSans"/>
              </a:rPr>
              <a:t>Filter rows within a specific range of values.</a:t>
            </a:r>
          </a:p>
        </p:txBody>
      </p:sp>
      <p:sp>
        <p:nvSpPr>
          <p:cNvPr id="6" name="Text 4"/>
          <p:cNvSpPr/>
          <p:nvPr/>
        </p:nvSpPr>
        <p:spPr>
          <a:xfrm>
            <a:off x="548640" y="2148840"/>
            <a:ext cx="5120640" cy="82296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C9D4E5"/>
                </a:solidFill>
                <a:latin typeface="MiSans"/>
              </a:rPr>
              <a:t>BETWEEN checks if a value falls inside an inclusive range of numbers, texts, or dates.</a:t>
            </a:r>
          </a:p>
        </p:txBody>
      </p:sp>
      <p:sp>
        <p:nvSpPr>
          <p:cNvPr id="7" name="Text 5"/>
          <p:cNvSpPr/>
          <p:nvPr/>
        </p:nvSpPr>
        <p:spPr>
          <a:xfrm>
            <a:off x="548640" y="3246120"/>
            <a:ext cx="274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68680" y="3246120"/>
            <a:ext cx="4389120" cy="32004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C9D4E5"/>
                </a:solidFill>
                <a:latin typeface="MiSans"/>
              </a:rPr>
              <a:t>Practical Business Examples</a:t>
            </a:r>
          </a:p>
        </p:txBody>
      </p:sp>
      <p:sp>
        <p:nvSpPr>
          <p:cNvPr id="9" name="Text 7"/>
          <p:cNvSpPr/>
          <p:nvPr/>
        </p:nvSpPr>
        <p:spPr>
          <a:xfrm>
            <a:off x="548640" y="3630168"/>
            <a:ext cx="274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868680" y="3630168"/>
            <a:ext cx="4389120" cy="32004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C9D4E5"/>
                </a:solidFill>
                <a:latin typeface="MiSans"/>
              </a:rPr>
              <a:t>Real SQL Practice</a:t>
            </a:r>
          </a:p>
        </p:txBody>
      </p:sp>
      <p:sp>
        <p:nvSpPr>
          <p:cNvPr id="11" name="Text 9"/>
          <p:cNvSpPr/>
          <p:nvPr/>
        </p:nvSpPr>
        <p:spPr>
          <a:xfrm>
            <a:off x="548640" y="4014216"/>
            <a:ext cx="274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868680" y="4014216"/>
            <a:ext cx="4389120" cy="32004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C9D4E5"/>
                </a:solidFill>
                <a:latin typeface="MiSans"/>
              </a:rPr>
              <a:t>Beginner Friendly</a:t>
            </a:r>
          </a:p>
        </p:txBody>
      </p:sp>
      <p:sp>
        <p:nvSpPr>
          <p:cNvPr id="13" name="Shape 11"/>
          <p:cNvSpPr/>
          <p:nvPr/>
        </p:nvSpPr>
        <p:spPr>
          <a:xfrm>
            <a:off x="5989320" y="502920"/>
            <a:ext cx="2651760" cy="1691640"/>
          </a:xfrm>
          <a:prstGeom prst="roundRect">
            <a:avLst>
              <a:gd name="adj" fmla="val 4324"/>
            </a:avLst>
          </a:prstGeom>
          <a:solidFill>
            <a:srgbClr val="081B30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6190488" y="649224"/>
            <a:ext cx="2249424" cy="1399032"/>
          </a:xfrm>
          <a:prstGeom prst="rect">
            <a:avLst/>
          </a:prstGeom>
          <a:noFill/>
          <a:ln/>
        </p:spPr>
        <p:txBody>
          <a:bodyPr wrap="square" lIns="182880" tIns="182880" rIns="182880" bIns="182880" rtlCol="0" anchor="ctr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SELECT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*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FROM products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WHERE price BETWEEN 500 AND 3000;</a:t>
            </a:r>
          </a:p>
        </p:txBody>
      </p:sp>
      <p:sp>
        <p:nvSpPr>
          <p:cNvPr id="15" name="Shape 13"/>
          <p:cNvSpPr/>
          <p:nvPr/>
        </p:nvSpPr>
        <p:spPr>
          <a:xfrm>
            <a:off x="5989320" y="2395728"/>
            <a:ext cx="2651760" cy="457200"/>
          </a:xfrm>
          <a:prstGeom prst="roundRect">
            <a:avLst>
              <a:gd name="adj" fmla="val 12000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5989320" y="2395728"/>
            <a:ext cx="2651760" cy="45720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MiSans"/>
              </a:rPr>
              <a:t>Database</a:t>
            </a:r>
          </a:p>
        </p:txBody>
      </p:sp>
      <p:sp>
        <p:nvSpPr>
          <p:cNvPr id="17" name="Text 15"/>
          <p:cNvSpPr/>
          <p:nvPr/>
        </p:nvSpPr>
        <p:spPr>
          <a:xfrm>
            <a:off x="5989320" y="283464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↓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5989320" y="2980944"/>
            <a:ext cx="2651760" cy="457200"/>
          </a:xfrm>
          <a:prstGeom prst="roundRect">
            <a:avLst>
              <a:gd name="adj" fmla="val 12000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19" name="Text 17"/>
          <p:cNvSpPr/>
          <p:nvPr/>
        </p:nvSpPr>
        <p:spPr>
          <a:xfrm>
            <a:off x="5989320" y="2980944"/>
            <a:ext cx="2651760" cy="45720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MiSans"/>
              </a:rPr>
              <a:t>products Table</a:t>
            </a:r>
          </a:p>
        </p:txBody>
      </p:sp>
      <p:sp>
        <p:nvSpPr>
          <p:cNvPr id="20" name="Text 18"/>
          <p:cNvSpPr/>
          <p:nvPr/>
        </p:nvSpPr>
        <p:spPr>
          <a:xfrm>
            <a:off x="5989320" y="3419856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↓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5989320" y="3566160"/>
            <a:ext cx="2651760" cy="457200"/>
          </a:xfrm>
          <a:prstGeom prst="roundRect">
            <a:avLst>
              <a:gd name="adj" fmla="val 12000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22" name="Text 20"/>
          <p:cNvSpPr/>
          <p:nvPr/>
        </p:nvSpPr>
        <p:spPr>
          <a:xfrm>
            <a:off x="5989320" y="3566160"/>
            <a:ext cx="2651760" cy="45720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MiSans"/>
              </a:rPr>
              <a:t>SELECT</a:t>
            </a:r>
          </a:p>
        </p:txBody>
      </p:sp>
      <p:sp>
        <p:nvSpPr>
          <p:cNvPr id="23" name="Text 21"/>
          <p:cNvSpPr/>
          <p:nvPr/>
        </p:nvSpPr>
        <p:spPr>
          <a:xfrm>
            <a:off x="5989320" y="4005072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↓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5989320" y="4151376"/>
            <a:ext cx="2651760" cy="457200"/>
          </a:xfrm>
          <a:prstGeom prst="roundRect">
            <a:avLst>
              <a:gd name="adj" fmla="val 12000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25" name="Text 23"/>
          <p:cNvSpPr/>
          <p:nvPr/>
        </p:nvSpPr>
        <p:spPr>
          <a:xfrm>
            <a:off x="5989320" y="4151376"/>
            <a:ext cx="2651760" cy="45720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MiSans"/>
              </a:rPr>
              <a:t>Returned Result</a:t>
            </a:r>
          </a:p>
        </p:txBody>
      </p:sp>
      <p:sp>
        <p:nvSpPr>
          <p:cNvPr id="26" name="Text 24"/>
          <p:cNvSpPr/>
          <p:nvPr/>
        </p:nvSpPr>
        <p:spPr>
          <a:xfrm>
            <a:off x="457200" y="4777740"/>
            <a:ext cx="4572000" cy="27432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8AA0BF"/>
                </a:solidFill>
                <a:latin typeface="MiSans"/>
              </a:rPr>
              <a:t>SQL MASTER  ·  SQL-011: BETWEEN</a:t>
            </a:r>
          </a:p>
        </p:txBody>
      </p:sp>
      <p:sp>
        <p:nvSpPr>
          <p:cNvPr id="27" name="Text 25"/>
          <p:cNvSpPr/>
          <p:nvPr/>
        </p:nvSpPr>
        <p:spPr>
          <a:xfrm>
            <a:off x="7772400" y="4777740"/>
            <a:ext cx="914400" cy="27432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8AA0BF"/>
                </a:solidFill>
                <a:latin typeface="MiSans"/>
              </a:rPr>
              <a:t>01 / 06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715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8046720" cy="59436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FFFFFF"/>
                </a:solidFill>
                <a:latin typeface="MiSans"/>
              </a:rPr>
              <a:t>What is BETWEEN?</a:t>
            </a:r>
          </a:p>
        </p:txBody>
      </p:sp>
      <p:sp>
        <p:nvSpPr>
          <p:cNvPr id="3" name="Shape 1"/>
          <p:cNvSpPr/>
          <p:nvPr/>
        </p:nvSpPr>
        <p:spPr>
          <a:xfrm>
            <a:off x="548640" y="11430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0C1E33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749808" y="1307592"/>
            <a:ext cx="2203704" cy="27432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MiSans"/>
              </a:rPr>
              <a:t>WHAT</a:t>
            </a:r>
          </a:p>
        </p:txBody>
      </p:sp>
      <p:sp>
        <p:nvSpPr>
          <p:cNvPr id="5" name="Text 3"/>
          <p:cNvSpPr/>
          <p:nvPr/>
        </p:nvSpPr>
        <p:spPr>
          <a:xfrm>
            <a:off x="749808" y="1645920"/>
            <a:ext cx="2203704" cy="73152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C9D4E5"/>
                </a:solidFill>
                <a:latin typeface="MiSans"/>
              </a:rPr>
              <a:t>BETWEEN checks if a value falls inside an inclusive range of numbers, texts, or dates.</a:t>
            </a:r>
          </a:p>
        </p:txBody>
      </p:sp>
      <p:sp>
        <p:nvSpPr>
          <p:cNvPr id="6" name="Shape 4"/>
          <p:cNvSpPr/>
          <p:nvPr/>
        </p:nvSpPr>
        <p:spPr>
          <a:xfrm>
            <a:off x="3383280" y="11430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0C1E33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3584448" y="1307592"/>
            <a:ext cx="2203704" cy="27432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MiSans"/>
              </a:rPr>
              <a:t>WHY</a:t>
            </a:r>
          </a:p>
        </p:txBody>
      </p:sp>
      <p:sp>
        <p:nvSpPr>
          <p:cNvPr id="8" name="Text 6"/>
          <p:cNvSpPr/>
          <p:nvPr/>
        </p:nvSpPr>
        <p:spPr>
          <a:xfrm>
            <a:off x="3584448" y="1645920"/>
            <a:ext cx="2203704" cy="73152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C9D4E5"/>
                </a:solidFill>
                <a:latin typeface="MiSans"/>
              </a:rPr>
              <a:t>It provides a cleaner syntax than combining greater-than and less-than operators.</a:t>
            </a:r>
          </a:p>
        </p:txBody>
      </p:sp>
      <p:sp>
        <p:nvSpPr>
          <p:cNvPr id="9" name="Shape 7"/>
          <p:cNvSpPr/>
          <p:nvPr/>
        </p:nvSpPr>
        <p:spPr>
          <a:xfrm>
            <a:off x="6217920" y="11430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0C1E33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6419088" y="1307592"/>
            <a:ext cx="2203704" cy="27432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MiSans"/>
              </a:rPr>
              <a:t>WHEN</a:t>
            </a:r>
          </a:p>
        </p:txBody>
      </p:sp>
      <p:sp>
        <p:nvSpPr>
          <p:cNvPr id="11" name="Text 9"/>
          <p:cNvSpPr/>
          <p:nvPr/>
        </p:nvSpPr>
        <p:spPr>
          <a:xfrm>
            <a:off x="6419088" y="1645920"/>
            <a:ext cx="2203704" cy="73152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C9D4E5"/>
                </a:solidFill>
                <a:latin typeface="MiSans"/>
              </a:rPr>
              <a:t>Use BETWEEN when filtering values within range boundaries, like price or date scopes.</a:t>
            </a:r>
          </a:p>
        </p:txBody>
      </p:sp>
      <p:sp>
        <p:nvSpPr>
          <p:cNvPr id="12" name="Text 10"/>
          <p:cNvSpPr/>
          <p:nvPr/>
        </p:nvSpPr>
        <p:spPr>
          <a:xfrm>
            <a:off x="548640" y="288036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EXAMPLE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48640" y="3246120"/>
            <a:ext cx="2606040" cy="1188720"/>
          </a:xfrm>
          <a:prstGeom prst="roundRect">
            <a:avLst>
              <a:gd name="adj" fmla="val 6154"/>
            </a:avLst>
          </a:prstGeom>
          <a:solidFill>
            <a:srgbClr val="0C1E33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749808" y="3410712"/>
            <a:ext cx="2203704" cy="32004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MiSans"/>
              </a:rPr>
              <a:t>Database</a:t>
            </a:r>
          </a:p>
        </p:txBody>
      </p:sp>
      <p:sp>
        <p:nvSpPr>
          <p:cNvPr id="15" name="Text 13"/>
          <p:cNvSpPr/>
          <p:nvPr/>
        </p:nvSpPr>
        <p:spPr>
          <a:xfrm>
            <a:off x="749808" y="3794760"/>
            <a:ext cx="2203704" cy="45720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C9D4E5"/>
                </a:solidFill>
                <a:latin typeface="MiSans"/>
              </a:rPr>
              <a:t>Full source data</a:t>
            </a:r>
          </a:p>
        </p:txBody>
      </p:sp>
      <p:sp>
        <p:nvSpPr>
          <p:cNvPr id="16" name="Shape 14"/>
          <p:cNvSpPr/>
          <p:nvPr/>
        </p:nvSpPr>
        <p:spPr>
          <a:xfrm>
            <a:off x="3383280" y="3246120"/>
            <a:ext cx="2606040" cy="1188720"/>
          </a:xfrm>
          <a:prstGeom prst="roundRect">
            <a:avLst>
              <a:gd name="adj" fmla="val 6154"/>
            </a:avLst>
          </a:prstGeom>
          <a:solidFill>
            <a:srgbClr val="0C1E33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3584448" y="3410712"/>
            <a:ext cx="2203704" cy="32004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MiSans"/>
              </a:rPr>
              <a:t>BETWEEN</a:t>
            </a:r>
          </a:p>
        </p:txBody>
      </p:sp>
      <p:sp>
        <p:nvSpPr>
          <p:cNvPr id="18" name="Text 16"/>
          <p:cNvSpPr/>
          <p:nvPr/>
        </p:nvSpPr>
        <p:spPr>
          <a:xfrm>
            <a:off x="3584448" y="3794760"/>
            <a:ext cx="2203704" cy="45720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C9D4E5"/>
                </a:solidFill>
                <a:latin typeface="MiSans"/>
              </a:rPr>
              <a:t>Apply criteria</a:t>
            </a:r>
          </a:p>
        </p:txBody>
      </p:sp>
      <p:sp>
        <p:nvSpPr>
          <p:cNvPr id="19" name="Shape 17"/>
          <p:cNvSpPr/>
          <p:nvPr/>
        </p:nvSpPr>
        <p:spPr>
          <a:xfrm>
            <a:off x="6217920" y="3246120"/>
            <a:ext cx="2606040" cy="1188720"/>
          </a:xfrm>
          <a:prstGeom prst="roundRect">
            <a:avLst>
              <a:gd name="adj" fmla="val 6154"/>
            </a:avLst>
          </a:prstGeom>
          <a:solidFill>
            <a:srgbClr val="0C1E33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20" name="Text 18"/>
          <p:cNvSpPr/>
          <p:nvPr/>
        </p:nvSpPr>
        <p:spPr>
          <a:xfrm>
            <a:off x="6419088" y="3410712"/>
            <a:ext cx="2203704" cy="32004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MiSans"/>
              </a:rPr>
              <a:t>Returned Result</a:t>
            </a:r>
          </a:p>
        </p:txBody>
      </p:sp>
      <p:sp>
        <p:nvSpPr>
          <p:cNvPr id="21" name="Text 19"/>
          <p:cNvSpPr/>
          <p:nvPr/>
        </p:nvSpPr>
        <p:spPr>
          <a:xfrm>
            <a:off x="6419088" y="3794760"/>
            <a:ext cx="2203704" cy="45720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C9D4E5"/>
                </a:solidFill>
                <a:latin typeface="MiSans"/>
              </a:rPr>
              <a:t>Only requested rows</a:t>
            </a:r>
          </a:p>
        </p:txBody>
      </p:sp>
      <p:sp>
        <p:nvSpPr>
          <p:cNvPr id="22" name="Text 20"/>
          <p:cNvSpPr/>
          <p:nvPr/>
        </p:nvSpPr>
        <p:spPr>
          <a:xfrm>
            <a:off x="544830" y="4457700"/>
            <a:ext cx="8046720" cy="32004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1">
                <a:solidFill>
                  <a:srgbClr val="FFC83D"/>
                </a:solidFill>
                <a:latin typeface="MiSans"/>
              </a:rPr>
              <a:t>TIP:  Always verify performance of BETWEEN on large tables.</a:t>
            </a:r>
          </a:p>
        </p:txBody>
      </p:sp>
      <p:sp>
        <p:nvSpPr>
          <p:cNvPr id="23" name="Text 21"/>
          <p:cNvSpPr/>
          <p:nvPr/>
        </p:nvSpPr>
        <p:spPr>
          <a:xfrm>
            <a:off x="457200" y="4777740"/>
            <a:ext cx="4572000" cy="27432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8AA0BF"/>
                </a:solidFill>
                <a:latin typeface="MiSans"/>
              </a:rPr>
              <a:t>SQL MASTER  ·  SQL-011: BETWEEN</a:t>
            </a:r>
          </a:p>
        </p:txBody>
      </p:sp>
      <p:sp>
        <p:nvSpPr>
          <p:cNvPr id="24" name="Text 22"/>
          <p:cNvSpPr/>
          <p:nvPr/>
        </p:nvSpPr>
        <p:spPr>
          <a:xfrm>
            <a:off x="7772400" y="4777740"/>
            <a:ext cx="914400" cy="27432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8AA0BF"/>
                </a:solidFill>
                <a:latin typeface="MiSans"/>
              </a:rPr>
              <a:t>02 / 06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715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046720" cy="54864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FFFFFF"/>
                </a:solidFill>
                <a:latin typeface="MiSans"/>
              </a:rPr>
              <a:t>How Does BETWEEN Work?</a:t>
            </a:r>
          </a:p>
        </p:txBody>
      </p:sp>
      <p:sp>
        <p:nvSpPr>
          <p:cNvPr id="3" name="Shape 1"/>
          <p:cNvSpPr/>
          <p:nvPr/>
        </p:nvSpPr>
        <p:spPr>
          <a:xfrm>
            <a:off x="649224" y="960120"/>
            <a:ext cx="1481328" cy="548640"/>
          </a:xfrm>
          <a:prstGeom prst="roundRect">
            <a:avLst>
              <a:gd name="adj" fmla="val 13333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" name="Text 2"/>
          <p:cNvSpPr/>
          <p:nvPr/>
        </p:nvSpPr>
        <p:spPr>
          <a:xfrm>
            <a:off x="649224" y="960120"/>
            <a:ext cx="14813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D7DE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Database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2130552" y="960120"/>
            <a:ext cx="1280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240280" y="960120"/>
            <a:ext cx="1481328" cy="548640"/>
          </a:xfrm>
          <a:prstGeom prst="roundRect">
            <a:avLst>
              <a:gd name="adj" fmla="val 13333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Text 5"/>
          <p:cNvSpPr/>
          <p:nvPr/>
        </p:nvSpPr>
        <p:spPr>
          <a:xfrm>
            <a:off x="2240280" y="960120"/>
            <a:ext cx="14813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D7DE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Products Table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3721608" y="960120"/>
            <a:ext cx="1280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831336" y="960120"/>
            <a:ext cx="1481328" cy="548640"/>
          </a:xfrm>
          <a:prstGeom prst="roundRect">
            <a:avLst>
              <a:gd name="adj" fmla="val 13333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" name="Text 8"/>
          <p:cNvSpPr/>
          <p:nvPr/>
        </p:nvSpPr>
        <p:spPr>
          <a:xfrm>
            <a:off x="3895344" y="960120"/>
            <a:ext cx="14813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D7DE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Evaluate Condition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5312664" y="960120"/>
            <a:ext cx="1280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477256" y="960120"/>
            <a:ext cx="1481328" cy="548640"/>
          </a:xfrm>
          <a:prstGeom prst="roundRect">
            <a:avLst>
              <a:gd name="adj" fmla="val 13333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" name="Text 11"/>
          <p:cNvSpPr/>
          <p:nvPr/>
        </p:nvSpPr>
        <p:spPr>
          <a:xfrm>
            <a:off x="5422392" y="960120"/>
            <a:ext cx="14813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D7DE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Keep Matching Rows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6903720" y="960120"/>
            <a:ext cx="1280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7141464" y="948690"/>
            <a:ext cx="1481328" cy="548640"/>
          </a:xfrm>
          <a:prstGeom prst="roundRect">
            <a:avLst>
              <a:gd name="adj" fmla="val 13333"/>
            </a:avLst>
          </a:prstGeom>
          <a:solidFill>
            <a:srgbClr val="0F2E1E"/>
          </a:solidFill>
          <a:ln w="12700">
            <a:solidFill>
              <a:srgbClr val="21314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6" name="Text 14"/>
          <p:cNvSpPr/>
          <p:nvPr/>
        </p:nvSpPr>
        <p:spPr>
          <a:xfrm>
            <a:off x="7013448" y="960120"/>
            <a:ext cx="14813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Return Result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548640" y="178308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DATABASE PREVIEW</a:t>
            </a:r>
            <a:endParaRPr lang="en-US" sz="1200" dirty="0"/>
          </a:p>
        </p:txBody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103120"/>
          <a:ext cx="3342132" cy="1847088"/>
        </p:xfrm>
        <a:graphic>
          <a:graphicData uri="http://schemas.openxmlformats.org/drawingml/2006/table">
            <a:tbl>
              <a:tblPr/>
              <a:tblGrid>
                <a:gridCol w="42748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8244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715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6065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5908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1">
                          <a:solidFill>
                            <a:srgbClr val="FFFFFF"/>
                          </a:solidFill>
                          <a:latin typeface="MiSans"/>
                        </a:rPr>
                        <a:t>product_id</a:t>
                      </a:r>
                    </a:p>
                  </a:txBody>
                  <a:tcPr marL="109728" marR="109728" marT="109728" marB="91440" anchor="ctr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1">
                          <a:solidFill>
                            <a:srgbClr val="FFFFFF"/>
                          </a:solidFill>
                          <a:latin typeface="MiSans"/>
                        </a:rPr>
                        <a:t>product_name</a:t>
                      </a:r>
                    </a:p>
                  </a:txBody>
                  <a:tcPr marL="109728" marR="109728" marT="109728" marB="91440" anchor="ctr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1">
                          <a:solidFill>
                            <a:srgbClr val="FFFFFF"/>
                          </a:solidFill>
                          <a:latin typeface="MiSans"/>
                        </a:rPr>
                        <a:t>brand</a:t>
                      </a:r>
                    </a:p>
                  </a:txBody>
                  <a:tcPr marL="109728" marR="109728" marT="109728" marB="91440" anchor="ctr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1">
                          <a:solidFill>
                            <a:srgbClr val="FFFFFF"/>
                          </a:solidFill>
                          <a:latin typeface="MiSans"/>
                        </a:rPr>
                        <a:t>category</a:t>
                      </a:r>
                    </a:p>
                  </a:txBody>
                  <a:tcPr marL="109728" marR="109728" marT="109728" marB="91440" anchor="ctr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908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1</a:t>
                      </a:r>
                    </a:p>
                  </a:txBody>
                  <a:tcPr marL="109728" marR="109728" marT="109728" marB="91440" anchor="ctr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Sticky Notes</a:t>
                      </a:r>
                    </a:p>
                  </a:txBody>
                  <a:tcPr marL="109728" marR="109728" marT="109728" marB="91440" anchor="ctr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Navana</a:t>
                      </a:r>
                    </a:p>
                  </a:txBody>
                  <a:tcPr marL="109728" marR="109728" marT="109728" marB="91440" anchor="ctr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Stationery</a:t>
                      </a:r>
                    </a:p>
                  </a:txBody>
                  <a:tcPr marL="109728" marR="109728" marT="109728" marB="91440" anchor="ctr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908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2</a:t>
                      </a:r>
                    </a:p>
                  </a:txBody>
                  <a:tcPr marL="109728" marR="109728" marT="109728" marB="91440" anchor="ctr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Marker Set</a:t>
                      </a:r>
                    </a:p>
                  </a:txBody>
                  <a:tcPr marL="109728" marR="109728" marT="109728" marB="91440" anchor="ctr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Artline</a:t>
                      </a:r>
                    </a:p>
                  </a:txBody>
                  <a:tcPr marL="109728" marR="109728" marT="109728" marB="91440" anchor="ctr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Stationery</a:t>
                      </a:r>
                    </a:p>
                  </a:txBody>
                  <a:tcPr marL="109728" marR="109728" marT="109728" marB="91440" anchor="ctr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5908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3</a:t>
                      </a:r>
                    </a:p>
                  </a:txBody>
                  <a:tcPr marL="109728" marR="109728" marT="109728" marB="91440" anchor="ctr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Notebook A5</a:t>
                      </a:r>
                    </a:p>
                  </a:txBody>
                  <a:tcPr marL="109728" marR="109728" marT="109728" marB="91440" anchor="ctr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Navana</a:t>
                      </a:r>
                    </a:p>
                  </a:txBody>
                  <a:tcPr marL="109728" marR="109728" marT="109728" marB="91440" anchor="ctr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Stationery</a:t>
                      </a:r>
                    </a:p>
                  </a:txBody>
                  <a:tcPr marL="109728" marR="109728" marT="109728" marB="91440" anchor="ctr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5908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…</a:t>
                      </a:r>
                    </a:p>
                  </a:txBody>
                  <a:tcPr marL="109728" marR="109728" marT="109728" marB="91440" anchor="ctr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…</a:t>
                      </a:r>
                    </a:p>
                  </a:txBody>
                  <a:tcPr marL="109728" marR="109728" marT="109728" marB="91440" anchor="ctr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…</a:t>
                      </a:r>
                    </a:p>
                  </a:txBody>
                  <a:tcPr marL="109728" marR="109728" marT="109728" marB="91440" anchor="ctr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…</a:t>
                      </a:r>
                    </a:p>
                  </a:txBody>
                  <a:tcPr marL="109728" marR="109728" marT="109728" marB="91440" anchor="ctr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5908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/>
                    </a:p>
                  </a:txBody>
                  <a:tcPr marL="109728" marR="109728" marT="109728" marB="91440" anchor="ctr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/>
                    </a:p>
                  </a:txBody>
                  <a:tcPr marL="109728" marR="109728" marT="109728" marB="91440" anchor="ctr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/>
                    </a:p>
                  </a:txBody>
                  <a:tcPr marL="109728" marR="109728" marT="109728" marB="91440" anchor="ctr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/>
                    </a:p>
                  </a:txBody>
                  <a:tcPr marL="109728" marR="109728" marT="109728" marB="91440" anchor="ctr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9" name="Text 16"/>
          <p:cNvSpPr/>
          <p:nvPr/>
        </p:nvSpPr>
        <p:spPr>
          <a:xfrm>
            <a:off x="4709160" y="1783080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SQL QUERY</a:t>
            </a:r>
            <a:endParaRPr lang="en-US" sz="1200" dirty="0"/>
          </a:p>
        </p:txBody>
      </p:sp>
      <p:sp>
        <p:nvSpPr>
          <p:cNvPr id="20" name="Shape 17"/>
          <p:cNvSpPr/>
          <p:nvPr/>
        </p:nvSpPr>
        <p:spPr>
          <a:xfrm>
            <a:off x="4709160" y="2103120"/>
            <a:ext cx="3886200" cy="1143000"/>
          </a:xfrm>
          <a:prstGeom prst="roundRect">
            <a:avLst>
              <a:gd name="adj" fmla="val 6400"/>
            </a:avLst>
          </a:prstGeom>
          <a:solidFill>
            <a:srgbClr val="081B30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21" name="Text 18"/>
          <p:cNvSpPr/>
          <p:nvPr/>
        </p:nvSpPr>
        <p:spPr>
          <a:xfrm>
            <a:off x="4910328" y="2249424"/>
            <a:ext cx="3483864" cy="850392"/>
          </a:xfrm>
          <a:prstGeom prst="rect">
            <a:avLst/>
          </a:prstGeom>
          <a:noFill/>
          <a:ln/>
        </p:spPr>
        <p:txBody>
          <a:bodyPr wrap="square" lIns="201168" tIns="201168" rIns="201168" bIns="164592" rtlCol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SELECT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*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FROM products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WHERE price BETWEEN 500 AND 3000;</a:t>
            </a:r>
          </a:p>
        </p:txBody>
      </p:sp>
      <p:sp>
        <p:nvSpPr>
          <p:cNvPr id="22" name="Text 19"/>
          <p:cNvSpPr/>
          <p:nvPr/>
        </p:nvSpPr>
        <p:spPr>
          <a:xfrm>
            <a:off x="4709160" y="3383280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RETURNED RESULT</a:t>
            </a:r>
            <a:endParaRPr lang="en-US" sz="1200" dirty="0"/>
          </a:p>
        </p:txBody>
      </p:sp>
      <p:graphicFrame>
        <p:nvGraphicFramePr>
          <p:cNvPr id="23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709160" y="3703320"/>
          <a:ext cx="3303270" cy="1170432"/>
        </p:xfrm>
        <a:graphic>
          <a:graphicData uri="http://schemas.openxmlformats.org/drawingml/2006/table">
            <a:tbl>
              <a:tblPr/>
              <a:tblGrid>
                <a:gridCol w="330327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00" b="1">
                          <a:solidFill>
                            <a:srgbClr val="FFFFFF"/>
                          </a:solidFill>
                          <a:latin typeface="MiSans"/>
                        </a:rPr>
                        <a:t>product_id</a:t>
                      </a:r>
                    </a:p>
                  </a:txBody>
                  <a:tcPr marL="109728" marR="109728" marT="109728" marB="91440" anchor="ctr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00" b="0">
                          <a:solidFill>
                            <a:srgbClr val="C9D4E5"/>
                          </a:solidFill>
                          <a:latin typeface="MiSans"/>
                        </a:rPr>
                        <a:t>5</a:t>
                      </a:r>
                    </a:p>
                  </a:txBody>
                  <a:tcPr marL="109728" marR="109728" marT="109728" marB="91440" anchor="ctr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00" b="0">
                          <a:solidFill>
                            <a:srgbClr val="C9D4E5"/>
                          </a:solidFill>
                          <a:latin typeface="MiSans"/>
                        </a:rPr>
                        <a:t>6</a:t>
                      </a:r>
                    </a:p>
                  </a:txBody>
                  <a:tcPr marL="109728" marR="109728" marT="109728" marB="91440" anchor="ctr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00" b="0">
                          <a:solidFill>
                            <a:srgbClr val="C9D4E5"/>
                          </a:solidFill>
                          <a:latin typeface="MiSans"/>
                        </a:rPr>
                        <a:t>7</a:t>
                      </a:r>
                    </a:p>
                  </a:txBody>
                  <a:tcPr marL="109728" marR="109728" marT="109728" marB="91440" anchor="ctr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25" name="Text 21"/>
          <p:cNvSpPr/>
          <p:nvPr/>
        </p:nvSpPr>
        <p:spPr>
          <a:xfrm>
            <a:off x="457200" y="4777740"/>
            <a:ext cx="4572000" cy="27432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8AA0BF"/>
                </a:solidFill>
                <a:latin typeface="MiSans"/>
              </a:rPr>
              <a:t>SQL MASTER  ·  SQL-011: BETWEEN</a:t>
            </a:r>
          </a:p>
        </p:txBody>
      </p:sp>
      <p:sp>
        <p:nvSpPr>
          <p:cNvPr id="26" name="Text 22"/>
          <p:cNvSpPr/>
          <p:nvPr/>
        </p:nvSpPr>
        <p:spPr>
          <a:xfrm>
            <a:off x="7772400" y="4777740"/>
            <a:ext cx="914400" cy="27432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8AA0BF"/>
                </a:solidFill>
                <a:latin typeface="MiSans"/>
              </a:rPr>
              <a:t>03 / 06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715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046720" cy="54864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FFFFFF"/>
                </a:solidFill>
                <a:latin typeface="MiSans"/>
              </a:rPr>
              <a:t>BETWEEN in Action</a:t>
            </a:r>
          </a:p>
        </p:txBody>
      </p:sp>
      <p:sp>
        <p:nvSpPr>
          <p:cNvPr id="3" name="Text 1"/>
          <p:cNvSpPr/>
          <p:nvPr/>
        </p:nvSpPr>
        <p:spPr>
          <a:xfrm>
            <a:off x="570230" y="100584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SYNTAX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3794760" cy="1005840"/>
          </a:xfrm>
          <a:prstGeom prst="roundRect">
            <a:avLst>
              <a:gd name="adj" fmla="val 8000"/>
            </a:avLst>
          </a:prstGeom>
          <a:solidFill>
            <a:srgbClr val="081B30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749808" y="1517904"/>
            <a:ext cx="3346704" cy="621792"/>
          </a:xfrm>
          <a:prstGeom prst="rect">
            <a:avLst/>
          </a:prstGeom>
          <a:noFill/>
          <a:ln/>
        </p:spPr>
        <p:txBody>
          <a:bodyPr wrap="square" lIns="201168" tIns="201168" rIns="201168" bIns="164592" rtlCol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SELECT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column_name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FROM products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WHERE condition;</a:t>
            </a:r>
          </a:p>
        </p:txBody>
      </p:sp>
      <p:sp>
        <p:nvSpPr>
          <p:cNvPr id="6" name="Text 4"/>
          <p:cNvSpPr/>
          <p:nvPr/>
        </p:nvSpPr>
        <p:spPr>
          <a:xfrm>
            <a:off x="548640" y="242316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FACC1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BUSINESS SCENARIO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48640" y="2743200"/>
            <a:ext cx="3749040" cy="1051560"/>
          </a:xfrm>
          <a:prstGeom prst="roundRect">
            <a:avLst>
              <a:gd name="adj" fmla="val 6957"/>
            </a:avLst>
          </a:prstGeom>
          <a:solidFill>
            <a:srgbClr val="1F1A0D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749808" y="2889504"/>
            <a:ext cx="3346704" cy="77724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C9D4E5"/>
                </a:solidFill>
                <a:latin typeface="MiSans"/>
              </a:rPr>
              <a:t>Price range</a:t>
            </a:r>
          </a:p>
        </p:txBody>
      </p:sp>
      <p:sp>
        <p:nvSpPr>
          <p:cNvPr id="9" name="Text 7"/>
          <p:cNvSpPr/>
          <p:nvPr/>
        </p:nvSpPr>
        <p:spPr>
          <a:xfrm>
            <a:off x="4709160" y="1005840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EXAMPLE QUERY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709160" y="1303020"/>
            <a:ext cx="3977640" cy="1394460"/>
          </a:xfrm>
          <a:prstGeom prst="roundRect">
            <a:avLst>
              <a:gd name="adj" fmla="val 6154"/>
            </a:avLst>
          </a:prstGeom>
          <a:solidFill>
            <a:srgbClr val="081B30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4910328" y="1517904"/>
            <a:ext cx="3483864" cy="896112"/>
          </a:xfrm>
          <a:prstGeom prst="rect">
            <a:avLst/>
          </a:prstGeom>
          <a:noFill/>
          <a:ln/>
        </p:spPr>
        <p:txBody>
          <a:bodyPr wrap="square" lIns="201168" tIns="201168" rIns="201168" bIns="164592" rtlCol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SELECT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*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FROM products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WHERE price BETWEEN 500 AND 3000;</a:t>
            </a:r>
          </a:p>
        </p:txBody>
      </p:sp>
      <p:sp>
        <p:nvSpPr>
          <p:cNvPr id="12" name="Text 10"/>
          <p:cNvSpPr/>
          <p:nvPr/>
        </p:nvSpPr>
        <p:spPr>
          <a:xfrm>
            <a:off x="4709160" y="2743200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EXPECTED RESULT</a:t>
            </a:r>
            <a:endParaRPr lang="en-US" sz="12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709160" y="3063240"/>
          <a:ext cx="3303270" cy="1749552"/>
        </p:xfrm>
        <a:graphic>
          <a:graphicData uri="http://schemas.openxmlformats.org/drawingml/2006/table">
            <a:tbl>
              <a:tblPr/>
              <a:tblGrid>
                <a:gridCol w="89382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3789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715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MiSans"/>
                        </a:rPr>
                        <a:t>product_id</a:t>
                      </a:r>
                    </a:p>
                  </a:txBody>
                  <a:tcPr marL="109728" marR="109728" marT="109728" marB="91440" anchor="ctr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MiSans"/>
                        </a:rPr>
                        <a:t>product_name</a:t>
                      </a:r>
                    </a:p>
                  </a:txBody>
                  <a:tcPr marL="109728" marR="109728" marT="109728" marB="91440" anchor="ctr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MiSans"/>
                        </a:rPr>
                        <a:t>brand</a:t>
                      </a:r>
                    </a:p>
                  </a:txBody>
                  <a:tcPr marL="109728" marR="109728" marT="109728" marB="91440" anchor="ctr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C9D4E5"/>
                          </a:solidFill>
                          <a:latin typeface="MiSans"/>
                        </a:rPr>
                        <a:t>5</a:t>
                      </a:r>
                    </a:p>
                  </a:txBody>
                  <a:tcPr marL="109728" marR="109728" marT="109728" marB="91440" anchor="ctr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C9D4E5"/>
                          </a:solidFill>
                          <a:latin typeface="MiSans"/>
                        </a:rPr>
                        <a:t>Desk Lamp</a:t>
                      </a:r>
                    </a:p>
                  </a:txBody>
                  <a:tcPr marL="109728" marR="109728" marT="109728" marB="91440" anchor="ctr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C9D4E5"/>
                          </a:solidFill>
                          <a:latin typeface="MiSans"/>
                        </a:rPr>
                        <a:t>Philips</a:t>
                      </a:r>
                    </a:p>
                  </a:txBody>
                  <a:tcPr marL="109728" marR="109728" marT="109728" marB="91440" anchor="ctr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C9D4E5"/>
                          </a:solidFill>
                          <a:latin typeface="MiSans"/>
                        </a:rPr>
                        <a:t>6</a:t>
                      </a:r>
                    </a:p>
                  </a:txBody>
                  <a:tcPr marL="109728" marR="109728" marT="109728" marB="91440" anchor="ctr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C9D4E5"/>
                          </a:solidFill>
                          <a:latin typeface="MiSans"/>
                        </a:rPr>
                        <a:t>Wireless Mouse</a:t>
                      </a:r>
                    </a:p>
                  </a:txBody>
                  <a:tcPr marL="109728" marR="109728" marT="109728" marB="91440" anchor="ctr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C9D4E5"/>
                          </a:solidFill>
                          <a:latin typeface="MiSans"/>
                        </a:rPr>
                        <a:t>Logitech</a:t>
                      </a:r>
                    </a:p>
                  </a:txBody>
                  <a:tcPr marL="109728" marR="109728" marT="109728" marB="91440" anchor="ctr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C9D4E5"/>
                          </a:solidFill>
                          <a:latin typeface="MiSans"/>
                        </a:rPr>
                        <a:t>7</a:t>
                      </a:r>
                    </a:p>
                  </a:txBody>
                  <a:tcPr marL="109728" marR="109728" marT="109728" marB="91440" anchor="ctr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C9D4E5"/>
                          </a:solidFill>
                          <a:latin typeface="MiSans"/>
                        </a:rPr>
                        <a:t>USB Keyboard</a:t>
                      </a:r>
                    </a:p>
                  </a:txBody>
                  <a:tcPr marL="109728" marR="109728" marT="109728" marB="91440" anchor="ctr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C9D4E5"/>
                          </a:solidFill>
                          <a:latin typeface="MiSans"/>
                        </a:rPr>
                        <a:t>HP</a:t>
                      </a:r>
                    </a:p>
                  </a:txBody>
                  <a:tcPr marL="109728" marR="109728" marT="109728" marB="91440" anchor="ctr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22" name="Text 19"/>
          <p:cNvSpPr/>
          <p:nvPr/>
        </p:nvSpPr>
        <p:spPr>
          <a:xfrm>
            <a:off x="158750" y="4873244"/>
            <a:ext cx="4572000" cy="27432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8AA0BF"/>
                </a:solidFill>
                <a:latin typeface="MiSans"/>
              </a:rPr>
              <a:t>SQL MASTER  ·  SQL-011: BETWEEN</a:t>
            </a:r>
          </a:p>
        </p:txBody>
      </p:sp>
      <p:sp>
        <p:nvSpPr>
          <p:cNvPr id="23" name="Text 20"/>
          <p:cNvSpPr/>
          <p:nvPr/>
        </p:nvSpPr>
        <p:spPr>
          <a:xfrm>
            <a:off x="8020050" y="4859020"/>
            <a:ext cx="914400" cy="27432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8AA0BF"/>
                </a:solidFill>
                <a:latin typeface="MiSans"/>
              </a:rPr>
              <a:t>04 / 06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715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92608"/>
            <a:ext cx="8046720" cy="5029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MiSans"/>
              </a:rPr>
              <a:t>Common Mistakes &amp; Best Practices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05840"/>
            <a:ext cx="3749039" cy="3474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800"/>
              </a:spcAft>
            </a:pPr>
            <a:r>
              <a:rPr sz="1500" b="1">
                <a:solidFill>
                  <a:srgbClr val="FF5C5C"/>
                </a:solidFill>
                <a:latin typeface="MiSans"/>
              </a:rPr>
              <a:t>MISTAKES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Forgetting to filter data correctly.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Using the wrong clause for the task.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24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Ignoring query readability.</a:t>
            </a:r>
          </a:p>
          <a:p>
            <a:pPr>
              <a:spcBef>
                <a:spcPts val="0"/>
              </a:spcBef>
              <a:spcAft>
                <a:spcPts val="800"/>
              </a:spcAft>
            </a:pPr>
            <a:r>
              <a:rPr sz="1500" b="1">
                <a:solidFill>
                  <a:srgbClr val="FF5C5C"/>
                </a:solidFill>
                <a:latin typeface="MiSans"/>
              </a:rPr>
              <a:t>MESSY SQL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Poor formatting and layout.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Inconsistent naming conventions.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Difficult to maintain over time.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846320" y="1005840"/>
            <a:ext cx="3749039" cy="3474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800"/>
              </a:spcAft>
            </a:pPr>
            <a:r>
              <a:rPr sz="1500" b="1">
                <a:solidFill>
                  <a:srgbClr val="2ECC71"/>
                </a:solidFill>
                <a:latin typeface="MiSans"/>
              </a:rPr>
              <a:t>BEST PRACTICES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Write clear and readable queries.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Follow SQL best practices.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24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Validate results before execution.</a:t>
            </a:r>
          </a:p>
          <a:p>
            <a:pPr>
              <a:spcBef>
                <a:spcPts val="0"/>
              </a:spcBef>
              <a:spcAft>
                <a:spcPts val="800"/>
              </a:spcAft>
            </a:pPr>
            <a:r>
              <a:rPr sz="1500" b="1">
                <a:solidFill>
                  <a:srgbClr val="2ECC71"/>
                </a:solidFill>
                <a:latin typeface="MiSans"/>
              </a:rPr>
              <a:t>CLEAN SQL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Proper indentation and layout.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Meaningful aliases and naming.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Consistent formatting rules.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709160"/>
            <a:ext cx="5486400" cy="2743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 algn="l"/>
            <a:r>
              <a:rPr sz="800">
                <a:solidFill>
                  <a:srgbClr val="8AA0BF"/>
                </a:solidFill>
                <a:latin typeface="MiSans"/>
              </a:rPr>
              <a:t>SQL MASTER  ·  SQL-011: BETWEEN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0" y="4709160"/>
            <a:ext cx="822960" cy="274320"/>
          </a:xfrm>
          <a:prstGeom prst="rect">
            <a:avLst/>
          </a:prstGeom>
          <a:noFill/>
        </p:spPr>
        <p:txBody>
          <a:bodyPr wrap="none" rIns="0" tIns="0">
            <a:spAutoFit/>
          </a:bodyPr>
          <a:lstStyle/>
          <a:p>
            <a:pPr algn="r"/>
            <a:r>
              <a:rPr sz="800">
                <a:solidFill>
                  <a:srgbClr val="8AA0BF"/>
                </a:solidFill>
                <a:latin typeface="MiSans"/>
              </a:rPr>
              <a:t>05 / 06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715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046720" cy="54864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FFFFFF"/>
                </a:solidFill>
                <a:latin typeface="MiSans"/>
              </a:rPr>
              <a:t>Key Takeaways &amp; Your Challenge</a:t>
            </a:r>
          </a:p>
        </p:txBody>
      </p:sp>
      <p:sp>
        <p:nvSpPr>
          <p:cNvPr id="3" name="Text 1"/>
          <p:cNvSpPr/>
          <p:nvPr/>
        </p:nvSpPr>
        <p:spPr>
          <a:xfrm>
            <a:off x="548640" y="100584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KEY TAKEAWAYS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48640" y="1325880"/>
            <a:ext cx="3749040" cy="1874520"/>
          </a:xfrm>
          <a:prstGeom prst="roundRect">
            <a:avLst>
              <a:gd name="adj" fmla="val 3902"/>
            </a:avLst>
          </a:prstGeom>
          <a:solidFill>
            <a:srgbClr val="0C1E33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749808" y="1481328"/>
            <a:ext cx="256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024128" y="1481328"/>
            <a:ext cx="3108960" cy="384048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C9D4E5"/>
                </a:solidFill>
                <a:latin typeface="MiSans"/>
              </a:rPr>
              <a:t>BETWEEN is a core component of SQL query structure.</a:t>
            </a:r>
          </a:p>
        </p:txBody>
      </p:sp>
      <p:sp>
        <p:nvSpPr>
          <p:cNvPr id="7" name="Text 5"/>
          <p:cNvSpPr/>
          <p:nvPr/>
        </p:nvSpPr>
        <p:spPr>
          <a:xfrm>
            <a:off x="749808" y="1901952"/>
            <a:ext cx="256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024128" y="1901952"/>
            <a:ext cx="3108960" cy="384048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C9D4E5"/>
                </a:solidFill>
                <a:latin typeface="MiSans"/>
              </a:rPr>
              <a:t>It helps optimize data retrieval and organization.</a:t>
            </a:r>
          </a:p>
        </p:txBody>
      </p:sp>
      <p:sp>
        <p:nvSpPr>
          <p:cNvPr id="9" name="Text 7"/>
          <p:cNvSpPr/>
          <p:nvPr/>
        </p:nvSpPr>
        <p:spPr>
          <a:xfrm>
            <a:off x="749808" y="2322576"/>
            <a:ext cx="256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024128" y="2322576"/>
            <a:ext cx="3108960" cy="384048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C9D4E5"/>
                </a:solidFill>
                <a:latin typeface="MiSans"/>
              </a:rPr>
              <a:t>Use it to satisfy specific business scenario criteria.</a:t>
            </a:r>
          </a:p>
        </p:txBody>
      </p:sp>
      <p:sp>
        <p:nvSpPr>
          <p:cNvPr id="11" name="Text 9"/>
          <p:cNvSpPr/>
          <p:nvPr/>
        </p:nvSpPr>
        <p:spPr>
          <a:xfrm>
            <a:off x="749808" y="2743200"/>
            <a:ext cx="256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024128" y="2743200"/>
            <a:ext cx="3108960" cy="384048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C9D4E5"/>
                </a:solidFill>
                <a:latin typeface="MiSans"/>
              </a:rPr>
              <a:t>Combine with other clauses for advanced calculations.</a:t>
            </a:r>
          </a:p>
        </p:txBody>
      </p:sp>
      <p:sp>
        <p:nvSpPr>
          <p:cNvPr id="19" name="Text 17"/>
          <p:cNvSpPr/>
          <p:nvPr/>
        </p:nvSpPr>
        <p:spPr>
          <a:xfrm>
            <a:off x="4846320" y="100584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kern="0" spc="15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CONTINUE LEARNING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5102352" y="1325880"/>
            <a:ext cx="3291840" cy="27432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C9D4E5"/>
                </a:solidFill>
                <a:latin typeface="MiSans"/>
              </a:rPr>
              <a:t>Practice on DB Fiddle</a:t>
            </a:r>
          </a:p>
        </p:txBody>
      </p:sp>
      <p:sp>
        <p:nvSpPr>
          <p:cNvPr id="23" name="Text 21"/>
          <p:cNvSpPr/>
          <p:nvPr/>
        </p:nvSpPr>
        <p:spPr>
          <a:xfrm>
            <a:off x="5102352" y="1655064"/>
            <a:ext cx="3291840" cy="27432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C9D4E5"/>
                </a:solidFill>
                <a:latin typeface="MiSans"/>
              </a:rPr>
              <a:t>View Solution on GitHub</a:t>
            </a:r>
          </a:p>
        </p:txBody>
      </p:sp>
      <p:sp>
        <p:nvSpPr>
          <p:cNvPr id="26" name="Text 24"/>
          <p:cNvSpPr/>
          <p:nvPr/>
        </p:nvSpPr>
        <p:spPr>
          <a:xfrm>
            <a:off x="457200" y="4777740"/>
            <a:ext cx="4572000" cy="27432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8AA0BF"/>
                </a:solidFill>
                <a:latin typeface="MiSans"/>
              </a:rPr>
              <a:t>SQL MASTER  ·  SQL-011: BETWEEN</a:t>
            </a:r>
          </a:p>
        </p:txBody>
      </p:sp>
      <p:sp>
        <p:nvSpPr>
          <p:cNvPr id="27" name="Text 25"/>
          <p:cNvSpPr/>
          <p:nvPr/>
        </p:nvSpPr>
        <p:spPr>
          <a:xfrm>
            <a:off x="7772400" y="4777740"/>
            <a:ext cx="914400" cy="27432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8AA0BF"/>
                </a:solidFill>
                <a:latin typeface="MiSans"/>
              </a:rPr>
              <a:t>06 / 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5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8046720" cy="5029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2800" b="1">
                <a:solidFill>
                  <a:srgbClr val="FFFFFF"/>
                </a:solidFill>
                <a:latin typeface="MiSans"/>
              </a:rPr>
              <a:t>PRACTICE CHALLENGE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95528"/>
            <a:ext cx="8046720" cy="32004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1400">
                <a:solidFill>
                  <a:srgbClr val="C9D4E5"/>
                </a:solidFill>
                <a:latin typeface="MiSans"/>
              </a:rPr>
              <a:t>Test your understanding by solving the following questions before viewing the solution.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34440"/>
            <a:ext cx="8046720" cy="2926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MiSans"/>
              </a:rPr>
              <a:t>Question 1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</a:pPr>
            <a:r>
              <a:rPr sz="1100">
                <a:solidFill>
                  <a:srgbClr val="C9D4E5"/>
                </a:solidFill>
                <a:latin typeface="MiSans"/>
              </a:rPr>
              <a:t>Write a query to find all products with a price between 500 and 3000 (inclusive).</a:t>
            </a:r>
          </a:p>
          <a:p>
            <a:pPr>
              <a:spcBef>
                <a:spcPts val="1200"/>
              </a:spcBef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MiSans"/>
              </a:rPr>
              <a:t>Question 2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</a:pPr>
            <a:r>
              <a:rPr sz="1100">
                <a:solidFill>
                  <a:srgbClr val="C9D4E5"/>
                </a:solidFill>
                <a:latin typeface="MiSans"/>
              </a:rPr>
              <a:t>Write a query to find all products with stock between 50 and 250 (inclusive).</a:t>
            </a:r>
          </a:p>
          <a:p>
            <a:pPr>
              <a:spcBef>
                <a:spcPts val="1200"/>
              </a:spcBef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MiSans"/>
              </a:rPr>
              <a:t>Question 3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</a:pPr>
            <a:r>
              <a:rPr sz="1100">
                <a:solidFill>
                  <a:srgbClr val="C9D4E5"/>
                </a:solidFill>
                <a:latin typeface="MiSans"/>
              </a:rPr>
              <a:t>The finance team wants to review mid-range products for a promotional discount campaign. Find all products priced between 300 and 1500 and display product_name, brand, and price.</a:t>
            </a:r>
          </a:p>
          <a:p>
            <a:pPr>
              <a:spcBef>
                <a:spcPts val="1200"/>
              </a:spcBef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MiSans"/>
              </a:rPr>
              <a:t>Question 4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</a:pPr>
            <a:r>
              <a:rPr sz="1100">
                <a:solidFill>
                  <a:srgbClr val="C9D4E5"/>
                </a:solidFill>
                <a:latin typeface="MiSans"/>
              </a:rPr>
              <a:t>Write a query to find Electronics products priced between 600 and 2000. Display product_name, brand, and price sorted by price ascending.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709160"/>
            <a:ext cx="5486400" cy="2743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800">
                <a:solidFill>
                  <a:srgbClr val="8AA0BF"/>
                </a:solidFill>
                <a:latin typeface="MiSans"/>
              </a:rPr>
              <a:t>SQL MASTER  ·  SQL-011: BETWEEN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0" y="4709160"/>
            <a:ext cx="822960" cy="274320"/>
          </a:xfrm>
          <a:prstGeom prst="rect">
            <a:avLst/>
          </a:prstGeom>
          <a:noFill/>
        </p:spPr>
        <p:txBody>
          <a:bodyPr wrap="none" rIns="0" tIns="0">
            <a:spAutoFit/>
          </a:bodyPr>
          <a:lstStyle/>
          <a:p>
            <a:pPr algn="r"/>
            <a:r>
              <a:rPr sz="800">
                <a:solidFill>
                  <a:srgbClr val="8AA0BF"/>
                </a:solidFill>
                <a:latin typeface="MiSans"/>
              </a:rPr>
              <a:t>07 / 07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586</Words>
  <Application>Microsoft Office PowerPoint</Application>
  <PresentationFormat>On-screen Show (16:9)</PresentationFormat>
  <Paragraphs>170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2" baseType="lpstr">
      <vt:lpstr>Arial</vt:lpstr>
      <vt:lpstr>Calibri</vt:lpstr>
      <vt:lpstr>Consolas</vt:lpstr>
      <vt:lpstr>Inter</vt:lpstr>
      <vt:lpstr>MiSans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SQL-002 — WHERE</dc:title>
  <dc:subject>PptxGenJS Presentation</dc:subject>
  <dc:creator>SQL Master</dc:creator>
  <cp:lastModifiedBy>Zuboraj</cp:lastModifiedBy>
  <cp:revision>5</cp:revision>
  <dcterms:created xsi:type="dcterms:W3CDTF">2026-07-08T08:16:46Z</dcterms:created>
  <dcterms:modified xsi:type="dcterms:W3CDTF">2026-07-09T19:24:45Z</dcterms:modified>
</cp:coreProperties>
</file>