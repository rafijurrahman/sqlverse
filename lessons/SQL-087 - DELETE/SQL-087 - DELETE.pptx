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SQL-087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DELETE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DELETE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DELETE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DELETE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enrollments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3;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DELETE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3;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SQL-087: DELETE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DELETE?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DELETE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DELETE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DELETE when querying datasets that require DELETE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DELETE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DELETE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SQL-087: DELETE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DELETE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DELETE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enrollments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3;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DELETE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3;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SQL-087: DELETE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DELETE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Delete student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DELETE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enrollments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3;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DELETE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student_id = 3;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SQL-087: DELETE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SQL-087: DELETE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DELETE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SQL-087: DELETE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DELETE statement to remove the student with student_id = 3 from the students table</a:t>
            </a:r>
            <a:r>
              <a:rPr sz="1100">
                <a:solidFill>
                  <a:srgbClr val="C9D4E5"/>
                </a:solidFill>
                <a:latin typeface="MiSans"/>
              </a:rPr>
              <a:t>. (First remove their enrollments.)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DELETE to remove all enrollments where grade IS NULL (ungraded enrollments from incomplete students)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university is purging graduated students older than 2023. Write </a:t>
            </a:r>
            <a:r>
              <a:rPr sz="900">
                <a:solidFill>
                  <a:srgbClr val="C9D4E5"/>
                </a:solidFill>
                <a:latin typeface="Consolas"/>
              </a:rPr>
              <a:t>DELETE FROM students WHERE enrollment_status = 'Graduated'</a:t>
            </a:r>
            <a:r>
              <a:rPr sz="1100">
                <a:solidFill>
                  <a:srgbClr val="C9D4E5"/>
                </a:solidFill>
                <a:latin typeface="MiSans"/>
              </a:rPr>
              <a:t>. Note: first </a:t>
            </a:r>
            <a:r>
              <a:rPr sz="900">
                <a:solidFill>
                  <a:srgbClr val="C9D4E5"/>
                </a:solidFill>
                <a:latin typeface="Consolas"/>
              </a:rPr>
              <a:t>DELETE their enrollments to avoid FK violations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safe </a:t>
            </a:r>
            <a:r>
              <a:rPr sz="900">
                <a:solidFill>
                  <a:srgbClr val="C9D4E5"/>
                </a:solidFill>
                <a:latin typeface="Consolas"/>
              </a:rPr>
              <a:t>DELETE workflow:</a:t>
            </a:r>
            <a:r>
              <a:rPr sz="1100">
                <a:solidFill>
                  <a:srgbClr val="C9D4E5"/>
                </a:solidFill>
                <a:latin typeface="MiSans"/>
              </a:rPr>
              <a:t>
Step 1: </a:t>
            </a:r>
            <a:r>
              <a:rPr sz="900">
                <a:solidFill>
                  <a:srgbClr val="C9D4E5"/>
                </a:solidFill>
                <a:latin typeface="Consolas"/>
              </a:rPr>
              <a:t>SELECT to verify which rows will be deleted: SELECT * FROM enrollments WHERE student_id = 3</a:t>
            </a:r>
            <a:r>
              <a:rPr sz="1100">
                <a:solidFill>
                  <a:srgbClr val="C9D4E5"/>
                </a:solidFill>
                <a:latin typeface="MiSans"/>
              </a:rPr>
              <a:t>.
Step 2: </a:t>
            </a:r>
            <a:r>
              <a:rPr sz="900">
                <a:solidFill>
                  <a:srgbClr val="C9D4E5"/>
                </a:solidFill>
                <a:latin typeface="Consolas"/>
              </a:rPr>
              <a:t>DELETE those enrollment rows</a:t>
            </a:r>
            <a:r>
              <a:rPr sz="1100">
                <a:solidFill>
                  <a:srgbClr val="C9D4E5"/>
                </a:solidFill>
                <a:latin typeface="MiSans"/>
              </a:rPr>
              <a:t>.
Step 3: </a:t>
            </a:r>
            <a:r>
              <a:rPr sz="900">
                <a:solidFill>
                  <a:srgbClr val="C9D4E5"/>
                </a:solidFill>
                <a:latin typeface="Consolas"/>
              </a:rPr>
              <a:t>DELETE the student</a:t>
            </a:r>
            <a:r>
              <a:rPr sz="1100">
                <a:solidFill>
                  <a:srgbClr val="C9D4E5"/>
                </a:solidFill>
                <a:latin typeface="MiSans"/>
              </a:rPr>
              <a:t>.
Step 4: Verify with </a:t>
            </a:r>
            <a:r>
              <a:rPr sz="900">
                <a:solidFill>
                  <a:srgbClr val="C9D4E5"/>
                </a:solidFill>
                <a:latin typeface="Consolas"/>
              </a:rPr>
              <a:t>SELECT COUNT(*)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SQL-087: DELETE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