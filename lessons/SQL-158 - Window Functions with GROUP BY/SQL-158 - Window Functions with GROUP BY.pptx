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Functions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AS cat_total,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SUM(SUM(revenue)) OVER () AS grand_total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Window Functions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Window Functions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Window Functions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Window Functions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94462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AS cat_total,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SUM(SUM(revenue)) OVER () AS grand_total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950976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Window Functions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Window with GROUP BY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AS cat_total,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SUM(SUM(revenue)) OVER () AS grand_total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25577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cat_total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grand_total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22850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14500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1710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Window Functions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540" y="1083872"/>
            <a:ext cx="8046720" cy="3625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800" dirty="0">
                <a:solidFill>
                  <a:srgbClr val="C9D4E5"/>
                </a:solidFill>
                <a:latin typeface="MiSans"/>
              </a:rPr>
              <a:t>Write a query combining </a:t>
            </a:r>
            <a:r>
              <a:rPr sz="500" dirty="0">
                <a:solidFill>
                  <a:srgbClr val="C9D4E5"/>
                </a:solidFill>
                <a:latin typeface="Consolas"/>
              </a:rPr>
              <a:t>GROUP BY and a window function:</a:t>
            </a:r>
            <a:r>
              <a:rPr sz="800" dirty="0">
                <a:solidFill>
                  <a:srgbClr val="C9D4E5"/>
                </a:solidFill>
                <a:latin typeface="MiSans"/>
              </a:rPr>
              <a:t>
</a:t>
            </a:r>
            <a:r>
              <a:rPr sz="500" dirty="0">
                <a:solidFill>
                  <a:srgbClr val="C9D4E5"/>
                </a:solidFill>
                <a:latin typeface="Consolas"/>
              </a:rPr>
              <a:t>SELECT category, SUM(revenue) AS 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cat_total</a:t>
            </a:r>
            <a:r>
              <a:rPr sz="500" dirty="0">
                <a:solidFill>
                  <a:srgbClr val="C9D4E5"/>
                </a:solidFill>
                <a:latin typeface="Consolas"/>
              </a:rPr>
              <a:t>, SUM(SUM(revenue)) OVER () AS 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grand_total</a:t>
            </a:r>
            <a:r>
              <a:rPr sz="800" dirty="0">
                <a:solidFill>
                  <a:srgbClr val="C9D4E5"/>
                </a:solidFill>
                <a:latin typeface="MiSans"/>
              </a:rPr>
              <a:t>
</a:t>
            </a:r>
            <a:r>
              <a:rPr sz="500" dirty="0">
                <a:solidFill>
                  <a:srgbClr val="C9D4E5"/>
                </a:solidFill>
                <a:latin typeface="Consolas"/>
              </a:rPr>
              <a:t>FROM sales GROUP BY category</a:t>
            </a:r>
            <a:r>
              <a:rPr sz="800" dirty="0">
                <a:solidFill>
                  <a:srgbClr val="C9D4E5"/>
                </a:solidFill>
                <a:latin typeface="MiSans"/>
              </a:rPr>
              <a:t>.
(Window functions operate on the </a:t>
            </a:r>
            <a:r>
              <a:rPr sz="500" dirty="0">
                <a:solidFill>
                  <a:srgbClr val="C9D4E5"/>
                </a:solidFill>
                <a:latin typeface="Consolas"/>
              </a:rPr>
              <a:t>GROUP BY result set</a:t>
            </a:r>
            <a:r>
              <a:rPr sz="800" dirty="0">
                <a:solidFill>
                  <a:srgbClr val="C9D4E5"/>
                </a:solidFill>
                <a:latin typeface="MiSans"/>
              </a:rPr>
              <a:t>.)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000" b="1" dirty="0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800" dirty="0">
                <a:solidFill>
                  <a:srgbClr val="C9D4E5"/>
                </a:solidFill>
                <a:latin typeface="MiSans"/>
              </a:rPr>
              <a:t>Write a query with </a:t>
            </a:r>
            <a:r>
              <a:rPr sz="500" dirty="0">
                <a:solidFill>
                  <a:srgbClr val="C9D4E5"/>
                </a:solidFill>
                <a:latin typeface="Consolas"/>
              </a:rPr>
              <a:t>GROUP BY region, then RANK the regions by their total revenue:</a:t>
            </a:r>
            <a:r>
              <a:rPr sz="800" dirty="0">
                <a:solidFill>
                  <a:srgbClr val="C9D4E5"/>
                </a:solidFill>
                <a:latin typeface="MiSans"/>
              </a:rPr>
              <a:t>
</a:t>
            </a:r>
            <a:r>
              <a:rPr sz="500" dirty="0">
                <a:solidFill>
                  <a:srgbClr val="C9D4E5"/>
                </a:solidFill>
                <a:latin typeface="Consolas"/>
              </a:rPr>
              <a:t>WITH 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reg_totals</a:t>
            </a:r>
            <a:r>
              <a:rPr sz="500" dirty="0">
                <a:solidFill>
                  <a:srgbClr val="C9D4E5"/>
                </a:solidFill>
                <a:latin typeface="Consolas"/>
              </a:rPr>
              <a:t> AS (SELECT region, SUM(revenue) AS total FROM sales GROUP BY region)</a:t>
            </a:r>
            <a:r>
              <a:rPr sz="800" dirty="0">
                <a:solidFill>
                  <a:srgbClr val="C9D4E5"/>
                </a:solidFill>
                <a:latin typeface="MiSans"/>
              </a:rPr>
              <a:t>
</a:t>
            </a:r>
            <a:r>
              <a:rPr sz="500" dirty="0">
                <a:solidFill>
                  <a:srgbClr val="C9D4E5"/>
                </a:solidFill>
                <a:latin typeface="Consolas"/>
              </a:rPr>
              <a:t>SELECT region, total, RANK() OVER (ORDER BY total DESC) AS rank FROM 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reg_totals</a:t>
            </a:r>
            <a:r>
              <a:rPr sz="800" dirty="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000" b="1" dirty="0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800" dirty="0">
                <a:solidFill>
                  <a:srgbClr val="C9D4E5"/>
                </a:solidFill>
                <a:latin typeface="MiSans"/>
              </a:rPr>
              <a:t>Monthly report: </a:t>
            </a:r>
            <a:r>
              <a:rPr sz="500" dirty="0">
                <a:solidFill>
                  <a:srgbClr val="C9D4E5"/>
                </a:solidFill>
                <a:latin typeface="Consolas"/>
              </a:rPr>
              <a:t>GROUP BY month, calculate monthly total, then use a window function to add running monthly cumulative:</a:t>
            </a:r>
            <a:r>
              <a:rPr sz="800" dirty="0">
                <a:solidFill>
                  <a:srgbClr val="C9D4E5"/>
                </a:solidFill>
                <a:latin typeface="MiSans"/>
              </a:rPr>
              <a:t>
</a:t>
            </a:r>
            <a:r>
              <a:rPr sz="500" dirty="0">
                <a:solidFill>
                  <a:srgbClr val="C9D4E5"/>
                </a:solidFill>
                <a:latin typeface="Consolas"/>
              </a:rPr>
              <a:t>WITH monthly AS (SELECT MONTH(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sale_date</a:t>
            </a:r>
            <a:r>
              <a:rPr sz="500" dirty="0">
                <a:solidFill>
                  <a:srgbClr val="C9D4E5"/>
                </a:solidFill>
                <a:latin typeface="Consolas"/>
              </a:rPr>
              <a:t>) AS month, SUM(revenue) AS 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monthly_rev</a:t>
            </a:r>
            <a:r>
              <a:rPr sz="500" dirty="0">
                <a:solidFill>
                  <a:srgbClr val="C9D4E5"/>
                </a:solidFill>
                <a:latin typeface="Consolas"/>
              </a:rPr>
              <a:t> FROM sales GROUP BY MONTH(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sale_date</a:t>
            </a:r>
            <a:r>
              <a:rPr sz="500" dirty="0">
                <a:solidFill>
                  <a:srgbClr val="C9D4E5"/>
                </a:solidFill>
                <a:latin typeface="Consolas"/>
              </a:rPr>
              <a:t>))</a:t>
            </a:r>
            <a:r>
              <a:rPr sz="800" dirty="0">
                <a:solidFill>
                  <a:srgbClr val="C9D4E5"/>
                </a:solidFill>
                <a:latin typeface="MiSans"/>
              </a:rPr>
              <a:t>
</a:t>
            </a:r>
            <a:r>
              <a:rPr sz="500" dirty="0">
                <a:solidFill>
                  <a:srgbClr val="C9D4E5"/>
                </a:solidFill>
                <a:latin typeface="Consolas"/>
              </a:rPr>
              <a:t>SELECT month, 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monthly_rev</a:t>
            </a:r>
            <a:r>
              <a:rPr sz="500" dirty="0">
                <a:solidFill>
                  <a:srgbClr val="C9D4E5"/>
                </a:solidFill>
                <a:latin typeface="Consolas"/>
              </a:rPr>
              <a:t>, SUM(</a:t>
            </a:r>
            <a:r>
              <a:rPr sz="500" dirty="0" err="1">
                <a:solidFill>
                  <a:srgbClr val="C9D4E5"/>
                </a:solidFill>
                <a:latin typeface="Consolas"/>
              </a:rPr>
              <a:t>monthly_rev</a:t>
            </a:r>
            <a:r>
              <a:rPr sz="500" dirty="0">
                <a:solidFill>
                  <a:srgbClr val="C9D4E5"/>
                </a:solidFill>
                <a:latin typeface="Consolas"/>
              </a:rPr>
              <a:t>) OVER (ORDER BY month) AS cumulative FROM monthly</a:t>
            </a:r>
            <a:r>
              <a:rPr sz="800" dirty="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SQL-158: Window Functions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860</Words>
  <Application>Microsoft Office PowerPoint</Application>
  <PresentationFormat>On-screen Show (16:9)</PresentationFormat>
  <Paragraphs>167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2026-07-10T04:27:06Z</dcterms:modified>
</cp:coreProperties>
</file>