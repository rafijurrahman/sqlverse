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 id="262"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1" d="100"/>
          <a:sy n="151" d="100"/>
        </p:scale>
        <p:origin x="474"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1350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526"/>
        </a:solidFill>
        <a:effectLst/>
      </p:bgPr>
    </p:bg>
    <p:spTree>
      <p:nvGrpSpPr>
        <p:cNvPr id="1" name=""/>
        <p:cNvGrpSpPr/>
        <p:nvPr/>
      </p:nvGrpSpPr>
      <p:grpSpPr>
        <a:xfrm>
          <a:off x="0" y="0"/>
          <a:ext cx="0" cy="0"/>
          <a:chOff x="0" y="0"/>
          <a:chExt cx="0" cy="0"/>
        </a:xfrm>
      </p:grpSpPr>
      <p:sp>
        <p:nvSpPr>
          <p:cNvPr id="2" name="Shape 0"/>
          <p:cNvSpPr/>
          <p:nvPr/>
        </p:nvSpPr>
        <p:spPr>
          <a:xfrm>
            <a:off x="548640" y="457200"/>
            <a:ext cx="1371600" cy="365760"/>
          </a:xfrm>
          <a:prstGeom prst="roundRect">
            <a:avLst>
              <a:gd name="adj" fmla="val 50000"/>
            </a:avLst>
          </a:prstGeom>
          <a:solidFill>
            <a:srgbClr val="0F2540"/>
          </a:solidFill>
          <a:ln w="12700">
            <a:solidFill>
              <a:srgbClr val="3B82F6"/>
            </a:solidFill>
            <a:prstDash val="solid"/>
          </a:ln>
        </p:spPr>
        <p:txBody>
          <a:bodyPr/>
          <a:p/>
        </p:txBody>
      </p:sp>
      <p:sp>
        <p:nvSpPr>
          <p:cNvPr id="3" name="Text 1"/>
          <p:cNvSpPr/>
          <p:nvPr/>
        </p:nvSpPr>
        <p:spPr>
          <a:xfrm>
            <a:off x="548640" y="457200"/>
            <a:ext cx="1371600" cy="36576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2000" b="0">
                <a:solidFill>
                  <a:srgbClr val="8AA0BF"/>
                </a:solidFill>
                <a:latin typeface="MiSans"/>
              </a:rPr>
              <a:t>SQL-R016</a:t>
            </a:r>
          </a:p>
        </p:txBody>
      </p:sp>
      <p:sp>
        <p:nvSpPr>
          <p:cNvPr id="4" name="Text 2"/>
          <p:cNvSpPr/>
          <p:nvPr/>
        </p:nvSpPr>
        <p:spPr>
          <a:xfrm>
            <a:off x="548640" y="914400"/>
            <a:ext cx="5669280" cy="9144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2000" b="1">
                <a:solidFill>
                  <a:srgbClr val="FFFFFF"/>
                </a:solidFill>
                <a:latin typeface="MiSans"/>
              </a:rPr>
              <a:t>Constraints Revision</a:t>
            </a:r>
          </a:p>
        </p:txBody>
      </p:sp>
      <p:sp>
        <p:nvSpPr>
          <p:cNvPr id="5" name="Text 3"/>
          <p:cNvSpPr/>
          <p:nvPr/>
        </p:nvSpPr>
        <p:spPr>
          <a:xfrm>
            <a:off x="548640" y="1691640"/>
            <a:ext cx="5486400" cy="4572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2000" b="0">
                <a:solidFill>
                  <a:srgbClr val="C9D4E5"/>
                </a:solidFill>
                <a:latin typeface="MiSans"/>
              </a:rPr>
              <a:t>Review and reinforce your SQL skills for Constraints.</a:t>
            </a:r>
          </a:p>
        </p:txBody>
      </p:sp>
      <p:sp>
        <p:nvSpPr>
          <p:cNvPr id="6" name="Text 4"/>
          <p:cNvSpPr/>
          <p:nvPr/>
        </p:nvSpPr>
        <p:spPr>
          <a:xfrm>
            <a:off x="548640" y="2148840"/>
            <a:ext cx="5120640" cy="82296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500" b="0">
                <a:solidFill>
                  <a:srgbClr val="C9D4E5"/>
                </a:solidFill>
                <a:latin typeface="MiSans"/>
              </a:rPr>
              <a:t>Revision lessons consolidate your knowledge of Constraints Revision through practice.</a:t>
            </a:r>
          </a:p>
        </p:txBody>
      </p:sp>
      <p:sp>
        <p:nvSpPr>
          <p:cNvPr id="7" name="Text 5"/>
          <p:cNvSpPr/>
          <p:nvPr/>
        </p:nvSpPr>
        <p:spPr>
          <a:xfrm>
            <a:off x="548640" y="3246120"/>
            <a:ext cx="274320" cy="320040"/>
          </a:xfrm>
          <a:prstGeom prst="rect">
            <a:avLst/>
          </a:prstGeom>
          <a:noFill/>
          <a:ln/>
        </p:spPr>
        <p:txBody>
          <a:bodyPr wrap="square" lIns="0" tIns="0" rIns="0" bIns="0" rtlCol="0" anchor="ctr"/>
          <a:lstStyle/>
          <a:p>
            <a:pPr marL="0" indent="0">
              <a:buNone/>
            </a:pPr>
            <a:r>
              <a:rPr lang="en-US" sz="1400" b="1" dirty="0">
                <a:solidFill>
                  <a:srgbClr val="22C55E"/>
                </a:solidFill>
                <a:latin typeface="Inter" pitchFamily="34" charset="0"/>
                <a:ea typeface="Inter" pitchFamily="34" charset="-122"/>
                <a:cs typeface="Inter" pitchFamily="34" charset="-120"/>
              </a:rPr>
              <a:t>✓</a:t>
            </a:r>
            <a:endParaRPr lang="en-US" sz="1400" dirty="0"/>
          </a:p>
        </p:txBody>
      </p:sp>
      <p:sp>
        <p:nvSpPr>
          <p:cNvPr id="8" name="Text 6"/>
          <p:cNvSpPr/>
          <p:nvPr/>
        </p:nvSpPr>
        <p:spPr>
          <a:xfrm>
            <a:off x="868680" y="3246120"/>
            <a:ext cx="4389120" cy="32004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400" b="0">
                <a:solidFill>
                  <a:srgbClr val="C9D4E5"/>
                </a:solidFill>
                <a:latin typeface="MiSans"/>
              </a:rPr>
              <a:t>Practical Business Examples</a:t>
            </a:r>
          </a:p>
        </p:txBody>
      </p:sp>
      <p:sp>
        <p:nvSpPr>
          <p:cNvPr id="9" name="Text 7"/>
          <p:cNvSpPr/>
          <p:nvPr/>
        </p:nvSpPr>
        <p:spPr>
          <a:xfrm>
            <a:off x="548640" y="3630168"/>
            <a:ext cx="274320" cy="320040"/>
          </a:xfrm>
          <a:prstGeom prst="rect">
            <a:avLst/>
          </a:prstGeom>
          <a:noFill/>
          <a:ln/>
        </p:spPr>
        <p:txBody>
          <a:bodyPr wrap="square" lIns="0" tIns="0" rIns="0" bIns="0" rtlCol="0" anchor="ctr"/>
          <a:lstStyle/>
          <a:p>
            <a:pPr marL="0" indent="0">
              <a:buNone/>
            </a:pPr>
            <a:r>
              <a:rPr lang="en-US" sz="1400" b="1" dirty="0">
                <a:solidFill>
                  <a:srgbClr val="22C55E"/>
                </a:solidFill>
                <a:latin typeface="Inter" pitchFamily="34" charset="0"/>
                <a:ea typeface="Inter" pitchFamily="34" charset="-122"/>
                <a:cs typeface="Inter" pitchFamily="34" charset="-120"/>
              </a:rPr>
              <a:t>✓</a:t>
            </a:r>
            <a:endParaRPr lang="en-US" sz="1400" dirty="0"/>
          </a:p>
        </p:txBody>
      </p:sp>
      <p:sp>
        <p:nvSpPr>
          <p:cNvPr id="10" name="Text 8"/>
          <p:cNvSpPr/>
          <p:nvPr/>
        </p:nvSpPr>
        <p:spPr>
          <a:xfrm>
            <a:off x="868680" y="3630168"/>
            <a:ext cx="4389120" cy="32004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400" b="0">
                <a:solidFill>
                  <a:srgbClr val="C9D4E5"/>
                </a:solidFill>
                <a:latin typeface="MiSans"/>
              </a:rPr>
              <a:t>Real SQL Practice</a:t>
            </a:r>
          </a:p>
        </p:txBody>
      </p:sp>
      <p:sp>
        <p:nvSpPr>
          <p:cNvPr id="11" name="Text 9"/>
          <p:cNvSpPr/>
          <p:nvPr/>
        </p:nvSpPr>
        <p:spPr>
          <a:xfrm>
            <a:off x="548640" y="4014216"/>
            <a:ext cx="274320" cy="320040"/>
          </a:xfrm>
          <a:prstGeom prst="rect">
            <a:avLst/>
          </a:prstGeom>
          <a:noFill/>
          <a:ln/>
        </p:spPr>
        <p:txBody>
          <a:bodyPr wrap="square" lIns="0" tIns="0" rIns="0" bIns="0" rtlCol="0" anchor="ctr"/>
          <a:lstStyle/>
          <a:p>
            <a:pPr marL="0" indent="0">
              <a:buNone/>
            </a:pPr>
            <a:r>
              <a:rPr lang="en-US" sz="1400" b="1" dirty="0">
                <a:solidFill>
                  <a:srgbClr val="22C55E"/>
                </a:solidFill>
                <a:latin typeface="Inter" pitchFamily="34" charset="0"/>
                <a:ea typeface="Inter" pitchFamily="34" charset="-122"/>
                <a:cs typeface="Inter" pitchFamily="34" charset="-120"/>
              </a:rPr>
              <a:t>✓</a:t>
            </a:r>
            <a:endParaRPr lang="en-US" sz="1400" dirty="0"/>
          </a:p>
        </p:txBody>
      </p:sp>
      <p:sp>
        <p:nvSpPr>
          <p:cNvPr id="12" name="Text 10"/>
          <p:cNvSpPr/>
          <p:nvPr/>
        </p:nvSpPr>
        <p:spPr>
          <a:xfrm>
            <a:off x="868680" y="4014216"/>
            <a:ext cx="4389120" cy="32004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400" b="0">
                <a:solidFill>
                  <a:srgbClr val="C9D4E5"/>
                </a:solidFill>
                <a:latin typeface="MiSans"/>
              </a:rPr>
              <a:t>Beginner Friendly</a:t>
            </a:r>
          </a:p>
        </p:txBody>
      </p:sp>
      <p:sp>
        <p:nvSpPr>
          <p:cNvPr id="13" name="Shape 11"/>
          <p:cNvSpPr/>
          <p:nvPr/>
        </p:nvSpPr>
        <p:spPr>
          <a:xfrm>
            <a:off x="5989320" y="502920"/>
            <a:ext cx="2651760" cy="1691640"/>
          </a:xfrm>
          <a:prstGeom prst="roundRect">
            <a:avLst>
              <a:gd name="adj" fmla="val 4324"/>
            </a:avLst>
          </a:prstGeom>
          <a:solidFill>
            <a:srgbClr val="081B30"/>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14" name="Text 12"/>
          <p:cNvSpPr/>
          <p:nvPr/>
        </p:nvSpPr>
        <p:spPr>
          <a:xfrm>
            <a:off x="6190488" y="649224"/>
            <a:ext cx="2249424" cy="1399032"/>
          </a:xfrm>
          <a:prstGeom prst="rect">
            <a:avLst/>
          </a:prstGeom>
          <a:noFill/>
          <a:ln/>
        </p:spPr>
        <p:txBody>
          <a:bodyPr wrap="square" lIns="109728" tIns="109728" rIns="109728" bIns="109728" rtlCol="0" anchor="ctr"/>
          <a:lstStyle/>
          <a:p>
            <a:pPr algn="l">
              <a:lnSpc>
                <a:spcPct val="100000"/>
              </a:lnSpc>
              <a:spcBef>
                <a:spcPts val="0"/>
              </a:spcBef>
              <a:spcAft>
                <a:spcPts val="0"/>
              </a:spcAft>
            </a:pPr>
          </a:p>
        </p:txBody>
      </p:sp>
      <p:sp>
        <p:nvSpPr>
          <p:cNvPr id="15" name="Shape 13"/>
          <p:cNvSpPr/>
          <p:nvPr/>
        </p:nvSpPr>
        <p:spPr>
          <a:xfrm>
            <a:off x="5989320" y="2395728"/>
            <a:ext cx="2651760" cy="457200"/>
          </a:xfrm>
          <a:prstGeom prst="roundRect">
            <a:avLst>
              <a:gd name="adj" fmla="val 12000"/>
            </a:avLst>
          </a:prstGeom>
          <a:solidFill>
            <a:srgbClr val="0F2540"/>
          </a:solidFill>
          <a:ln w="12700">
            <a:solidFill>
              <a:srgbClr val="21314A"/>
            </a:solidFill>
            <a:prstDash val="solid"/>
          </a:ln>
        </p:spPr>
        <p:txBody>
          <a:bodyPr/>
          <a:p/>
        </p:txBody>
      </p:sp>
      <p:sp>
        <p:nvSpPr>
          <p:cNvPr id="16" name="Text 14"/>
          <p:cNvSpPr/>
          <p:nvPr/>
        </p:nvSpPr>
        <p:spPr>
          <a:xfrm>
            <a:off x="5989320" y="2395728"/>
            <a:ext cx="2651760" cy="4572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300" b="0">
                <a:solidFill>
                  <a:srgbClr val="FFFFFF"/>
                </a:solidFill>
                <a:latin typeface="MiSans"/>
              </a:rPr>
              <a:t>Database</a:t>
            </a:r>
          </a:p>
        </p:txBody>
      </p:sp>
      <p:sp>
        <p:nvSpPr>
          <p:cNvPr id="17" name="Text 15"/>
          <p:cNvSpPr/>
          <p:nvPr/>
        </p:nvSpPr>
        <p:spPr>
          <a:xfrm>
            <a:off x="5989320" y="2834640"/>
            <a:ext cx="2651760" cy="27432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18" name="Shape 16"/>
          <p:cNvSpPr/>
          <p:nvPr/>
        </p:nvSpPr>
        <p:spPr>
          <a:xfrm>
            <a:off x="5989320" y="2980944"/>
            <a:ext cx="2651760" cy="457200"/>
          </a:xfrm>
          <a:prstGeom prst="roundRect">
            <a:avLst>
              <a:gd name="adj" fmla="val 12000"/>
            </a:avLst>
          </a:prstGeom>
          <a:solidFill>
            <a:srgbClr val="0F2540"/>
          </a:solidFill>
          <a:ln w="12700">
            <a:solidFill>
              <a:srgbClr val="21314A"/>
            </a:solidFill>
            <a:prstDash val="solid"/>
          </a:ln>
        </p:spPr>
        <p:txBody>
          <a:bodyPr/>
          <a:p/>
        </p:txBody>
      </p:sp>
      <p:sp>
        <p:nvSpPr>
          <p:cNvPr id="19" name="Text 17"/>
          <p:cNvSpPr/>
          <p:nvPr/>
        </p:nvSpPr>
        <p:spPr>
          <a:xfrm>
            <a:off x="5989320" y="2980944"/>
            <a:ext cx="2651760" cy="4572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300" b="0">
                <a:solidFill>
                  <a:srgbClr val="FFFFFF"/>
                </a:solidFill>
                <a:latin typeface="MiSans"/>
              </a:rPr>
              <a:t>students Table</a:t>
            </a:r>
          </a:p>
        </p:txBody>
      </p:sp>
      <p:sp>
        <p:nvSpPr>
          <p:cNvPr id="20" name="Text 18"/>
          <p:cNvSpPr/>
          <p:nvPr/>
        </p:nvSpPr>
        <p:spPr>
          <a:xfrm>
            <a:off x="5989320" y="3419856"/>
            <a:ext cx="2651760" cy="27432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21" name="Shape 19"/>
          <p:cNvSpPr/>
          <p:nvPr/>
        </p:nvSpPr>
        <p:spPr>
          <a:xfrm>
            <a:off x="5989320" y="3566160"/>
            <a:ext cx="2651760" cy="457200"/>
          </a:xfrm>
          <a:prstGeom prst="roundRect">
            <a:avLst>
              <a:gd name="adj" fmla="val 12000"/>
            </a:avLst>
          </a:prstGeom>
          <a:solidFill>
            <a:srgbClr val="0F2540"/>
          </a:solidFill>
          <a:ln w="12700">
            <a:solidFill>
              <a:srgbClr val="21314A"/>
            </a:solidFill>
            <a:prstDash val="solid"/>
          </a:ln>
        </p:spPr>
        <p:txBody>
          <a:bodyPr/>
          <a:p/>
        </p:txBody>
      </p:sp>
      <p:sp>
        <p:nvSpPr>
          <p:cNvPr id="22" name="Text 20"/>
          <p:cNvSpPr/>
          <p:nvPr/>
        </p:nvSpPr>
        <p:spPr>
          <a:xfrm>
            <a:off x="5989320" y="3566160"/>
            <a:ext cx="2651760" cy="4572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300" b="0">
                <a:solidFill>
                  <a:srgbClr val="FFFFFF"/>
                </a:solidFill>
                <a:latin typeface="MiSans"/>
              </a:rPr>
              <a:t>Combine queries</a:t>
            </a:r>
          </a:p>
        </p:txBody>
      </p:sp>
      <p:sp>
        <p:nvSpPr>
          <p:cNvPr id="23" name="Text 21"/>
          <p:cNvSpPr/>
          <p:nvPr/>
        </p:nvSpPr>
        <p:spPr>
          <a:xfrm>
            <a:off x="5989320" y="4005072"/>
            <a:ext cx="2651760" cy="27432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24" name="Shape 22"/>
          <p:cNvSpPr/>
          <p:nvPr/>
        </p:nvSpPr>
        <p:spPr>
          <a:xfrm>
            <a:off x="5989320" y="4151376"/>
            <a:ext cx="2651760" cy="457200"/>
          </a:xfrm>
          <a:prstGeom prst="roundRect">
            <a:avLst>
              <a:gd name="adj" fmla="val 12000"/>
            </a:avLst>
          </a:prstGeom>
          <a:solidFill>
            <a:srgbClr val="0F2540"/>
          </a:solidFill>
          <a:ln w="12700">
            <a:solidFill>
              <a:srgbClr val="21314A"/>
            </a:solidFill>
            <a:prstDash val="solid"/>
          </a:ln>
        </p:spPr>
        <p:txBody>
          <a:bodyPr/>
          <a:p/>
        </p:txBody>
      </p:sp>
      <p:sp>
        <p:nvSpPr>
          <p:cNvPr id="25" name="Text 23"/>
          <p:cNvSpPr/>
          <p:nvPr/>
        </p:nvSpPr>
        <p:spPr>
          <a:xfrm>
            <a:off x="5989320" y="4151376"/>
            <a:ext cx="2651760" cy="4572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300" b="0">
                <a:solidFill>
                  <a:srgbClr val="FFFFFF"/>
                </a:solidFill>
                <a:latin typeface="MiSans"/>
              </a:rPr>
              <a:t>Final results</a:t>
            </a:r>
          </a:p>
        </p:txBody>
      </p:sp>
      <p:sp>
        <p:nvSpPr>
          <p:cNvPr id="26" name="Text 24"/>
          <p:cNvSpPr/>
          <p:nvPr/>
        </p:nvSpPr>
        <p:spPr>
          <a:xfrm>
            <a:off x="457200" y="4777740"/>
            <a:ext cx="45720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SQL MASTER  ·  SQL-R016: Constraints Revision</a:t>
            </a:r>
          </a:p>
        </p:txBody>
      </p:sp>
      <p:sp>
        <p:nvSpPr>
          <p:cNvPr id="27" name="Text 25"/>
          <p:cNvSpPr/>
          <p:nvPr/>
        </p:nvSpPr>
        <p:spPr>
          <a:xfrm>
            <a:off x="7772400" y="4777740"/>
            <a:ext cx="9144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01 / 06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526"/>
        </a:solidFill>
        <a:effectLst/>
      </p:bgPr>
    </p:bg>
    <p:spTree>
      <p:nvGrpSpPr>
        <p:cNvPr id="1" name=""/>
        <p:cNvGrpSpPr/>
        <p:nvPr/>
      </p:nvGrpSpPr>
      <p:grpSpPr>
        <a:xfrm>
          <a:off x="0" y="0"/>
          <a:ext cx="0" cy="0"/>
          <a:chOff x="0" y="0"/>
          <a:chExt cx="0" cy="0"/>
        </a:xfrm>
      </p:grpSpPr>
      <p:sp>
        <p:nvSpPr>
          <p:cNvPr id="2" name="Text 0"/>
          <p:cNvSpPr/>
          <p:nvPr/>
        </p:nvSpPr>
        <p:spPr>
          <a:xfrm>
            <a:off x="548640" y="365760"/>
            <a:ext cx="8046720" cy="59436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2400" b="1">
                <a:solidFill>
                  <a:srgbClr val="FFFFFF"/>
                </a:solidFill>
                <a:latin typeface="MiSans"/>
              </a:rPr>
              <a:t>What is Constraints Revision?</a:t>
            </a:r>
          </a:p>
        </p:txBody>
      </p:sp>
      <p:sp>
        <p:nvSpPr>
          <p:cNvPr id="3" name="Shape 1"/>
          <p:cNvSpPr/>
          <p:nvPr/>
        </p:nvSpPr>
        <p:spPr>
          <a:xfrm>
            <a:off x="548640" y="1143000"/>
            <a:ext cx="2606040" cy="1417320"/>
          </a:xfrm>
          <a:prstGeom prst="roundRect">
            <a:avLst>
              <a:gd name="adj" fmla="val 5161"/>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4" name="Text 2"/>
          <p:cNvSpPr/>
          <p:nvPr/>
        </p:nvSpPr>
        <p:spPr>
          <a:xfrm>
            <a:off x="749808" y="1307592"/>
            <a:ext cx="2203704" cy="27432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800" b="1">
                <a:solidFill>
                  <a:srgbClr val="FFFFFF"/>
                </a:solidFill>
                <a:latin typeface="MiSans"/>
              </a:rPr>
              <a:t>WHAT</a:t>
            </a:r>
          </a:p>
        </p:txBody>
      </p:sp>
      <p:sp>
        <p:nvSpPr>
          <p:cNvPr id="5" name="Text 3"/>
          <p:cNvSpPr/>
          <p:nvPr/>
        </p:nvSpPr>
        <p:spPr>
          <a:xfrm>
            <a:off x="749808" y="1645920"/>
            <a:ext cx="2203704" cy="73152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500" b="0">
                <a:solidFill>
                  <a:srgbClr val="C9D4E5"/>
                </a:solidFill>
                <a:latin typeface="MiSans"/>
              </a:rPr>
              <a:t>Revision lessons consolidate your knowledge of Constraints Revision through practice.</a:t>
            </a:r>
          </a:p>
        </p:txBody>
      </p:sp>
      <p:sp>
        <p:nvSpPr>
          <p:cNvPr id="6" name="Shape 4"/>
          <p:cNvSpPr/>
          <p:nvPr/>
        </p:nvSpPr>
        <p:spPr>
          <a:xfrm>
            <a:off x="3383280" y="1143000"/>
            <a:ext cx="2606040" cy="1417320"/>
          </a:xfrm>
          <a:prstGeom prst="roundRect">
            <a:avLst>
              <a:gd name="adj" fmla="val 5161"/>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7" name="Text 5"/>
          <p:cNvSpPr/>
          <p:nvPr/>
        </p:nvSpPr>
        <p:spPr>
          <a:xfrm>
            <a:off x="3584448" y="1307592"/>
            <a:ext cx="2203704" cy="27432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800" b="1">
                <a:solidFill>
                  <a:srgbClr val="FFFFFF"/>
                </a:solidFill>
                <a:latin typeface="MiSans"/>
              </a:rPr>
              <a:t>WHY</a:t>
            </a:r>
          </a:p>
        </p:txBody>
      </p:sp>
      <p:sp>
        <p:nvSpPr>
          <p:cNvPr id="8" name="Text 6"/>
          <p:cNvSpPr/>
          <p:nvPr/>
        </p:nvSpPr>
        <p:spPr>
          <a:xfrm>
            <a:off x="3584448" y="1645920"/>
            <a:ext cx="2203704" cy="73152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500" b="0">
                <a:solidFill>
                  <a:srgbClr val="C9D4E5"/>
                </a:solidFill>
                <a:latin typeface="MiSans"/>
              </a:rPr>
              <a:t>Reinforcing syntax rules through cumulative practice builds long-term muscle memory.</a:t>
            </a:r>
          </a:p>
        </p:txBody>
      </p:sp>
      <p:sp>
        <p:nvSpPr>
          <p:cNvPr id="9" name="Shape 7"/>
          <p:cNvSpPr/>
          <p:nvPr/>
        </p:nvSpPr>
        <p:spPr>
          <a:xfrm>
            <a:off x="6217920" y="1143000"/>
            <a:ext cx="2606040" cy="1417320"/>
          </a:xfrm>
          <a:prstGeom prst="roundRect">
            <a:avLst>
              <a:gd name="adj" fmla="val 5161"/>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10" name="Text 8"/>
          <p:cNvSpPr/>
          <p:nvPr/>
        </p:nvSpPr>
        <p:spPr>
          <a:xfrm>
            <a:off x="6419088" y="1307592"/>
            <a:ext cx="2203704" cy="27432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800" b="1">
                <a:solidFill>
                  <a:srgbClr val="FFFFFF"/>
                </a:solidFill>
                <a:latin typeface="MiSans"/>
              </a:rPr>
              <a:t>WHEN</a:t>
            </a:r>
          </a:p>
        </p:txBody>
      </p:sp>
      <p:sp>
        <p:nvSpPr>
          <p:cNvPr id="11" name="Text 9"/>
          <p:cNvSpPr/>
          <p:nvPr/>
        </p:nvSpPr>
        <p:spPr>
          <a:xfrm>
            <a:off x="6419088" y="1645920"/>
            <a:ext cx="2203704" cy="73152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500" b="0">
                <a:solidFill>
                  <a:srgbClr val="C9D4E5"/>
                </a:solidFill>
                <a:latin typeface="MiSans"/>
              </a:rPr>
              <a:t>Review these revision slides after completing a block of core SQL topics.</a:t>
            </a:r>
          </a:p>
        </p:txBody>
      </p:sp>
      <p:sp>
        <p:nvSpPr>
          <p:cNvPr id="12" name="Text 10"/>
          <p:cNvSpPr/>
          <p:nvPr/>
        </p:nvSpPr>
        <p:spPr>
          <a:xfrm>
            <a:off x="548640" y="2880360"/>
            <a:ext cx="8046720" cy="274320"/>
          </a:xfrm>
          <a:prstGeom prst="rect">
            <a:avLst/>
          </a:prstGeom>
          <a:noFill/>
          <a:ln/>
        </p:spPr>
        <p:txBody>
          <a:bodyPr wrap="square" lIns="0" tIns="0" rIns="0" bIns="0" rtlCol="0" anchor="ctr"/>
          <a:lstStyle/>
          <a:p>
            <a:pPr marL="0" indent="0">
              <a:buNone/>
            </a:pPr>
            <a:r>
              <a:rPr lang="en-US" sz="1200" b="1" kern="0" spc="150" dirty="0">
                <a:solidFill>
                  <a:srgbClr val="3B82F6"/>
                </a:solidFill>
                <a:latin typeface="Inter" pitchFamily="34" charset="0"/>
                <a:ea typeface="Inter" pitchFamily="34" charset="-122"/>
                <a:cs typeface="Inter" pitchFamily="34" charset="-120"/>
              </a:rPr>
              <a:t>EXAMPLE</a:t>
            </a:r>
            <a:endParaRPr lang="en-US" sz="1200" dirty="0"/>
          </a:p>
        </p:txBody>
      </p:sp>
      <p:sp>
        <p:nvSpPr>
          <p:cNvPr id="13" name="Shape 11"/>
          <p:cNvSpPr/>
          <p:nvPr/>
        </p:nvSpPr>
        <p:spPr>
          <a:xfrm>
            <a:off x="548640" y="3246120"/>
            <a:ext cx="2606040" cy="1188720"/>
          </a:xfrm>
          <a:prstGeom prst="roundRect">
            <a:avLst>
              <a:gd name="adj" fmla="val 6154"/>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14" name="Text 12"/>
          <p:cNvSpPr/>
          <p:nvPr/>
        </p:nvSpPr>
        <p:spPr>
          <a:xfrm>
            <a:off x="749808" y="3410712"/>
            <a:ext cx="2203704" cy="32004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300" b="0">
                <a:solidFill>
                  <a:srgbClr val="FFFFFF"/>
                </a:solidFill>
                <a:latin typeface="MiSans"/>
              </a:rPr>
              <a:t>Database</a:t>
            </a:r>
          </a:p>
        </p:txBody>
      </p:sp>
      <p:sp>
        <p:nvSpPr>
          <p:cNvPr id="15" name="Text 13"/>
          <p:cNvSpPr/>
          <p:nvPr/>
        </p:nvSpPr>
        <p:spPr>
          <a:xfrm>
            <a:off x="749808" y="3794760"/>
            <a:ext cx="2203704" cy="4572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C9D4E5"/>
                </a:solidFill>
                <a:latin typeface="MiSans"/>
              </a:rPr>
              <a:t>Full source data</a:t>
            </a:r>
          </a:p>
        </p:txBody>
      </p:sp>
      <p:sp>
        <p:nvSpPr>
          <p:cNvPr id="16" name="Shape 14"/>
          <p:cNvSpPr/>
          <p:nvPr/>
        </p:nvSpPr>
        <p:spPr>
          <a:xfrm>
            <a:off x="3383280" y="3246120"/>
            <a:ext cx="2606040" cy="1188720"/>
          </a:xfrm>
          <a:prstGeom prst="roundRect">
            <a:avLst>
              <a:gd name="adj" fmla="val 6154"/>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17" name="Text 15"/>
          <p:cNvSpPr/>
          <p:nvPr/>
        </p:nvSpPr>
        <p:spPr>
          <a:xfrm>
            <a:off x="3584448" y="3410712"/>
            <a:ext cx="2203704" cy="32004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300" b="0">
                <a:solidFill>
                  <a:srgbClr val="FFFFFF"/>
                </a:solidFill>
                <a:latin typeface="MiSans"/>
              </a:rPr>
              <a:t>Constraints Revision</a:t>
            </a:r>
          </a:p>
        </p:txBody>
      </p:sp>
      <p:sp>
        <p:nvSpPr>
          <p:cNvPr id="18" name="Text 16"/>
          <p:cNvSpPr/>
          <p:nvPr/>
        </p:nvSpPr>
        <p:spPr>
          <a:xfrm>
            <a:off x="3584448" y="3794760"/>
            <a:ext cx="2203704" cy="4572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C9D4E5"/>
                </a:solidFill>
                <a:latin typeface="MiSans"/>
              </a:rPr>
              <a:t>Apply criteria</a:t>
            </a:r>
          </a:p>
        </p:txBody>
      </p:sp>
      <p:sp>
        <p:nvSpPr>
          <p:cNvPr id="19" name="Shape 17"/>
          <p:cNvSpPr/>
          <p:nvPr/>
        </p:nvSpPr>
        <p:spPr>
          <a:xfrm>
            <a:off x="6217920" y="3246120"/>
            <a:ext cx="2606040" cy="1188720"/>
          </a:xfrm>
          <a:prstGeom prst="roundRect">
            <a:avLst>
              <a:gd name="adj" fmla="val 6154"/>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20" name="Text 18"/>
          <p:cNvSpPr/>
          <p:nvPr/>
        </p:nvSpPr>
        <p:spPr>
          <a:xfrm>
            <a:off x="6419088" y="3410712"/>
            <a:ext cx="2203704" cy="32004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300" b="0">
                <a:solidFill>
                  <a:srgbClr val="FFFFFF"/>
                </a:solidFill>
                <a:latin typeface="MiSans"/>
              </a:rPr>
              <a:t>Final results</a:t>
            </a:r>
          </a:p>
        </p:txBody>
      </p:sp>
      <p:sp>
        <p:nvSpPr>
          <p:cNvPr id="21" name="Text 19"/>
          <p:cNvSpPr/>
          <p:nvPr/>
        </p:nvSpPr>
        <p:spPr>
          <a:xfrm>
            <a:off x="6419088" y="3794760"/>
            <a:ext cx="2203704" cy="4572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C9D4E5"/>
                </a:solidFill>
                <a:latin typeface="MiSans"/>
              </a:rPr>
              <a:t>Only requested rows</a:t>
            </a:r>
          </a:p>
        </p:txBody>
      </p:sp>
      <p:sp>
        <p:nvSpPr>
          <p:cNvPr id="22" name="Text 20"/>
          <p:cNvSpPr/>
          <p:nvPr/>
        </p:nvSpPr>
        <p:spPr>
          <a:xfrm>
            <a:off x="544830" y="4457700"/>
            <a:ext cx="8046720" cy="32004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400" b="0">
                <a:solidFill>
                  <a:srgbClr val="FFC83D"/>
                </a:solidFill>
                <a:latin typeface="MiSans"/>
              </a:rPr>
              <a:t>TIP:  Always verify performance of Constraints Revision on large tables.</a:t>
            </a:r>
          </a:p>
        </p:txBody>
      </p:sp>
      <p:sp>
        <p:nvSpPr>
          <p:cNvPr id="23" name="Text 21"/>
          <p:cNvSpPr/>
          <p:nvPr/>
        </p:nvSpPr>
        <p:spPr>
          <a:xfrm>
            <a:off x="457200" y="4777740"/>
            <a:ext cx="45720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SQL MASTER  ·  SQL-R016: Constraints Revision</a:t>
            </a:r>
          </a:p>
        </p:txBody>
      </p:sp>
      <p:sp>
        <p:nvSpPr>
          <p:cNvPr id="24" name="Text 22"/>
          <p:cNvSpPr/>
          <p:nvPr/>
        </p:nvSpPr>
        <p:spPr>
          <a:xfrm>
            <a:off x="7772400" y="4777740"/>
            <a:ext cx="9144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02 / 06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526"/>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2400" b="1">
                <a:solidFill>
                  <a:srgbClr val="FFFFFF"/>
                </a:solidFill>
                <a:latin typeface="MiSans"/>
              </a:rPr>
              <a:t>How Does Constraints Revision Work?</a:t>
            </a:r>
          </a:p>
        </p:txBody>
      </p:sp>
      <p:sp>
        <p:nvSpPr>
          <p:cNvPr id="3" name="Shape 1"/>
          <p:cNvSpPr/>
          <p:nvPr/>
        </p:nvSpPr>
        <p:spPr>
          <a:xfrm>
            <a:off x="649224" y="960120"/>
            <a:ext cx="1481328" cy="548640"/>
          </a:xfrm>
          <a:prstGeom prst="roundRect">
            <a:avLst>
              <a:gd name="adj" fmla="val 13333"/>
            </a:avLst>
          </a:prstGeom>
          <a:solidFill>
            <a:srgbClr val="0F2540"/>
          </a:solidFill>
          <a:ln w="12700">
            <a:solidFill>
              <a:srgbClr val="21314A"/>
            </a:solidFill>
            <a:prstDash val="solid"/>
          </a:ln>
        </p:spPr>
        <p:txBody>
          <a:bodyPr/>
          <a:p/>
        </p:txBody>
      </p:sp>
      <p:sp>
        <p:nvSpPr>
          <p:cNvPr id="4" name="Text 2"/>
          <p:cNvSpPr/>
          <p:nvPr/>
        </p:nvSpPr>
        <p:spPr>
          <a:xfrm>
            <a:off x="649224" y="960120"/>
            <a:ext cx="1481328" cy="548640"/>
          </a:xfrm>
          <a:prstGeom prst="rect">
            <a:avLst/>
          </a:prstGeom>
          <a:noFill/>
          <a:ln/>
        </p:spPr>
        <p:txBody>
          <a:bodyPr wrap="square" lIns="0" tIns="0" rIns="0" bIns="0" rtlCol="0" anchor="ctr"/>
          <a:lstStyle/>
          <a:p>
            <a:pPr marL="0" indent="0" algn="ctr">
              <a:buNone/>
            </a:pPr>
            <a:r>
              <a:rPr lang="en-US" sz="1050" b="1" dirty="0">
                <a:solidFill>
                  <a:srgbClr val="D7DEE8"/>
                </a:solidFill>
                <a:latin typeface="Inter" pitchFamily="34" charset="0"/>
                <a:ea typeface="Inter" pitchFamily="34" charset="-122"/>
                <a:cs typeface="Inter" pitchFamily="34" charset="-120"/>
              </a:rPr>
              <a:t>Database</a:t>
            </a:r>
            <a:endParaRPr lang="en-US" sz="1050" dirty="0"/>
          </a:p>
        </p:txBody>
      </p:sp>
      <p:sp>
        <p:nvSpPr>
          <p:cNvPr id="5" name="Text 3"/>
          <p:cNvSpPr/>
          <p:nvPr/>
        </p:nvSpPr>
        <p:spPr>
          <a:xfrm>
            <a:off x="2130552" y="960120"/>
            <a:ext cx="128016" cy="54864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6" name="Shape 4"/>
          <p:cNvSpPr/>
          <p:nvPr/>
        </p:nvSpPr>
        <p:spPr>
          <a:xfrm>
            <a:off x="2240280" y="960120"/>
            <a:ext cx="1481328" cy="548640"/>
          </a:xfrm>
          <a:prstGeom prst="roundRect">
            <a:avLst>
              <a:gd name="adj" fmla="val 13333"/>
            </a:avLst>
          </a:prstGeom>
          <a:solidFill>
            <a:srgbClr val="0F2540"/>
          </a:solidFill>
          <a:ln w="12700">
            <a:solidFill>
              <a:srgbClr val="21314A"/>
            </a:solidFill>
            <a:prstDash val="solid"/>
          </a:ln>
        </p:spPr>
        <p:txBody>
          <a:bodyPr/>
          <a:p/>
        </p:txBody>
      </p:sp>
      <p:sp>
        <p:nvSpPr>
          <p:cNvPr id="7" name="Text 5"/>
          <p:cNvSpPr/>
          <p:nvPr/>
        </p:nvSpPr>
        <p:spPr>
          <a:xfrm>
            <a:off x="2240280" y="960120"/>
            <a:ext cx="1481328" cy="548640"/>
          </a:xfrm>
          <a:prstGeom prst="rect">
            <a:avLst/>
          </a:prstGeom>
          <a:noFill/>
          <a:ln/>
        </p:spPr>
        <p:txBody>
          <a:bodyPr wrap="square" lIns="0" tIns="0" rIns="0" bIns="0" rtlCol="0" anchor="ctr"/>
          <a:lstStyle/>
          <a:p>
            <a:pPr marL="0" indent="0" algn="ctr">
              <a:buNone/>
            </a:pPr>
            <a:r>
              <a:rPr lang="en-US" sz="1050" b="1" dirty="0">
                <a:solidFill>
                  <a:srgbClr val="D7DEE8"/>
                </a:solidFill>
                <a:latin typeface="Inter" pitchFamily="34" charset="0"/>
                <a:ea typeface="Inter" pitchFamily="34" charset="-122"/>
                <a:cs typeface="Inter" pitchFamily="34" charset="-120"/>
              </a:rPr>
              <a:t>Products Table</a:t>
            </a:r>
            <a:endParaRPr lang="en-US" sz="1050" dirty="0"/>
          </a:p>
        </p:txBody>
      </p:sp>
      <p:sp>
        <p:nvSpPr>
          <p:cNvPr id="8" name="Text 6"/>
          <p:cNvSpPr/>
          <p:nvPr/>
        </p:nvSpPr>
        <p:spPr>
          <a:xfrm>
            <a:off x="3721608" y="960120"/>
            <a:ext cx="128016" cy="54864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9" name="Shape 7"/>
          <p:cNvSpPr/>
          <p:nvPr/>
        </p:nvSpPr>
        <p:spPr>
          <a:xfrm>
            <a:off x="3831336" y="960120"/>
            <a:ext cx="1481328" cy="548640"/>
          </a:xfrm>
          <a:prstGeom prst="roundRect">
            <a:avLst>
              <a:gd name="adj" fmla="val 13333"/>
            </a:avLst>
          </a:prstGeom>
          <a:solidFill>
            <a:srgbClr val="0F2540"/>
          </a:solidFill>
          <a:ln w="12700">
            <a:solidFill>
              <a:srgbClr val="21314A"/>
            </a:solidFill>
            <a:prstDash val="solid"/>
          </a:ln>
        </p:spPr>
        <p:txBody>
          <a:bodyPr/>
          <a:p/>
        </p:txBody>
      </p:sp>
      <p:sp>
        <p:nvSpPr>
          <p:cNvPr id="10" name="Text 8"/>
          <p:cNvSpPr/>
          <p:nvPr/>
        </p:nvSpPr>
        <p:spPr>
          <a:xfrm>
            <a:off x="3895344" y="960120"/>
            <a:ext cx="1481328" cy="548640"/>
          </a:xfrm>
          <a:prstGeom prst="rect">
            <a:avLst/>
          </a:prstGeom>
          <a:noFill/>
          <a:ln/>
        </p:spPr>
        <p:txBody>
          <a:bodyPr wrap="square" lIns="0" tIns="0" rIns="0" bIns="0" rtlCol="0" anchor="ctr"/>
          <a:lstStyle/>
          <a:p>
            <a:pPr marL="0" indent="0" algn="ctr">
              <a:buNone/>
            </a:pPr>
            <a:r>
              <a:rPr lang="en-US" sz="1050" b="1" dirty="0">
                <a:solidFill>
                  <a:srgbClr val="D7DEE8"/>
                </a:solidFill>
                <a:latin typeface="Inter" pitchFamily="34" charset="0"/>
                <a:ea typeface="Inter" pitchFamily="34" charset="-122"/>
                <a:cs typeface="Inter" pitchFamily="34" charset="-120"/>
              </a:rPr>
              <a:t>Evaluate Condition</a:t>
            </a:r>
            <a:endParaRPr lang="en-US" sz="1050" dirty="0"/>
          </a:p>
        </p:txBody>
      </p:sp>
      <p:sp>
        <p:nvSpPr>
          <p:cNvPr id="11" name="Text 9"/>
          <p:cNvSpPr/>
          <p:nvPr/>
        </p:nvSpPr>
        <p:spPr>
          <a:xfrm>
            <a:off x="5312664" y="960120"/>
            <a:ext cx="128016" cy="54864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12" name="Shape 10"/>
          <p:cNvSpPr/>
          <p:nvPr/>
        </p:nvSpPr>
        <p:spPr>
          <a:xfrm>
            <a:off x="5477256" y="960120"/>
            <a:ext cx="1481328" cy="548640"/>
          </a:xfrm>
          <a:prstGeom prst="roundRect">
            <a:avLst>
              <a:gd name="adj" fmla="val 13333"/>
            </a:avLst>
          </a:prstGeom>
          <a:solidFill>
            <a:srgbClr val="0F2540"/>
          </a:solidFill>
          <a:ln w="12700">
            <a:solidFill>
              <a:srgbClr val="21314A"/>
            </a:solidFill>
            <a:prstDash val="solid"/>
          </a:ln>
        </p:spPr>
        <p:txBody>
          <a:bodyPr/>
          <a:p/>
        </p:txBody>
      </p:sp>
      <p:sp>
        <p:nvSpPr>
          <p:cNvPr id="13" name="Text 11"/>
          <p:cNvSpPr/>
          <p:nvPr/>
        </p:nvSpPr>
        <p:spPr>
          <a:xfrm>
            <a:off x="5422392" y="960120"/>
            <a:ext cx="1481328" cy="548640"/>
          </a:xfrm>
          <a:prstGeom prst="rect">
            <a:avLst/>
          </a:prstGeom>
          <a:noFill/>
          <a:ln/>
        </p:spPr>
        <p:txBody>
          <a:bodyPr wrap="square" lIns="0" tIns="0" rIns="0" bIns="0" rtlCol="0" anchor="ctr"/>
          <a:lstStyle/>
          <a:p>
            <a:pPr marL="0" indent="0" algn="ctr">
              <a:buNone/>
            </a:pPr>
            <a:r>
              <a:rPr lang="en-US" sz="1050" b="1" dirty="0">
                <a:solidFill>
                  <a:srgbClr val="D7DEE8"/>
                </a:solidFill>
                <a:latin typeface="Inter" pitchFamily="34" charset="0"/>
                <a:ea typeface="Inter" pitchFamily="34" charset="-122"/>
                <a:cs typeface="Inter" pitchFamily="34" charset="-120"/>
              </a:rPr>
              <a:t>Keep Matching Rows</a:t>
            </a:r>
            <a:endParaRPr lang="en-US" sz="1050" dirty="0"/>
          </a:p>
        </p:txBody>
      </p:sp>
      <p:sp>
        <p:nvSpPr>
          <p:cNvPr id="14" name="Text 12"/>
          <p:cNvSpPr/>
          <p:nvPr/>
        </p:nvSpPr>
        <p:spPr>
          <a:xfrm>
            <a:off x="6903720" y="960120"/>
            <a:ext cx="128016" cy="54864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15" name="Shape 13"/>
          <p:cNvSpPr/>
          <p:nvPr/>
        </p:nvSpPr>
        <p:spPr>
          <a:xfrm>
            <a:off x="7141464" y="948690"/>
            <a:ext cx="1481328" cy="548640"/>
          </a:xfrm>
          <a:prstGeom prst="roundRect">
            <a:avLst>
              <a:gd name="adj" fmla="val 13333"/>
            </a:avLst>
          </a:prstGeom>
          <a:solidFill>
            <a:srgbClr val="0F2E1E"/>
          </a:solidFill>
          <a:ln w="12700">
            <a:solidFill>
              <a:srgbClr val="21314A"/>
            </a:solidFill>
            <a:prstDash val="solid"/>
          </a:ln>
        </p:spPr>
        <p:txBody>
          <a:bodyPr/>
          <a:p/>
        </p:txBody>
      </p:sp>
      <p:sp>
        <p:nvSpPr>
          <p:cNvPr id="16" name="Text 14"/>
          <p:cNvSpPr/>
          <p:nvPr/>
        </p:nvSpPr>
        <p:spPr>
          <a:xfrm>
            <a:off x="7013448" y="960120"/>
            <a:ext cx="1481328" cy="548640"/>
          </a:xfrm>
          <a:prstGeom prst="rect">
            <a:avLst/>
          </a:prstGeom>
          <a:noFill/>
          <a:ln/>
        </p:spPr>
        <p:txBody>
          <a:bodyPr wrap="square" lIns="0" tIns="0" rIns="0" bIns="0" rtlCol="0" anchor="ctr"/>
          <a:lstStyle/>
          <a:p>
            <a:pPr marL="0" indent="0" algn="ctr">
              <a:buNone/>
            </a:pPr>
            <a:r>
              <a:rPr lang="en-US" sz="1050" b="1" dirty="0">
                <a:solidFill>
                  <a:srgbClr val="22C55E"/>
                </a:solidFill>
                <a:latin typeface="Inter" pitchFamily="34" charset="0"/>
                <a:ea typeface="Inter" pitchFamily="34" charset="-122"/>
                <a:cs typeface="Inter" pitchFamily="34" charset="-120"/>
              </a:rPr>
              <a:t>Return Result</a:t>
            </a:r>
            <a:endParaRPr lang="en-US" sz="1050" dirty="0"/>
          </a:p>
        </p:txBody>
      </p:sp>
      <p:sp>
        <p:nvSpPr>
          <p:cNvPr id="17" name="Text 15"/>
          <p:cNvSpPr/>
          <p:nvPr/>
        </p:nvSpPr>
        <p:spPr>
          <a:xfrm>
            <a:off x="548640" y="1783080"/>
            <a:ext cx="3931920" cy="274320"/>
          </a:xfrm>
          <a:prstGeom prst="rect">
            <a:avLst/>
          </a:prstGeom>
          <a:noFill/>
          <a:ln/>
        </p:spPr>
        <p:txBody>
          <a:bodyPr wrap="square" lIns="0" tIns="0" rIns="0" bIns="0" rtlCol="0" anchor="ctr"/>
          <a:lstStyle/>
          <a:p>
            <a:pPr marL="0" indent="0" algn="l">
              <a:buNone/>
            </a:pPr>
            <a:r>
              <a:rPr lang="en-US" sz="1200" b="1" kern="0" spc="150" dirty="0">
                <a:solidFill>
                  <a:srgbClr val="3B82F6"/>
                </a:solidFill>
                <a:latin typeface="Inter" pitchFamily="34" charset="0"/>
                <a:ea typeface="Inter" pitchFamily="34" charset="-122"/>
                <a:cs typeface="Inter" pitchFamily="34" charset="-120"/>
              </a:rPr>
              <a:t>DATABASE PREVIEW</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3931920" cy="1828800"/>
        </p:xfrm>
        <a:graphic>
          <a:graphicData uri="http://schemas.openxmlformats.org/drawingml/2006/table">
            <a:tbl>
              <a:tblPr/>
              <a:tblGrid>
                <a:gridCol w="50292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tblGrid>
              <a:tr h="304800">
                <a:tc>
                  <a:txBody>
                    <a:bodyPr anchor="ctr"/>
                    <a:lstStyle/>
                    <a:p>
                      <a:pPr algn="ctr">
                        <a:lnSpc>
                          <a:spcPct val="100000"/>
                        </a:lnSpc>
                        <a:spcBef>
                          <a:spcPts val="0"/>
                        </a:spcBef>
                        <a:spcAft>
                          <a:spcPts val="0"/>
                        </a:spcAft>
                      </a:pPr>
                      <a:r>
                        <a:rPr sz="800" b="1">
                          <a:solidFill>
                            <a:srgbClr val="FFFFFF"/>
                          </a:solidFill>
                          <a:latin typeface="MiSans"/>
                        </a:rPr>
                        <a:t>student_id</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tc>
                  <a:txBody>
                    <a:bodyPr anchor="ctr"/>
                    <a:lstStyle/>
                    <a:p>
                      <a:pPr algn="ctr">
                        <a:lnSpc>
                          <a:spcPct val="100000"/>
                        </a:lnSpc>
                        <a:spcBef>
                          <a:spcPts val="0"/>
                        </a:spcBef>
                        <a:spcAft>
                          <a:spcPts val="0"/>
                        </a:spcAft>
                      </a:pPr>
                      <a:r>
                        <a:rPr sz="800" b="1">
                          <a:solidFill>
                            <a:srgbClr val="FFFFFF"/>
                          </a:solidFill>
                          <a:latin typeface="MiSans"/>
                        </a:rPr>
                        <a:t>student_code</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tc>
                  <a:txBody>
                    <a:bodyPr anchor="ctr"/>
                    <a:lstStyle/>
                    <a:p>
                      <a:pPr algn="ctr">
                        <a:lnSpc>
                          <a:spcPct val="100000"/>
                        </a:lnSpc>
                        <a:spcBef>
                          <a:spcPts val="0"/>
                        </a:spcBef>
                        <a:spcAft>
                          <a:spcPts val="0"/>
                        </a:spcAft>
                      </a:pPr>
                      <a:r>
                        <a:rPr sz="800" b="1">
                          <a:solidFill>
                            <a:srgbClr val="FFFFFF"/>
                          </a:solidFill>
                          <a:latin typeface="MiSans"/>
                        </a:rPr>
                        <a:t>first_name</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tc>
                  <a:txBody>
                    <a:bodyPr anchor="ctr"/>
                    <a:lstStyle/>
                    <a:p>
                      <a:pPr algn="ctr">
                        <a:lnSpc>
                          <a:spcPct val="100000"/>
                        </a:lnSpc>
                        <a:spcBef>
                          <a:spcPts val="0"/>
                        </a:spcBef>
                        <a:spcAft>
                          <a:spcPts val="0"/>
                        </a:spcAft>
                      </a:pPr>
                      <a:r>
                        <a:rPr sz="800" b="1">
                          <a:solidFill>
                            <a:srgbClr val="FFFFFF"/>
                          </a:solidFill>
                          <a:latin typeface="MiSans"/>
                        </a:rPr>
                        <a:t>last_name</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extLst>
                  <a:ext uri="{0D108BD9-81ED-4DB2-BD59-A6C34878D82A}">
                    <a16:rowId xmlns:a16="http://schemas.microsoft.com/office/drawing/2014/main" val="10000"/>
                  </a:ext>
                </a:extLst>
              </a:tr>
              <a:tr h="304800">
                <a:tc>
                  <a:txBody>
                    <a:bodyPr anchor="ctr"/>
                    <a:lstStyle/>
                    <a:p>
                      <a:pPr algn="ctr">
                        <a:lnSpc>
                          <a:spcPct val="100000"/>
                        </a:lnSpc>
                        <a:spcBef>
                          <a:spcPts val="0"/>
                        </a:spcBef>
                        <a:spcAft>
                          <a:spcPts val="0"/>
                        </a:spcAft>
                      </a:pPr>
                      <a:r>
                        <a:rPr sz="800" b="0">
                          <a:solidFill>
                            <a:srgbClr val="C9D4E5"/>
                          </a:solidFill>
                          <a:latin typeface="MiSans"/>
                        </a:rPr>
                        <a:t>1</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STD-001</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Rahim</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Uddin</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1"/>
                  </a:ext>
                </a:extLst>
              </a:tr>
              <a:tr h="304800">
                <a:tc>
                  <a:txBody>
                    <a:bodyPr anchor="ctr"/>
                    <a:lstStyle/>
                    <a:p>
                      <a:pPr algn="ctr">
                        <a:lnSpc>
                          <a:spcPct val="100000"/>
                        </a:lnSpc>
                        <a:spcBef>
                          <a:spcPts val="0"/>
                        </a:spcBef>
                        <a:spcAft>
                          <a:spcPts val="0"/>
                        </a:spcAft>
                      </a:pPr>
                      <a:r>
                        <a:rPr sz="800" b="0">
                          <a:solidFill>
                            <a:srgbClr val="C9D4E5"/>
                          </a:solidFill>
                          <a:latin typeface="MiSans"/>
                        </a:rPr>
                        <a:t>2</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STD-002</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Fatema</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Begum</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2"/>
                  </a:ext>
                </a:extLst>
              </a:tr>
              <a:tr h="304800">
                <a:tc>
                  <a:txBody>
                    <a:bodyPr anchor="ctr"/>
                    <a:lstStyle/>
                    <a:p>
                      <a:pPr algn="ctr">
                        <a:lnSpc>
                          <a:spcPct val="100000"/>
                        </a:lnSpc>
                        <a:spcBef>
                          <a:spcPts val="0"/>
                        </a:spcBef>
                        <a:spcAft>
                          <a:spcPts val="0"/>
                        </a:spcAft>
                      </a:pPr>
                      <a:r>
                        <a:rPr sz="800" b="0">
                          <a:solidFill>
                            <a:srgbClr val="C9D4E5"/>
                          </a:solidFill>
                          <a:latin typeface="MiSans"/>
                        </a:rPr>
                        <a:t>3</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STD-003</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Karim</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Molla</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3"/>
                  </a:ext>
                </a:extLst>
              </a:tr>
              <a:tr h="304800">
                <a:tc>
                  <a:txBody>
                    <a:bodyPr anchor="ctr"/>
                    <a:lstStyle/>
                    <a:p>
                      <a:pPr algn="ctr">
                        <a:lnSpc>
                          <a:spcPct val="100000"/>
                        </a:lnSpc>
                        <a:spcBef>
                          <a:spcPts val="0"/>
                        </a:spcBef>
                        <a:spcAft>
                          <a:spcPts val="0"/>
                        </a:spcAft>
                      </a:pPr>
                      <a:r>
                        <a:rPr sz="800" b="0">
                          <a:solidFill>
                            <a:srgbClr val="C9D4E5"/>
                          </a:solidFill>
                          <a:latin typeface="MiSans"/>
                        </a:rPr>
                        <a:t>…</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4"/>
                  </a:ext>
                </a:extLst>
              </a:tr>
              <a:tr h="304800">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5"/>
                  </a:ext>
                </a:extLst>
              </a:tr>
            </a:tbl>
          </a:graphicData>
        </a:graphic>
      </p:graphicFrame>
      <p:sp>
        <p:nvSpPr>
          <p:cNvPr id="19" name="Text 16"/>
          <p:cNvSpPr/>
          <p:nvPr/>
        </p:nvSpPr>
        <p:spPr>
          <a:xfrm>
            <a:off x="4709160" y="1783080"/>
            <a:ext cx="3886200" cy="274320"/>
          </a:xfrm>
          <a:prstGeom prst="rect">
            <a:avLst/>
          </a:prstGeom>
          <a:noFill/>
          <a:ln/>
        </p:spPr>
        <p:txBody>
          <a:bodyPr wrap="square" lIns="0" tIns="0" rIns="0" bIns="0" rtlCol="0" anchor="ctr"/>
          <a:lstStyle/>
          <a:p>
            <a:pPr marL="0" indent="0" algn="l">
              <a:buNone/>
            </a:pPr>
            <a:r>
              <a:rPr lang="en-US" sz="1200" b="1" kern="0" spc="150" dirty="0">
                <a:solidFill>
                  <a:srgbClr val="3B82F6"/>
                </a:solidFill>
                <a:latin typeface="Inter" pitchFamily="34" charset="0"/>
                <a:ea typeface="Inter" pitchFamily="34" charset="-122"/>
                <a:cs typeface="Inter" pitchFamily="34" charset="-120"/>
              </a:rPr>
              <a:t>SQL QUERY</a:t>
            </a:r>
            <a:endParaRPr lang="en-US" sz="1200" dirty="0"/>
          </a:p>
        </p:txBody>
      </p:sp>
      <p:sp>
        <p:nvSpPr>
          <p:cNvPr id="20" name="Shape 17"/>
          <p:cNvSpPr/>
          <p:nvPr/>
        </p:nvSpPr>
        <p:spPr>
          <a:xfrm>
            <a:off x="4709160" y="2103120"/>
            <a:ext cx="3886200" cy="1143000"/>
          </a:xfrm>
          <a:prstGeom prst="roundRect">
            <a:avLst>
              <a:gd name="adj" fmla="val 6400"/>
            </a:avLst>
          </a:prstGeom>
          <a:solidFill>
            <a:srgbClr val="081B30"/>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21" name="Text 18"/>
          <p:cNvSpPr/>
          <p:nvPr/>
        </p:nvSpPr>
        <p:spPr>
          <a:xfrm>
            <a:off x="4910328" y="2249424"/>
            <a:ext cx="3483864" cy="850392"/>
          </a:xfrm>
          <a:prstGeom prst="rect">
            <a:avLst/>
          </a:prstGeom>
          <a:noFill/>
          <a:ln/>
        </p:spPr>
        <p:txBody>
          <a:bodyPr wrap="square" lIns="109728" tIns="109728" rIns="109728" bIns="109728" rtlCol="0" anchor="t"/>
          <a:lstStyle/>
          <a:p>
            <a:pPr algn="l">
              <a:lnSpc>
                <a:spcPct val="100000"/>
              </a:lnSpc>
              <a:spcBef>
                <a:spcPts val="0"/>
              </a:spcBef>
              <a:spcAft>
                <a:spcPts val="0"/>
              </a:spcAft>
            </a:pPr>
          </a:p>
        </p:txBody>
      </p:sp>
      <p:sp>
        <p:nvSpPr>
          <p:cNvPr id="22" name="Text 19"/>
          <p:cNvSpPr/>
          <p:nvPr/>
        </p:nvSpPr>
        <p:spPr>
          <a:xfrm>
            <a:off x="4709160" y="3383280"/>
            <a:ext cx="3886200" cy="274320"/>
          </a:xfrm>
          <a:prstGeom prst="rect">
            <a:avLst/>
          </a:prstGeom>
          <a:noFill/>
          <a:ln/>
        </p:spPr>
        <p:txBody>
          <a:bodyPr wrap="square" lIns="0" tIns="0" rIns="0" bIns="0" rtlCol="0" anchor="ctr"/>
          <a:lstStyle/>
          <a:p>
            <a:pPr marL="0" indent="0" algn="l">
              <a:buNone/>
            </a:pPr>
            <a:r>
              <a:rPr lang="en-US" sz="1200" b="1" kern="0" spc="150" dirty="0">
                <a:solidFill>
                  <a:srgbClr val="22C55E"/>
                </a:solidFill>
                <a:latin typeface="Inter" pitchFamily="34" charset="0"/>
                <a:ea typeface="Inter" pitchFamily="34" charset="-122"/>
                <a:cs typeface="Inter" pitchFamily="34" charset="-120"/>
              </a:rPr>
              <a:t>RETURNED RESULT</a:t>
            </a:r>
            <a:endParaRPr lang="en-US" sz="12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4709160" y="3703320"/>
          <a:ext cx="3886200" cy="1066800"/>
        </p:xfrm>
        <a:graphic>
          <a:graphicData uri="http://schemas.openxmlformats.org/drawingml/2006/table">
            <a:tbl>
              <a:tblPr/>
              <a:tblGrid>
                <a:gridCol w="3886200">
                  <a:extLst>
                    <a:ext uri="{9D8B030D-6E8A-4147-A177-3AD203B41FA5}">
                      <a16:colId xmlns:a16="http://schemas.microsoft.com/office/drawing/2014/main" val="20000"/>
                    </a:ext>
                  </a:extLst>
                </a:gridCol>
              </a:tblGrid>
              <a:tr h="217170">
                <a:tc>
                  <a:txBody>
                    <a:bodyPr anchor="ctr"/>
                    <a:lstStyle/>
                    <a:p>
                      <a:pPr algn="ctr">
                        <a:lnSpc>
                          <a:spcPct val="100000"/>
                        </a:lnSpc>
                        <a:spcBef>
                          <a:spcPts val="0"/>
                        </a:spcBef>
                        <a:spcAft>
                          <a:spcPts val="0"/>
                        </a:spcAft>
                      </a:pPr>
                      <a:r>
                        <a:rPr sz="600" b="1">
                          <a:solidFill>
                            <a:srgbClr val="FFFFFF"/>
                          </a:solidFill>
                          <a:latin typeface="MiSans"/>
                        </a:rPr>
                        <a:t>product_name</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extLst>
                  <a:ext uri="{0D108BD9-81ED-4DB2-BD59-A6C34878D82A}">
                    <a16:rowId xmlns:a16="http://schemas.microsoft.com/office/drawing/2014/main" val="10000"/>
                  </a:ext>
                </a:extLst>
              </a:tr>
              <a:tr h="217170">
                <a:tc>
                  <a:txBody>
                    <a:bodyPr anchor="ctr"/>
                    <a:lstStyle/>
                    <a:p>
                      <a:pPr algn="ctr">
                        <a:lnSpc>
                          <a:spcPct val="100000"/>
                        </a:lnSpc>
                        <a:spcBef>
                          <a:spcPts val="0"/>
                        </a:spcBef>
                        <a:spcAft>
                          <a:spcPts val="0"/>
                        </a:spcAft>
                      </a:pPr>
                      <a:r>
                        <a:rPr sz="600" b="0">
                          <a:solidFill>
                            <a:srgbClr val="C9D4E5"/>
                          </a:solidFill>
                          <a:latin typeface="MiSans"/>
                        </a:rPr>
                        <a:t>Wireless Mouse</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1"/>
                  </a:ext>
                </a:extLst>
              </a:tr>
              <a:tr h="217170">
                <a:tc>
                  <a:txBody>
                    <a:bodyPr anchor="ctr"/>
                    <a:lstStyle/>
                    <a:p>
                      <a:pPr algn="ctr">
                        <a:lnSpc>
                          <a:spcPct val="100000"/>
                        </a:lnSpc>
                        <a:spcBef>
                          <a:spcPts val="0"/>
                        </a:spcBef>
                        <a:spcAft>
                          <a:spcPts val="0"/>
                        </a:spcAft>
                      </a:pPr>
                      <a:r>
                        <a:rPr sz="600" b="0">
                          <a:solidFill>
                            <a:srgbClr val="C9D4E5"/>
                          </a:solidFill>
                          <a:latin typeface="MiSans"/>
                        </a:rPr>
                        <a:t>USB Keyboard</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2"/>
                  </a:ext>
                </a:extLst>
              </a:tr>
              <a:tr h="217170">
                <a:tc>
                  <a:txBody>
                    <a:bodyPr anchor="ctr"/>
                    <a:lstStyle/>
                    <a:p>
                      <a:pPr algn="ctr">
                        <a:lnSpc>
                          <a:spcPct val="100000"/>
                        </a:lnSpc>
                        <a:spcBef>
                          <a:spcPts val="0"/>
                        </a:spcBef>
                        <a:spcAft>
                          <a:spcPts val="0"/>
                        </a:spcAft>
                      </a:pPr>
                      <a:r>
                        <a:rPr sz="600" b="0">
                          <a:solidFill>
                            <a:srgbClr val="C9D4E5"/>
                          </a:solidFill>
                          <a:latin typeface="MiSans"/>
                        </a:rPr>
                        <a:t>Office Chair</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3"/>
                  </a:ext>
                </a:extLst>
              </a:tr>
            </a:tbl>
          </a:graphicData>
        </a:graphic>
      </p:graphicFrame>
      <p:sp>
        <p:nvSpPr>
          <p:cNvPr id="25" name="Text 21"/>
          <p:cNvSpPr/>
          <p:nvPr/>
        </p:nvSpPr>
        <p:spPr>
          <a:xfrm>
            <a:off x="457200" y="4777740"/>
            <a:ext cx="45720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SQL MASTER  ·  SQL-R016: Constraints Revision</a:t>
            </a:r>
          </a:p>
        </p:txBody>
      </p:sp>
      <p:sp>
        <p:nvSpPr>
          <p:cNvPr id="26" name="Text 22"/>
          <p:cNvSpPr/>
          <p:nvPr/>
        </p:nvSpPr>
        <p:spPr>
          <a:xfrm>
            <a:off x="7772400" y="4777740"/>
            <a:ext cx="9144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03 / 06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526"/>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2400" b="1">
                <a:solidFill>
                  <a:srgbClr val="FFFFFF"/>
                </a:solidFill>
                <a:latin typeface="MiSans"/>
              </a:rPr>
              <a:t>Constraints Revision in Action</a:t>
            </a:r>
          </a:p>
        </p:txBody>
      </p:sp>
      <p:sp>
        <p:nvSpPr>
          <p:cNvPr id="3" name="Text 1"/>
          <p:cNvSpPr/>
          <p:nvPr/>
        </p:nvSpPr>
        <p:spPr>
          <a:xfrm>
            <a:off x="570230" y="1005840"/>
            <a:ext cx="3749040" cy="274320"/>
          </a:xfrm>
          <a:prstGeom prst="rect">
            <a:avLst/>
          </a:prstGeom>
          <a:noFill/>
          <a:ln/>
        </p:spPr>
        <p:txBody>
          <a:bodyPr wrap="square" lIns="0" tIns="0" rIns="0" bIns="0" rtlCol="0" anchor="ctr"/>
          <a:lstStyle/>
          <a:p>
            <a:pPr marL="0" indent="0" algn="l">
              <a:buNone/>
            </a:pPr>
            <a:r>
              <a:rPr lang="en-US" sz="1200" b="1" kern="0" spc="150" dirty="0">
                <a:solidFill>
                  <a:srgbClr val="3B82F6"/>
                </a:solidFill>
                <a:latin typeface="Inter" pitchFamily="34" charset="0"/>
                <a:ea typeface="Inter" pitchFamily="34" charset="-122"/>
                <a:cs typeface="Inter" pitchFamily="34" charset="-120"/>
              </a:rPr>
              <a:t>SYNTAX</a:t>
            </a:r>
            <a:endParaRPr lang="en-US" sz="1200" dirty="0"/>
          </a:p>
        </p:txBody>
      </p:sp>
      <p:sp>
        <p:nvSpPr>
          <p:cNvPr id="4" name="Shape 2"/>
          <p:cNvSpPr/>
          <p:nvPr/>
        </p:nvSpPr>
        <p:spPr>
          <a:xfrm>
            <a:off x="548640" y="1371600"/>
            <a:ext cx="3794760" cy="1005840"/>
          </a:xfrm>
          <a:prstGeom prst="roundRect">
            <a:avLst>
              <a:gd name="adj" fmla="val 8000"/>
            </a:avLst>
          </a:prstGeom>
          <a:solidFill>
            <a:srgbClr val="081B30"/>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5" name="Text 3"/>
          <p:cNvSpPr/>
          <p:nvPr/>
        </p:nvSpPr>
        <p:spPr>
          <a:xfrm>
            <a:off x="749808" y="1517904"/>
            <a:ext cx="3346704" cy="621792"/>
          </a:xfrm>
          <a:prstGeom prst="rect">
            <a:avLst/>
          </a:prstGeom>
          <a:noFill/>
          <a:ln/>
        </p:spPr>
        <p:txBody>
          <a:bodyPr wrap="square" lIns="109728" tIns="109728" rIns="109728" bIns="109728" rtlCol="0" anchor="t"/>
          <a:lstStyle/>
          <a:p>
            <a:pPr algn="l">
              <a:lnSpc>
                <a:spcPct val="100000"/>
              </a:lnSpc>
              <a:spcBef>
                <a:spcPts val="0"/>
              </a:spcBef>
              <a:spcAft>
                <a:spcPts val="0"/>
              </a:spcAft>
            </a:pPr>
            <a:r>
              <a:rPr sz="900">
                <a:solidFill>
                  <a:srgbClr val="2F80FF"/>
                </a:solidFill>
                <a:latin typeface="Consolas"/>
              </a:rPr>
              <a:t>SELECT</a:t>
            </a:r>
          </a:p>
          <a:p>
            <a:pPr algn="l">
              <a:lnSpc>
                <a:spcPct val="100000"/>
              </a:lnSpc>
              <a:spcBef>
                <a:spcPts val="0"/>
              </a:spcBef>
              <a:spcAft>
                <a:spcPts val="0"/>
              </a:spcAft>
            </a:pPr>
            <a:r>
              <a:rPr sz="900">
                <a:solidFill>
                  <a:srgbClr val="2F80FF"/>
                </a:solidFill>
                <a:latin typeface="Consolas"/>
              </a:rPr>
              <a:t>    column_name</a:t>
            </a:r>
          </a:p>
          <a:p>
            <a:pPr algn="l">
              <a:lnSpc>
                <a:spcPct val="100000"/>
              </a:lnSpc>
              <a:spcBef>
                <a:spcPts val="0"/>
              </a:spcBef>
              <a:spcAft>
                <a:spcPts val="0"/>
              </a:spcAft>
            </a:pPr>
            <a:r>
              <a:rPr sz="900">
                <a:solidFill>
                  <a:srgbClr val="2F80FF"/>
                </a:solidFill>
                <a:latin typeface="Consolas"/>
              </a:rPr>
              <a:t>FROM students</a:t>
            </a:r>
          </a:p>
          <a:p>
            <a:pPr algn="l">
              <a:lnSpc>
                <a:spcPct val="100000"/>
              </a:lnSpc>
              <a:spcBef>
                <a:spcPts val="0"/>
              </a:spcBef>
              <a:spcAft>
                <a:spcPts val="0"/>
              </a:spcAft>
            </a:pPr>
            <a:r>
              <a:rPr sz="900">
                <a:solidFill>
                  <a:srgbClr val="2F80FF"/>
                </a:solidFill>
                <a:latin typeface="Consolas"/>
              </a:rPr>
              <a:t>WHERE condition;</a:t>
            </a:r>
          </a:p>
        </p:txBody>
      </p:sp>
      <p:sp>
        <p:nvSpPr>
          <p:cNvPr id="6" name="Text 4"/>
          <p:cNvSpPr/>
          <p:nvPr/>
        </p:nvSpPr>
        <p:spPr>
          <a:xfrm>
            <a:off x="548640" y="2423160"/>
            <a:ext cx="3749040" cy="274320"/>
          </a:xfrm>
          <a:prstGeom prst="rect">
            <a:avLst/>
          </a:prstGeom>
          <a:noFill/>
          <a:ln/>
        </p:spPr>
        <p:txBody>
          <a:bodyPr wrap="square" lIns="0" tIns="0" rIns="0" bIns="0" rtlCol="0" anchor="ctr"/>
          <a:lstStyle/>
          <a:p>
            <a:pPr marL="0" indent="0" algn="l">
              <a:buNone/>
            </a:pPr>
            <a:r>
              <a:rPr lang="en-US" sz="1200" b="1" kern="0" spc="150" dirty="0">
                <a:solidFill>
                  <a:srgbClr val="FACC15"/>
                </a:solidFill>
                <a:latin typeface="Inter" pitchFamily="34" charset="0"/>
                <a:ea typeface="Inter" pitchFamily="34" charset="-122"/>
                <a:cs typeface="Inter" pitchFamily="34" charset="-120"/>
              </a:rPr>
              <a:t>BUSINESS SCENARIO</a:t>
            </a:r>
            <a:endParaRPr lang="en-US" sz="1200" dirty="0"/>
          </a:p>
        </p:txBody>
      </p:sp>
      <p:sp>
        <p:nvSpPr>
          <p:cNvPr id="7" name="Shape 5"/>
          <p:cNvSpPr/>
          <p:nvPr/>
        </p:nvSpPr>
        <p:spPr>
          <a:xfrm>
            <a:off x="548640" y="2743200"/>
            <a:ext cx="3749040" cy="1051560"/>
          </a:xfrm>
          <a:prstGeom prst="roundRect">
            <a:avLst>
              <a:gd name="adj" fmla="val 6957"/>
            </a:avLst>
          </a:prstGeom>
          <a:solidFill>
            <a:srgbClr val="1F1A0D"/>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8" name="Text 6"/>
          <p:cNvSpPr/>
          <p:nvPr/>
        </p:nvSpPr>
        <p:spPr>
          <a:xfrm>
            <a:off x="749808" y="2889504"/>
            <a:ext cx="3346704" cy="77724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600" b="0">
                <a:solidFill>
                  <a:srgbClr val="C9D4E5"/>
                </a:solidFill>
                <a:latin typeface="MiSans"/>
              </a:rPr>
              <a:t>Constraints revision</a:t>
            </a:r>
          </a:p>
        </p:txBody>
      </p:sp>
      <p:sp>
        <p:nvSpPr>
          <p:cNvPr id="9" name="Text 7"/>
          <p:cNvSpPr/>
          <p:nvPr/>
        </p:nvSpPr>
        <p:spPr>
          <a:xfrm>
            <a:off x="4709160" y="1005840"/>
            <a:ext cx="3886200" cy="274320"/>
          </a:xfrm>
          <a:prstGeom prst="rect">
            <a:avLst/>
          </a:prstGeom>
          <a:noFill/>
          <a:ln/>
        </p:spPr>
        <p:txBody>
          <a:bodyPr wrap="square" lIns="0" tIns="0" rIns="0" bIns="0" rtlCol="0" anchor="ctr"/>
          <a:lstStyle/>
          <a:p>
            <a:pPr marL="0" indent="0" algn="l">
              <a:buNone/>
            </a:pPr>
            <a:r>
              <a:rPr lang="en-US" sz="1200" b="1" kern="0" spc="150" dirty="0">
                <a:solidFill>
                  <a:srgbClr val="3B82F6"/>
                </a:solidFill>
                <a:latin typeface="Inter" pitchFamily="34" charset="0"/>
                <a:ea typeface="Inter" pitchFamily="34" charset="-122"/>
                <a:cs typeface="Inter" pitchFamily="34" charset="-120"/>
              </a:rPr>
              <a:t>EXAMPLE QUERY</a:t>
            </a:r>
            <a:endParaRPr lang="en-US" sz="1200" dirty="0"/>
          </a:p>
        </p:txBody>
      </p:sp>
      <p:sp>
        <p:nvSpPr>
          <p:cNvPr id="10" name="Shape 8"/>
          <p:cNvSpPr/>
          <p:nvPr/>
        </p:nvSpPr>
        <p:spPr>
          <a:xfrm>
            <a:off x="4709160" y="1303020"/>
            <a:ext cx="3977640" cy="1394460"/>
          </a:xfrm>
          <a:prstGeom prst="roundRect">
            <a:avLst>
              <a:gd name="adj" fmla="val 6154"/>
            </a:avLst>
          </a:prstGeom>
          <a:solidFill>
            <a:srgbClr val="081B30"/>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11" name="Text 9"/>
          <p:cNvSpPr/>
          <p:nvPr/>
        </p:nvSpPr>
        <p:spPr>
          <a:xfrm>
            <a:off x="4910328" y="1517904"/>
            <a:ext cx="3483864" cy="896112"/>
          </a:xfrm>
          <a:prstGeom prst="rect">
            <a:avLst/>
          </a:prstGeom>
          <a:noFill/>
          <a:ln/>
        </p:spPr>
        <p:txBody>
          <a:bodyPr wrap="square" lIns="109728" tIns="109728" rIns="109728" bIns="109728" rtlCol="0" anchor="t"/>
          <a:lstStyle/>
          <a:p>
            <a:pPr algn="l">
              <a:lnSpc>
                <a:spcPct val="100000"/>
              </a:lnSpc>
              <a:spcBef>
                <a:spcPts val="0"/>
              </a:spcBef>
              <a:spcAft>
                <a:spcPts val="0"/>
              </a:spcAft>
            </a:pPr>
          </a:p>
        </p:txBody>
      </p:sp>
      <p:sp>
        <p:nvSpPr>
          <p:cNvPr id="12" name="Text 10"/>
          <p:cNvSpPr/>
          <p:nvPr/>
        </p:nvSpPr>
        <p:spPr>
          <a:xfrm>
            <a:off x="4709160" y="2743200"/>
            <a:ext cx="3886200" cy="274320"/>
          </a:xfrm>
          <a:prstGeom prst="rect">
            <a:avLst/>
          </a:prstGeom>
          <a:noFill/>
          <a:ln/>
        </p:spPr>
        <p:txBody>
          <a:bodyPr wrap="square" lIns="0" tIns="0" rIns="0" bIns="0" rtlCol="0" anchor="ctr"/>
          <a:lstStyle/>
          <a:p>
            <a:pPr marL="0" indent="0" algn="l">
              <a:buNone/>
            </a:pPr>
            <a:r>
              <a:rPr lang="en-US" sz="1200" b="1" kern="0" spc="150" dirty="0">
                <a:solidFill>
                  <a:srgbClr val="22C55E"/>
                </a:solidFill>
                <a:latin typeface="Inter" pitchFamily="34" charset="0"/>
                <a:ea typeface="Inter" pitchFamily="34" charset="-122"/>
                <a:cs typeface="Inter" pitchFamily="34" charset="-120"/>
              </a:rPr>
              <a:t>EXPECTED RESULT</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709160" y="3063240"/>
          <a:ext cx="3886200" cy="1066800"/>
        </p:xfrm>
        <a:graphic>
          <a:graphicData uri="http://schemas.openxmlformats.org/drawingml/2006/table">
            <a:tbl>
              <a:tblPr/>
              <a:tblGrid>
                <a:gridCol w="105156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251460">
                <a:tc>
                  <a:txBody>
                    <a:bodyPr anchor="ctr"/>
                    <a:lstStyle/>
                    <a:p>
                      <a:pPr algn="ctr">
                        <a:lnSpc>
                          <a:spcPct val="100000"/>
                        </a:lnSpc>
                        <a:spcBef>
                          <a:spcPts val="0"/>
                        </a:spcBef>
                        <a:spcAft>
                          <a:spcPts val="0"/>
                        </a:spcAft>
                      </a:pPr>
                      <a:r>
                        <a:rPr sz="1100" b="1">
                          <a:solidFill>
                            <a:srgbClr val="FFFFFF"/>
                          </a:solidFill>
                          <a:latin typeface="MiSans"/>
                        </a:rPr>
                        <a:t>product_name</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extLst>
                  <a:ext uri="{0D108BD9-81ED-4DB2-BD59-A6C34878D82A}">
                    <a16:rowId xmlns:a16="http://schemas.microsoft.com/office/drawing/2014/main" val="10000"/>
                  </a:ext>
                </a:extLst>
              </a:tr>
              <a:tr h="251460">
                <a:tc>
                  <a:txBody>
                    <a:bodyPr anchor="ctr"/>
                    <a:lstStyle/>
                    <a:p>
                      <a:pPr algn="ctr">
                        <a:lnSpc>
                          <a:spcPct val="100000"/>
                        </a:lnSpc>
                        <a:spcBef>
                          <a:spcPts val="0"/>
                        </a:spcBef>
                        <a:spcAft>
                          <a:spcPts val="0"/>
                        </a:spcAft>
                      </a:pPr>
                      <a:r>
                        <a:rPr sz="1100" b="0">
                          <a:solidFill>
                            <a:srgbClr val="C9D4E5"/>
                          </a:solidFill>
                          <a:latin typeface="MiSans"/>
                        </a:rPr>
                        <a:t>Wireless Mouse</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1"/>
                  </a:ext>
                </a:extLst>
              </a:tr>
              <a:tr h="251460">
                <a:tc>
                  <a:txBody>
                    <a:bodyPr anchor="ctr"/>
                    <a:lstStyle/>
                    <a:p>
                      <a:pPr algn="ctr">
                        <a:lnSpc>
                          <a:spcPct val="100000"/>
                        </a:lnSpc>
                        <a:spcBef>
                          <a:spcPts val="0"/>
                        </a:spcBef>
                        <a:spcAft>
                          <a:spcPts val="0"/>
                        </a:spcAft>
                      </a:pPr>
                      <a:r>
                        <a:rPr sz="1100" b="0">
                          <a:solidFill>
                            <a:srgbClr val="C9D4E5"/>
                          </a:solidFill>
                          <a:latin typeface="MiSans"/>
                        </a:rPr>
                        <a:t>USB Keyboard</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2"/>
                  </a:ext>
                </a:extLst>
              </a:tr>
              <a:tr h="251460">
                <a:tc>
                  <a:txBody>
                    <a:bodyPr anchor="ctr"/>
                    <a:lstStyle/>
                    <a:p>
                      <a:pPr algn="ctr">
                        <a:lnSpc>
                          <a:spcPct val="100000"/>
                        </a:lnSpc>
                        <a:spcBef>
                          <a:spcPts val="0"/>
                        </a:spcBef>
                        <a:spcAft>
                          <a:spcPts val="0"/>
                        </a:spcAft>
                      </a:pPr>
                      <a:r>
                        <a:rPr sz="1100" b="0">
                          <a:solidFill>
                            <a:srgbClr val="C9D4E5"/>
                          </a:solidFill>
                          <a:latin typeface="MiSans"/>
                        </a:rPr>
                        <a:t>Office Chair</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3"/>
                  </a:ext>
                </a:extLst>
              </a:tr>
            </a:tbl>
          </a:graphicData>
        </a:graphic>
      </p:graphicFrame>
      <p:sp>
        <p:nvSpPr>
          <p:cNvPr id="22" name="Text 19"/>
          <p:cNvSpPr/>
          <p:nvPr/>
        </p:nvSpPr>
        <p:spPr>
          <a:xfrm>
            <a:off x="158750" y="4873244"/>
            <a:ext cx="45720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SQL MASTER  ·  SQL-R016: Constraints Revision</a:t>
            </a:r>
          </a:p>
        </p:txBody>
      </p:sp>
      <p:sp>
        <p:nvSpPr>
          <p:cNvPr id="23" name="Text 20"/>
          <p:cNvSpPr/>
          <p:nvPr/>
        </p:nvSpPr>
        <p:spPr>
          <a:xfrm>
            <a:off x="8020050" y="4859020"/>
            <a:ext cx="9144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04 / 06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52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046720" cy="502920"/>
          </a:xfrm>
          <a:prstGeom prst="rect">
            <a:avLst/>
          </a:prstGeom>
          <a:noFill/>
        </p:spPr>
        <p:txBody>
          <a:bodyPr wrap="none" lIns="0" tIns="0">
            <a:spAutoFit/>
          </a:bodyPr>
          <a:lstStyle/>
          <a:p>
            <a:pPr algn="l"/>
            <a:r>
              <a:rPr sz="2800" b="1">
                <a:solidFill>
                  <a:srgbClr val="FFFFFF"/>
                </a:solidFill>
                <a:latin typeface="MiSans"/>
              </a:rPr>
              <a:t>Common Mistakes &amp; Best Practices</a:t>
            </a:r>
          </a:p>
        </p:txBody>
      </p:sp>
      <p:sp>
        <p:nvSpPr>
          <p:cNvPr id="3" name="TextBox 2"/>
          <p:cNvSpPr txBox="1"/>
          <p:nvPr/>
        </p:nvSpPr>
        <p:spPr>
          <a:xfrm>
            <a:off x="548640" y="1005840"/>
            <a:ext cx="3749039" cy="3474720"/>
          </a:xfrm>
          <a:prstGeom prst="rect">
            <a:avLst/>
          </a:prstGeom>
          <a:noFill/>
        </p:spPr>
        <p:txBody>
          <a:bodyPr wrap="square" lIns="0" rIns="0" tIns="0" bIns="0">
            <a:spAutoFit/>
          </a:bodyPr>
          <a:lstStyle/>
          <a:p>
            <a:pPr>
              <a:spcBef>
                <a:spcPts val="0"/>
              </a:spcBef>
              <a:spcAft>
                <a:spcPts val="800"/>
              </a:spcAft>
            </a:pPr>
            <a:r>
              <a:rPr sz="1500" b="1">
                <a:solidFill>
                  <a:srgbClr val="FF5C5C"/>
                </a:solidFill>
                <a:latin typeface="MiSans"/>
              </a:rPr>
              <a:t>MISTAKES</a:t>
            </a:r>
          </a:p>
          <a:p>
            <a:pPr>
              <a:lnSpc>
                <a:spcPct val="115000"/>
              </a:lnSpc>
              <a:spcBef>
                <a:spcPts val="0"/>
              </a:spcBef>
              <a:spcAft>
                <a:spcPts val="800"/>
              </a:spcAft>
            </a:pPr>
            <a:r>
              <a:rPr sz="1100" b="0">
                <a:solidFill>
                  <a:srgbClr val="C9D4E5"/>
                </a:solidFill>
                <a:latin typeface="MiSans"/>
              </a:rPr>
              <a:t>•  Skipping practice challenges on revision slides.</a:t>
            </a:r>
          </a:p>
          <a:p>
            <a:pPr>
              <a:lnSpc>
                <a:spcPct val="115000"/>
              </a:lnSpc>
              <a:spcBef>
                <a:spcPts val="0"/>
              </a:spcBef>
              <a:spcAft>
                <a:spcPts val="800"/>
              </a:spcAft>
            </a:pPr>
            <a:r>
              <a:rPr sz="1100" b="0">
                <a:solidFill>
                  <a:srgbClr val="C9D4E5"/>
                </a:solidFill>
                <a:latin typeface="MiSans"/>
              </a:rPr>
              <a:t>•  Repeating basic syntax errors under revision checks.</a:t>
            </a:r>
          </a:p>
          <a:p>
            <a:pPr>
              <a:lnSpc>
                <a:spcPct val="115000"/>
              </a:lnSpc>
              <a:spcBef>
                <a:spcPts val="0"/>
              </a:spcBef>
              <a:spcAft>
                <a:spcPts val="2400"/>
              </a:spcAft>
            </a:pPr>
            <a:r>
              <a:rPr sz="1100" b="0">
                <a:solidFill>
                  <a:srgbClr val="C9D4E5"/>
                </a:solidFill>
                <a:latin typeface="MiSans"/>
              </a:rPr>
              <a:t>•  Forgetting edge cases like NULL or empty strings.</a:t>
            </a:r>
          </a:p>
          <a:p>
            <a:pPr>
              <a:spcBef>
                <a:spcPts val="0"/>
              </a:spcBef>
              <a:spcAft>
                <a:spcPts val="800"/>
              </a:spcAft>
            </a:pPr>
            <a:r>
              <a:rPr sz="1500" b="1">
                <a:solidFill>
                  <a:srgbClr val="FF5C5C"/>
                </a:solidFill>
                <a:latin typeface="MiSans"/>
              </a:rPr>
              <a:t>MESSY SQL</a:t>
            </a:r>
          </a:p>
          <a:p>
            <a:pPr>
              <a:lnSpc>
                <a:spcPct val="115000"/>
              </a:lnSpc>
              <a:spcBef>
                <a:spcPts val="0"/>
              </a:spcBef>
              <a:spcAft>
                <a:spcPts val="800"/>
              </a:spcAft>
            </a:pPr>
            <a:r>
              <a:rPr sz="1100" b="0">
                <a:solidFill>
                  <a:srgbClr val="C9D4E5"/>
                </a:solidFill>
                <a:latin typeface="MiSans"/>
              </a:rPr>
              <a:t>•  Writing unformatted answers for practice questions.</a:t>
            </a:r>
          </a:p>
          <a:p>
            <a:pPr>
              <a:lnSpc>
                <a:spcPct val="115000"/>
              </a:lnSpc>
              <a:spcBef>
                <a:spcPts val="0"/>
              </a:spcBef>
              <a:spcAft>
                <a:spcPts val="800"/>
              </a:spcAft>
            </a:pPr>
            <a:r>
              <a:rPr sz="1100" b="0">
                <a:solidFill>
                  <a:srgbClr val="C9D4E5"/>
                </a:solidFill>
                <a:latin typeface="MiSans"/>
              </a:rPr>
              <a:t>•  Ignoring warnings and query execution errors.</a:t>
            </a:r>
          </a:p>
          <a:p>
            <a:pPr>
              <a:lnSpc>
                <a:spcPct val="115000"/>
              </a:lnSpc>
              <a:spcBef>
                <a:spcPts val="0"/>
              </a:spcBef>
              <a:spcAft>
                <a:spcPts val="800"/>
              </a:spcAft>
            </a:pPr>
            <a:r>
              <a:rPr sz="1100" b="0">
                <a:solidFill>
                  <a:srgbClr val="C9D4E5"/>
                </a:solidFill>
                <a:latin typeface="MiSans"/>
              </a:rPr>
              <a:t>•  Mixing different style rules in revision answers.</a:t>
            </a:r>
          </a:p>
        </p:txBody>
      </p:sp>
      <p:sp>
        <p:nvSpPr>
          <p:cNvPr id="4" name="TextBox 3"/>
          <p:cNvSpPr txBox="1"/>
          <p:nvPr/>
        </p:nvSpPr>
        <p:spPr>
          <a:xfrm>
            <a:off x="4846320" y="1005840"/>
            <a:ext cx="3749039" cy="3474720"/>
          </a:xfrm>
          <a:prstGeom prst="rect">
            <a:avLst/>
          </a:prstGeom>
          <a:noFill/>
        </p:spPr>
        <p:txBody>
          <a:bodyPr wrap="square" lIns="0" rIns="0" tIns="0" bIns="0">
            <a:spAutoFit/>
          </a:bodyPr>
          <a:lstStyle/>
          <a:p>
            <a:pPr>
              <a:spcBef>
                <a:spcPts val="0"/>
              </a:spcBef>
              <a:spcAft>
                <a:spcPts val="800"/>
              </a:spcAft>
            </a:pPr>
            <a:r>
              <a:rPr sz="1500" b="1">
                <a:solidFill>
                  <a:srgbClr val="2ECC71"/>
                </a:solidFill>
                <a:latin typeface="MiSans"/>
              </a:rPr>
              <a:t>BEST PRACTICES</a:t>
            </a:r>
          </a:p>
          <a:p>
            <a:pPr>
              <a:lnSpc>
                <a:spcPct val="115000"/>
              </a:lnSpc>
              <a:spcBef>
                <a:spcPts val="0"/>
              </a:spcBef>
              <a:spcAft>
                <a:spcPts val="800"/>
              </a:spcAft>
            </a:pPr>
            <a:r>
              <a:rPr sz="1100" b="0">
                <a:solidFill>
                  <a:srgbClr val="C9D4E5"/>
                </a:solidFill>
                <a:latin typeface="MiSans"/>
              </a:rPr>
              <a:t>•  Cumulative practice builds long-term muscle memory.</a:t>
            </a:r>
          </a:p>
          <a:p>
            <a:pPr>
              <a:lnSpc>
                <a:spcPct val="115000"/>
              </a:lnSpc>
              <a:spcBef>
                <a:spcPts val="0"/>
              </a:spcBef>
              <a:spcAft>
                <a:spcPts val="800"/>
              </a:spcAft>
            </a:pPr>
            <a:r>
              <a:rPr sz="1100" b="0">
                <a:solidFill>
                  <a:srgbClr val="C9D4E5"/>
                </a:solidFill>
                <a:latin typeface="MiSans"/>
              </a:rPr>
              <a:t>•  Reinforce syntax rules through cumulative coding.</a:t>
            </a:r>
          </a:p>
          <a:p>
            <a:pPr>
              <a:lnSpc>
                <a:spcPct val="115000"/>
              </a:lnSpc>
              <a:spcBef>
                <a:spcPts val="0"/>
              </a:spcBef>
              <a:spcAft>
                <a:spcPts val="2400"/>
              </a:spcAft>
            </a:pPr>
            <a:r>
              <a:rPr sz="1100" b="0">
                <a:solidFill>
                  <a:srgbClr val="C9D4E5"/>
                </a:solidFill>
                <a:latin typeface="MiSans"/>
              </a:rPr>
              <a:t>•  Test queries against edge cases and empty database values.</a:t>
            </a:r>
          </a:p>
          <a:p>
            <a:pPr>
              <a:spcBef>
                <a:spcPts val="0"/>
              </a:spcBef>
              <a:spcAft>
                <a:spcPts val="800"/>
              </a:spcAft>
            </a:pPr>
            <a:r>
              <a:rPr sz="1500" b="1">
                <a:solidFill>
                  <a:srgbClr val="2ECC71"/>
                </a:solidFill>
                <a:latin typeface="MiSans"/>
              </a:rPr>
              <a:t>CLEAN SQL</a:t>
            </a:r>
          </a:p>
          <a:p>
            <a:pPr>
              <a:lnSpc>
                <a:spcPct val="115000"/>
              </a:lnSpc>
              <a:spcBef>
                <a:spcPts val="0"/>
              </a:spcBef>
              <a:spcAft>
                <a:spcPts val="800"/>
              </a:spcAft>
            </a:pPr>
            <a:r>
              <a:rPr sz="1100" b="0">
                <a:solidFill>
                  <a:srgbClr val="C9D4E5"/>
                </a:solidFill>
                <a:latin typeface="MiSans"/>
              </a:rPr>
              <a:t>•  Write structured answers with uppercase keywords.</a:t>
            </a:r>
          </a:p>
          <a:p>
            <a:pPr>
              <a:lnSpc>
                <a:spcPct val="115000"/>
              </a:lnSpc>
              <a:spcBef>
                <a:spcPts val="0"/>
              </a:spcBef>
              <a:spcAft>
                <a:spcPts val="800"/>
              </a:spcAft>
            </a:pPr>
            <a:r>
              <a:rPr sz="1100" b="0">
                <a:solidFill>
                  <a:srgbClr val="C9D4E5"/>
                </a:solidFill>
                <a:latin typeface="MiSans"/>
              </a:rPr>
              <a:t>•  Indent and format queries for revision review.</a:t>
            </a:r>
          </a:p>
          <a:p>
            <a:pPr>
              <a:lnSpc>
                <a:spcPct val="115000"/>
              </a:lnSpc>
              <a:spcBef>
                <a:spcPts val="0"/>
              </a:spcBef>
              <a:spcAft>
                <a:spcPts val="800"/>
              </a:spcAft>
            </a:pPr>
            <a:r>
              <a:rPr sz="1100" b="0">
                <a:solidFill>
                  <a:srgbClr val="C9D4E5"/>
                </a:solidFill>
                <a:latin typeface="MiSans"/>
              </a:rPr>
              <a:t>•  Document solution logic in query headers.</a:t>
            </a:r>
          </a:p>
        </p:txBody>
      </p:sp>
      <p:sp>
        <p:nvSpPr>
          <p:cNvPr id="5" name="TextBox 4"/>
          <p:cNvSpPr txBox="1"/>
          <p:nvPr/>
        </p:nvSpPr>
        <p:spPr>
          <a:xfrm>
            <a:off x="548640" y="4709160"/>
            <a:ext cx="5486400" cy="274320"/>
          </a:xfrm>
          <a:prstGeom prst="rect">
            <a:avLst/>
          </a:prstGeom>
          <a:noFill/>
        </p:spPr>
        <p:txBody>
          <a:bodyPr wrap="none" lIns="0" tIns="0">
            <a:spAutoFit/>
          </a:bodyPr>
          <a:lstStyle/>
          <a:p>
            <a:pPr algn="l"/>
            <a:r>
              <a:rPr sz="800">
                <a:solidFill>
                  <a:srgbClr val="8AA0BF"/>
                </a:solidFill>
                <a:latin typeface="MiSans"/>
              </a:rPr>
              <a:t>SQL MASTER  ·  SQL-R016: Constraints Revision</a:t>
            </a:r>
          </a:p>
        </p:txBody>
      </p:sp>
      <p:sp>
        <p:nvSpPr>
          <p:cNvPr id="6" name="TextBox 5"/>
          <p:cNvSpPr txBox="1"/>
          <p:nvPr/>
        </p:nvSpPr>
        <p:spPr>
          <a:xfrm>
            <a:off x="7772400" y="4709160"/>
            <a:ext cx="822960" cy="274320"/>
          </a:xfrm>
          <a:prstGeom prst="rect">
            <a:avLst/>
          </a:prstGeom>
          <a:noFill/>
        </p:spPr>
        <p:txBody>
          <a:bodyPr wrap="none" rIns="0" tIns="0">
            <a:spAutoFit/>
          </a:bodyPr>
          <a:lstStyle/>
          <a:p>
            <a:pPr algn="r"/>
            <a:r>
              <a:rPr sz="800">
                <a:solidFill>
                  <a:srgbClr val="8AA0BF"/>
                </a:solidFill>
                <a:latin typeface="MiSans"/>
              </a:rPr>
              <a:t>05 / 06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526"/>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2400" b="1">
                <a:solidFill>
                  <a:srgbClr val="FFFFFF"/>
                </a:solidFill>
                <a:latin typeface="MiSans"/>
              </a:rPr>
              <a:t>Key Takeaways &amp; Your Challenge</a:t>
            </a:r>
          </a:p>
        </p:txBody>
      </p:sp>
      <p:sp>
        <p:nvSpPr>
          <p:cNvPr id="3" name="Text 1"/>
          <p:cNvSpPr/>
          <p:nvPr/>
        </p:nvSpPr>
        <p:spPr>
          <a:xfrm>
            <a:off x="548640" y="1005840"/>
            <a:ext cx="3749040" cy="274320"/>
          </a:xfrm>
          <a:prstGeom prst="rect">
            <a:avLst/>
          </a:prstGeom>
          <a:noFill/>
          <a:ln/>
        </p:spPr>
        <p:txBody>
          <a:bodyPr wrap="square" lIns="0" tIns="0" rIns="0" bIns="0" rtlCol="0" anchor="ctr"/>
          <a:lstStyle/>
          <a:p>
            <a:pPr marL="0" indent="0" algn="l">
              <a:buNone/>
            </a:pPr>
            <a:r>
              <a:rPr lang="en-US" sz="1200" b="1" kern="0" spc="150" dirty="0">
                <a:solidFill>
                  <a:srgbClr val="3B82F6"/>
                </a:solidFill>
                <a:latin typeface="Inter" pitchFamily="34" charset="0"/>
                <a:ea typeface="Inter" pitchFamily="34" charset="-122"/>
                <a:cs typeface="Inter" pitchFamily="34" charset="-120"/>
              </a:rPr>
              <a:t>KEY TAKEAWAYS</a:t>
            </a:r>
            <a:endParaRPr lang="en-US" sz="1200" dirty="0"/>
          </a:p>
        </p:txBody>
      </p:sp>
      <p:sp>
        <p:nvSpPr>
          <p:cNvPr id="4" name="Shape 2"/>
          <p:cNvSpPr/>
          <p:nvPr/>
        </p:nvSpPr>
        <p:spPr>
          <a:xfrm>
            <a:off x="548640" y="1325880"/>
            <a:ext cx="3749040" cy="1874520"/>
          </a:xfrm>
          <a:prstGeom prst="roundRect">
            <a:avLst>
              <a:gd name="adj" fmla="val 3902"/>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5" name="Text 3"/>
          <p:cNvSpPr/>
          <p:nvPr/>
        </p:nvSpPr>
        <p:spPr>
          <a:xfrm>
            <a:off x="749808" y="1481328"/>
            <a:ext cx="256032" cy="365760"/>
          </a:xfrm>
          <a:prstGeom prst="rect">
            <a:avLst/>
          </a:prstGeom>
          <a:noFill/>
          <a:ln/>
        </p:spPr>
        <p:txBody>
          <a:bodyPr wrap="square" lIns="0" tIns="0" rIns="0" bIns="0" rtlCol="0" anchor="t"/>
          <a:lstStyle/>
          <a:p>
            <a:pPr marL="0" indent="0">
              <a:buNone/>
            </a:pPr>
            <a:r>
              <a:rPr lang="en-US" sz="1300" b="1" dirty="0">
                <a:solidFill>
                  <a:srgbClr val="22C55E"/>
                </a:solidFill>
                <a:latin typeface="Inter" pitchFamily="34" charset="0"/>
                <a:ea typeface="Inter" pitchFamily="34" charset="-122"/>
                <a:cs typeface="Inter" pitchFamily="34" charset="-120"/>
              </a:rPr>
              <a:t>✓</a:t>
            </a:r>
            <a:endParaRPr lang="en-US" sz="1300" dirty="0"/>
          </a:p>
        </p:txBody>
      </p:sp>
      <p:sp>
        <p:nvSpPr>
          <p:cNvPr id="6" name="Text 4"/>
          <p:cNvSpPr/>
          <p:nvPr/>
        </p:nvSpPr>
        <p:spPr>
          <a:xfrm>
            <a:off x="1024128" y="1481328"/>
            <a:ext cx="3108960" cy="384048"/>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300" b="0">
                <a:solidFill>
                  <a:srgbClr val="C9D4E5"/>
                </a:solidFill>
                <a:latin typeface="MiSans"/>
              </a:rPr>
              <a:t>Revision consolidates core syntax rules.</a:t>
            </a:r>
          </a:p>
        </p:txBody>
      </p:sp>
      <p:sp>
        <p:nvSpPr>
          <p:cNvPr id="7" name="Text 5"/>
          <p:cNvSpPr/>
          <p:nvPr/>
        </p:nvSpPr>
        <p:spPr>
          <a:xfrm>
            <a:off x="749808" y="1901952"/>
            <a:ext cx="256032" cy="365760"/>
          </a:xfrm>
          <a:prstGeom prst="rect">
            <a:avLst/>
          </a:prstGeom>
          <a:noFill/>
          <a:ln/>
        </p:spPr>
        <p:txBody>
          <a:bodyPr wrap="square" lIns="0" tIns="0" rIns="0" bIns="0" rtlCol="0" anchor="t"/>
          <a:lstStyle/>
          <a:p>
            <a:pPr marL="0" indent="0">
              <a:buNone/>
            </a:pPr>
            <a:r>
              <a:rPr lang="en-US" sz="1300" b="1" dirty="0">
                <a:solidFill>
                  <a:srgbClr val="22C55E"/>
                </a:solidFill>
                <a:latin typeface="Inter" pitchFamily="34" charset="0"/>
                <a:ea typeface="Inter" pitchFamily="34" charset="-122"/>
                <a:cs typeface="Inter" pitchFamily="34" charset="-120"/>
              </a:rPr>
              <a:t>✓</a:t>
            </a:r>
            <a:endParaRPr lang="en-US" sz="1300" dirty="0"/>
          </a:p>
        </p:txBody>
      </p:sp>
      <p:sp>
        <p:nvSpPr>
          <p:cNvPr id="8" name="Text 6"/>
          <p:cNvSpPr/>
          <p:nvPr/>
        </p:nvSpPr>
        <p:spPr>
          <a:xfrm>
            <a:off x="1024128" y="1901952"/>
            <a:ext cx="3108960" cy="384048"/>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300" b="0">
                <a:solidFill>
                  <a:srgbClr val="C9D4E5"/>
                </a:solidFill>
                <a:latin typeface="MiSans"/>
              </a:rPr>
              <a:t>Helps identify gaps in query logic.</a:t>
            </a:r>
          </a:p>
        </p:txBody>
      </p:sp>
      <p:sp>
        <p:nvSpPr>
          <p:cNvPr id="9" name="Text 7"/>
          <p:cNvSpPr/>
          <p:nvPr/>
        </p:nvSpPr>
        <p:spPr>
          <a:xfrm>
            <a:off x="749808" y="2322576"/>
            <a:ext cx="256032" cy="365760"/>
          </a:xfrm>
          <a:prstGeom prst="rect">
            <a:avLst/>
          </a:prstGeom>
          <a:noFill/>
          <a:ln/>
        </p:spPr>
        <p:txBody>
          <a:bodyPr wrap="square" lIns="0" tIns="0" rIns="0" bIns="0" rtlCol="0" anchor="t"/>
          <a:lstStyle/>
          <a:p>
            <a:pPr marL="0" indent="0">
              <a:buNone/>
            </a:pPr>
            <a:r>
              <a:rPr lang="en-US" sz="1300" b="1" dirty="0">
                <a:solidFill>
                  <a:srgbClr val="22C55E"/>
                </a:solidFill>
                <a:latin typeface="Inter" pitchFamily="34" charset="0"/>
                <a:ea typeface="Inter" pitchFamily="34" charset="-122"/>
                <a:cs typeface="Inter" pitchFamily="34" charset="-120"/>
              </a:rPr>
              <a:t>✓</a:t>
            </a:r>
            <a:endParaRPr lang="en-US" sz="1300" dirty="0"/>
          </a:p>
        </p:txBody>
      </p:sp>
      <p:sp>
        <p:nvSpPr>
          <p:cNvPr id="10" name="Text 8"/>
          <p:cNvSpPr/>
          <p:nvPr/>
        </p:nvSpPr>
        <p:spPr>
          <a:xfrm>
            <a:off x="1024128" y="2322576"/>
            <a:ext cx="3108960" cy="384048"/>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300" b="0">
                <a:solidFill>
                  <a:srgbClr val="C9D4E5"/>
                </a:solidFill>
                <a:latin typeface="MiSans"/>
              </a:rPr>
              <a:t>Improves problem-solving speed.</a:t>
            </a:r>
          </a:p>
        </p:txBody>
      </p:sp>
      <p:sp>
        <p:nvSpPr>
          <p:cNvPr id="11" name="Text 9"/>
          <p:cNvSpPr/>
          <p:nvPr/>
        </p:nvSpPr>
        <p:spPr>
          <a:xfrm>
            <a:off x="749808" y="2743200"/>
            <a:ext cx="256032" cy="365760"/>
          </a:xfrm>
          <a:prstGeom prst="rect">
            <a:avLst/>
          </a:prstGeom>
          <a:noFill/>
          <a:ln/>
        </p:spPr>
        <p:txBody>
          <a:bodyPr wrap="square" lIns="0" tIns="0" rIns="0" bIns="0" rtlCol="0" anchor="t"/>
          <a:lstStyle/>
          <a:p>
            <a:pPr marL="0" indent="0">
              <a:buNone/>
            </a:pPr>
            <a:r>
              <a:rPr lang="en-US" sz="1300" b="1" dirty="0">
                <a:solidFill>
                  <a:srgbClr val="22C55E"/>
                </a:solidFill>
                <a:latin typeface="Inter" pitchFamily="34" charset="0"/>
                <a:ea typeface="Inter" pitchFamily="34" charset="-122"/>
                <a:cs typeface="Inter" pitchFamily="34" charset="-120"/>
              </a:rPr>
              <a:t>✓</a:t>
            </a:r>
            <a:endParaRPr lang="en-US" sz="1300" dirty="0"/>
          </a:p>
        </p:txBody>
      </p:sp>
      <p:sp>
        <p:nvSpPr>
          <p:cNvPr id="12" name="Text 10"/>
          <p:cNvSpPr/>
          <p:nvPr/>
        </p:nvSpPr>
        <p:spPr>
          <a:xfrm>
            <a:off x="1024128" y="2743200"/>
            <a:ext cx="3108960" cy="384048"/>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300" b="0">
                <a:solidFill>
                  <a:srgbClr val="C9D4E5"/>
                </a:solidFill>
                <a:latin typeface="MiSans"/>
              </a:rPr>
              <a:t>Prepares for real-world projects.</a:t>
            </a:r>
          </a:p>
        </p:txBody>
      </p:sp>
      <p:sp>
        <p:nvSpPr>
          <p:cNvPr id="19" name="Text 17"/>
          <p:cNvSpPr/>
          <p:nvPr/>
        </p:nvSpPr>
        <p:spPr>
          <a:xfrm>
            <a:off x="4846320" y="1005840"/>
            <a:ext cx="3749040" cy="274320"/>
          </a:xfrm>
          <a:prstGeom prst="rect">
            <a:avLst/>
          </a:prstGeom>
          <a:noFill/>
          <a:ln/>
        </p:spPr>
        <p:txBody>
          <a:bodyPr wrap="square" lIns="0" tIns="0" rIns="0" bIns="0" rtlCol="0" anchor="ctr"/>
          <a:lstStyle/>
          <a:p>
            <a:pPr marL="0" indent="0" algn="l">
              <a:buNone/>
            </a:pPr>
            <a:r>
              <a:rPr lang="en-US" sz="1050" b="1" kern="0" spc="150" dirty="0">
                <a:solidFill>
                  <a:srgbClr val="3B82F6"/>
                </a:solidFill>
                <a:latin typeface="Inter" pitchFamily="34" charset="0"/>
                <a:ea typeface="Inter" pitchFamily="34" charset="-122"/>
                <a:cs typeface="Inter" pitchFamily="34" charset="-120"/>
              </a:rPr>
              <a:t>CONTINUE LEARNING</a:t>
            </a:r>
            <a:endParaRPr lang="en-US" sz="1200" dirty="0"/>
          </a:p>
        </p:txBody>
      </p:sp>
      <p:sp>
        <p:nvSpPr>
          <p:cNvPr id="21" name="Text 19"/>
          <p:cNvSpPr/>
          <p:nvPr/>
        </p:nvSpPr>
        <p:spPr>
          <a:xfrm>
            <a:off x="5102352" y="1325880"/>
            <a:ext cx="3291840" cy="274320"/>
          </a:xfrm>
          <a:prstGeom prst="rect">
            <a:avLst/>
          </a:prstGeom>
          <a:noFill/>
          <a:ln/>
        </p:spPr>
        <p:txBody>
          <a:bodyPr wrap="square" lIns="0" tIns="0" rIns="0" bIns="0" rtlCol="0" anchor="ctr"/>
          <a:lstStyle/>
          <a:p>
            <a:pPr marL="0" indent="0">
              <a:buNone/>
            </a:pPr>
            <a:r>
              <a:rPr lang="en-US" sz="1250" dirty="0">
                <a:solidFill>
                  <a:srgbClr val="D7DEE8"/>
                </a:solidFill>
                <a:latin typeface="Inter" pitchFamily="34" charset="0"/>
                <a:ea typeface="Inter" pitchFamily="34" charset="-122"/>
                <a:cs typeface="Inter" pitchFamily="34" charset="-120"/>
              </a:rPr>
              <a:t>Practice on DB Fiddle</a:t>
            </a:r>
            <a:endParaRPr lang="en-US" sz="1250" dirty="0"/>
          </a:p>
        </p:txBody>
      </p:sp>
      <p:sp>
        <p:nvSpPr>
          <p:cNvPr id="23" name="Text 21"/>
          <p:cNvSpPr/>
          <p:nvPr/>
        </p:nvSpPr>
        <p:spPr>
          <a:xfrm>
            <a:off x="5102352" y="1655064"/>
            <a:ext cx="3291840" cy="274320"/>
          </a:xfrm>
          <a:prstGeom prst="rect">
            <a:avLst/>
          </a:prstGeom>
          <a:noFill/>
          <a:ln/>
        </p:spPr>
        <p:txBody>
          <a:bodyPr wrap="square" lIns="0" tIns="0" rIns="0" bIns="0" rtlCol="0" anchor="ctr"/>
          <a:lstStyle/>
          <a:p>
            <a:pPr marL="0" indent="0">
              <a:buNone/>
            </a:pPr>
            <a:r>
              <a:rPr lang="en-US" sz="1250" dirty="0">
                <a:solidFill>
                  <a:srgbClr val="D7DEE8"/>
                </a:solidFill>
                <a:latin typeface="Inter" pitchFamily="34" charset="0"/>
                <a:ea typeface="Inter" pitchFamily="34" charset="-122"/>
                <a:cs typeface="Inter" pitchFamily="34" charset="-120"/>
              </a:rPr>
              <a:t>View Solution on GitHub</a:t>
            </a:r>
            <a:endParaRPr lang="en-US" sz="1250" dirty="0"/>
          </a:p>
        </p:txBody>
      </p:sp>
      <p:sp>
        <p:nvSpPr>
          <p:cNvPr id="26" name="Text 24"/>
          <p:cNvSpPr/>
          <p:nvPr/>
        </p:nvSpPr>
        <p:spPr>
          <a:xfrm>
            <a:off x="457200" y="4777740"/>
            <a:ext cx="45720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SQL MASTER  ·  SQL-R016: Constraints Revision</a:t>
            </a:r>
          </a:p>
        </p:txBody>
      </p:sp>
      <p:sp>
        <p:nvSpPr>
          <p:cNvPr id="27" name="Text 25"/>
          <p:cNvSpPr/>
          <p:nvPr/>
        </p:nvSpPr>
        <p:spPr>
          <a:xfrm>
            <a:off x="7772400" y="4777740"/>
            <a:ext cx="9144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06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1526"/>
        </a:solidFill>
        <a:effectLst/>
      </p:bgPr>
    </p:bg>
    <p:spTree>
      <p:nvGrpSpPr>
        <p:cNvPr id="1" name=""/>
        <p:cNvGrpSpPr/>
        <p:nvPr/>
      </p:nvGrpSpPr>
      <p:grpSpPr/>
      <p:sp>
        <p:nvSpPr>
          <p:cNvPr id="2" name="TextBox 1"/>
          <p:cNvSpPr txBox="1"/>
          <p:nvPr/>
        </p:nvSpPr>
        <p:spPr>
          <a:xfrm>
            <a:off x="548640" y="292608"/>
            <a:ext cx="8046720" cy="502920"/>
          </a:xfrm>
          <a:prstGeom prst="rect">
            <a:avLst/>
          </a:prstGeom>
          <a:noFill/>
        </p:spPr>
        <p:txBody>
          <a:bodyPr wrap="none" lIns="0" tIns="0">
            <a:spAutoFit/>
          </a:bodyPr>
          <a:lstStyle/>
          <a:p>
            <a:r>
              <a:rPr sz="2800" b="1">
                <a:solidFill>
                  <a:srgbClr val="FFFFFF"/>
                </a:solidFill>
                <a:latin typeface="MiSans"/>
              </a:rPr>
              <a:t>PRACTICE CHALLENGE</a:t>
            </a:r>
          </a:p>
        </p:txBody>
      </p:sp>
      <p:sp>
        <p:nvSpPr>
          <p:cNvPr id="3" name="TextBox 2"/>
          <p:cNvSpPr txBox="1"/>
          <p:nvPr/>
        </p:nvSpPr>
        <p:spPr>
          <a:xfrm>
            <a:off x="548640" y="795528"/>
            <a:ext cx="8046720" cy="320040"/>
          </a:xfrm>
          <a:prstGeom prst="rect">
            <a:avLst/>
          </a:prstGeom>
          <a:noFill/>
        </p:spPr>
        <p:txBody>
          <a:bodyPr wrap="none" lIns="0" tIns="0">
            <a:spAutoFit/>
          </a:bodyPr>
          <a:lstStyle/>
          <a:p>
            <a:r>
              <a:rPr sz="1400">
                <a:solidFill>
                  <a:srgbClr val="C9D4E5"/>
                </a:solidFill>
                <a:latin typeface="MiSans"/>
              </a:rPr>
              <a:t>Test your understanding by solving the following questions before viewing the solution.</a:t>
            </a:r>
          </a:p>
        </p:txBody>
      </p:sp>
      <p:sp>
        <p:nvSpPr>
          <p:cNvPr id="4" name="TextBox 3"/>
          <p:cNvSpPr txBox="1"/>
          <p:nvPr/>
        </p:nvSpPr>
        <p:spPr>
          <a:xfrm>
            <a:off x="548640" y="1234440"/>
            <a:ext cx="8046720" cy="2926080"/>
          </a:xfrm>
          <a:prstGeom prst="rect">
            <a:avLst/>
          </a:prstGeom>
          <a:noFill/>
        </p:spPr>
        <p:txBody>
          <a:bodyPr wrap="square" lIns="0" rIns="0" tIns="0" bIns="0">
            <a:spAutoFit/>
          </a:bodyPr>
          <a:lstStyle/>
          <a:p>
            <a:pPr>
              <a:spcBef>
                <a:spcPts val="0"/>
              </a:spcBef>
              <a:spcAft>
                <a:spcPts val="400"/>
              </a:spcAft>
            </a:pPr>
            <a:r>
              <a:rPr sz="1400" b="1">
                <a:solidFill>
                  <a:srgbClr val="FFFFFF"/>
                </a:solidFill>
                <a:latin typeface="MiSans"/>
              </a:rPr>
              <a:t>Question 1</a:t>
            </a:r>
          </a:p>
          <a:p>
            <a:pPr>
              <a:lnSpc>
                <a:spcPct val="120000"/>
              </a:lnSpc>
              <a:spcBef>
                <a:spcPts val="0"/>
              </a:spcBef>
              <a:spcAft>
                <a:spcPts val="1000"/>
              </a:spcAft>
            </a:pPr>
            <a:r>
              <a:rPr sz="1100">
                <a:solidFill>
                  <a:srgbClr val="C9D4E5"/>
                </a:solidFill>
                <a:latin typeface="MiSans"/>
              </a:rPr>
              <a:t>Write six constraint verification queries:
(A) PK uniqueness check (students).
(B) FK integrity check (enrollments vs students).
(C) UNIQUE check (email duplicates).
(D) CHECK violation check (gpa out of range).
(E) NOT NULL violations.
(F) DEFAULT values verification.</a:t>
            </a:r>
          </a:p>
          <a:p>
            <a:pPr>
              <a:spcBef>
                <a:spcPts val="1200"/>
              </a:spcBef>
              <a:spcAft>
                <a:spcPts val="400"/>
              </a:spcAft>
            </a:pPr>
            <a:r>
              <a:rPr sz="1400" b="1">
                <a:solidFill>
                  <a:srgbClr val="FFFFFF"/>
                </a:solidFill>
                <a:latin typeface="MiSans"/>
              </a:rPr>
              <a:t>Question 2</a:t>
            </a:r>
          </a:p>
          <a:p>
            <a:pPr>
              <a:lnSpc>
                <a:spcPct val="120000"/>
              </a:lnSpc>
              <a:spcBef>
                <a:spcPts val="0"/>
              </a:spcBef>
              <a:spcAft>
                <a:spcPts val="1000"/>
              </a:spcAft>
            </a:pPr>
            <a:r>
              <a:rPr sz="1100">
                <a:solidFill>
                  <a:srgbClr val="C9D4E5"/>
                </a:solidFill>
                <a:latin typeface="MiSans"/>
              </a:rPr>
              <a:t>Write a complete constraint audit: for each table, write a query to verify all constraints are satisfied. Return 0 rows = all data is valid.</a:t>
            </a:r>
          </a:p>
          <a:p>
            <a:pPr>
              <a:spcBef>
                <a:spcPts val="1200"/>
              </a:spcBef>
              <a:spcAft>
                <a:spcPts val="400"/>
              </a:spcAft>
            </a:pPr>
            <a:r>
              <a:rPr sz="1400" b="1">
                <a:solidFill>
                  <a:srgbClr val="FFFFFF"/>
                </a:solidFill>
                <a:latin typeface="MiSans"/>
              </a:rPr>
              <a:t>Question 3</a:t>
            </a:r>
          </a:p>
          <a:p>
            <a:pPr>
              <a:lnSpc>
                <a:spcPct val="120000"/>
              </a:lnSpc>
              <a:spcBef>
                <a:spcPts val="0"/>
              </a:spcBef>
              <a:spcAft>
                <a:spcPts val="1000"/>
              </a:spcAft>
            </a:pPr>
            <a:r>
              <a:rPr sz="1100">
                <a:solidFill>
                  <a:srgbClr val="C9D4E5"/>
                </a:solidFill>
                <a:latin typeface="MiSans"/>
              </a:rPr>
              <a:t>Before a database migration, run a full data validation:
(A) No duplicate student emails.
(B) All enrollments have valid students and courses.
(C) All GPA values are 0-4.
(D) All statuses are in valid values.
Write all four verification queries.</a:t>
            </a:r>
          </a:p>
          <a:p>
            <a:pPr>
              <a:spcBef>
                <a:spcPts val="1200"/>
              </a:spcBef>
              <a:spcAft>
                <a:spcPts val="400"/>
              </a:spcAft>
            </a:pPr>
            <a:r>
              <a:rPr sz="1400" b="1">
                <a:solidFill>
                  <a:srgbClr val="FFFFFF"/>
                </a:solidFill>
                <a:latin typeface="MiSans"/>
              </a:rPr>
              <a:t>Question 4</a:t>
            </a:r>
          </a:p>
          <a:p>
            <a:pPr>
              <a:lnSpc>
                <a:spcPct val="120000"/>
              </a:lnSpc>
              <a:spcBef>
                <a:spcPts val="0"/>
              </a:spcBef>
              <a:spcAft>
                <a:spcPts val="1000"/>
              </a:spcAft>
            </a:pPr>
            <a:r>
              <a:rPr sz="1100">
                <a:solidFill>
                  <a:srgbClr val="C9D4E5"/>
                </a:solidFill>
                <a:latin typeface="MiSans"/>
              </a:rPr>
              <a:t>Design a new table for attendance tracking with all constraint types:
PRIMARY KEY (AUTO_INCREMENT), FOREIGN KEY to students (CASCADE), UNIQUE on (student_id, lecture_date), CHECK (attendance_status IN values), DEFAULT for status, NOT NULL for date.
Write the complete </a:t>
            </a:r>
            <a:r>
              <a:rPr sz="900">
                <a:solidFill>
                  <a:srgbClr val="C9D4E5"/>
                </a:solidFill>
                <a:latin typeface="Consolas"/>
              </a:rPr>
              <a:t>CREATE TABLE statement</a:t>
            </a:r>
            <a:r>
              <a:rPr sz="1100">
                <a:solidFill>
                  <a:srgbClr val="C9D4E5"/>
                </a:solidFill>
                <a:latin typeface="MiSans"/>
              </a:rPr>
              <a:t>.</a:t>
            </a:r>
          </a:p>
        </p:txBody>
      </p:sp>
      <p:sp>
        <p:nvSpPr>
          <p:cNvPr id="5" name="TextBox 4"/>
          <p:cNvSpPr txBox="1"/>
          <p:nvPr/>
        </p:nvSpPr>
        <p:spPr>
          <a:xfrm>
            <a:off x="548640" y="4709160"/>
            <a:ext cx="5486400" cy="274320"/>
          </a:xfrm>
          <a:prstGeom prst="rect">
            <a:avLst/>
          </a:prstGeom>
          <a:noFill/>
        </p:spPr>
        <p:txBody>
          <a:bodyPr wrap="none" lIns="0" tIns="0">
            <a:spAutoFit/>
          </a:bodyPr>
          <a:lstStyle/>
          <a:p>
            <a:r>
              <a:rPr sz="800">
                <a:solidFill>
                  <a:srgbClr val="8AA0BF"/>
                </a:solidFill>
                <a:latin typeface="MiSans"/>
              </a:rPr>
              <a:t>SQL MASTER  ·  SQL-R016: Constraints Revision</a:t>
            </a:r>
          </a:p>
        </p:txBody>
      </p:sp>
      <p:sp>
        <p:nvSpPr>
          <p:cNvPr id="6" name="TextBox 5"/>
          <p:cNvSpPr txBox="1"/>
          <p:nvPr/>
        </p:nvSpPr>
        <p:spPr>
          <a:xfrm>
            <a:off x="7772400" y="4709160"/>
            <a:ext cx="822960" cy="274320"/>
          </a:xfrm>
          <a:prstGeom prst="rect">
            <a:avLst/>
          </a:prstGeom>
          <a:noFill/>
        </p:spPr>
        <p:txBody>
          <a:bodyPr wrap="none" rIns="0" tIns="0">
            <a:spAutoFit/>
          </a:bodyPr>
          <a:lstStyle/>
          <a:p>
            <a:pPr algn="r"/>
            <a:r>
              <a:rPr sz="800">
                <a:solidFill>
                  <a:srgbClr val="8AA0BF"/>
                </a:solidFill>
                <a:latin typeface="MiSans"/>
              </a:rPr>
              <a:t>07 / 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579</Words>
  <Application>Microsoft Office PowerPoint</Application>
  <PresentationFormat>On-screen Show (16:9)</PresentationFormat>
  <Paragraphs>186</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Inter</vt:lpstr>
      <vt:lpstr>JetBrains Mono</vt:lpstr>
      <vt:lpstr>MiSans SemiBold</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SQL-002 — WHERE</dc:title>
  <dc:subject>PptxGenJS Presentation</dc:subject>
  <dc:creator>SQL Master</dc:creator>
  <cp:lastModifiedBy>Zuboraj</cp:lastModifiedBy>
  <cp:revision>4</cp:revision>
  <dcterms:created xsi:type="dcterms:W3CDTF">2026-07-08T08:16:46Z</dcterms:created>
  <dcterms:modified xsi:type="dcterms:W3CDTF">2026-07-08T09:47:15Z</dcterms:modified>
</cp:coreProperties>
</file>