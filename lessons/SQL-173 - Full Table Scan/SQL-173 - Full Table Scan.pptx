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1" d="100"/>
          <a:sy n="151" d="100"/>
        </p:scale>
        <p:origin x="47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13508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371600" cy="365760"/>
          </a:xfrm>
          <a:prstGeom prst="roundRect">
            <a:avLst>
              <a:gd name="adj" fmla="val 50000"/>
            </a:avLst>
          </a:prstGeom>
          <a:solidFill>
            <a:srgbClr val="0F2540"/>
          </a:solidFill>
          <a:ln w="12700">
            <a:solidFill>
              <a:srgbClr val="3B82F6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548640" y="457200"/>
            <a:ext cx="1371600" cy="3657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8AA0BF"/>
                </a:solidFill>
                <a:latin typeface="MiSans"/>
              </a:rPr>
              <a:t>SQL-173</a:t>
            </a:r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5669280" cy="9144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FFFFFF"/>
                </a:solidFill>
                <a:latin typeface="MiSans"/>
              </a:rPr>
              <a:t>Full Table Scan</a:t>
            </a:r>
          </a:p>
        </p:txBody>
      </p:sp>
      <p:sp>
        <p:nvSpPr>
          <p:cNvPr id="5" name="Text 3"/>
          <p:cNvSpPr/>
          <p:nvPr/>
        </p:nvSpPr>
        <p:spPr>
          <a:xfrm>
            <a:off x="548640" y="1691640"/>
            <a:ext cx="548640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000" b="0">
                <a:solidFill>
                  <a:srgbClr val="C9D4E5"/>
                </a:solidFill>
                <a:latin typeface="MiSans"/>
              </a:rPr>
              <a:t>Master the Full Table Scan concept in SQL database queries.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148840"/>
            <a:ext cx="5120640" cy="8229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Full Table Scan is a key SQL feature used to filter, transform, or organize database tables.</a:t>
            </a:r>
          </a:p>
        </p:txBody>
      </p:sp>
      <p:sp>
        <p:nvSpPr>
          <p:cNvPr id="7" name="Text 5"/>
          <p:cNvSpPr/>
          <p:nvPr/>
        </p:nvSpPr>
        <p:spPr>
          <a:xfrm>
            <a:off x="548640" y="3246120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68680" y="3246120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Practical Business Examples</a:t>
            </a:r>
          </a:p>
        </p:txBody>
      </p:sp>
      <p:sp>
        <p:nvSpPr>
          <p:cNvPr id="9" name="Text 7"/>
          <p:cNvSpPr/>
          <p:nvPr/>
        </p:nvSpPr>
        <p:spPr>
          <a:xfrm>
            <a:off x="548640" y="3630168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630168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Real SQL Practice</a:t>
            </a:r>
          </a:p>
        </p:txBody>
      </p:sp>
      <p:sp>
        <p:nvSpPr>
          <p:cNvPr id="11" name="Text 9"/>
          <p:cNvSpPr/>
          <p:nvPr/>
        </p:nvSpPr>
        <p:spPr>
          <a:xfrm>
            <a:off x="548640" y="4014216"/>
            <a:ext cx="274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4014216"/>
            <a:ext cx="43891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C9D4E5"/>
                </a:solidFill>
                <a:latin typeface="MiSans"/>
              </a:rPr>
              <a:t>Beginner Friendly</a:t>
            </a:r>
          </a:p>
        </p:txBody>
      </p:sp>
      <p:sp>
        <p:nvSpPr>
          <p:cNvPr id="13" name="Shape 11"/>
          <p:cNvSpPr/>
          <p:nvPr/>
        </p:nvSpPr>
        <p:spPr>
          <a:xfrm>
            <a:off x="5989320" y="502920"/>
            <a:ext cx="2651760" cy="1691640"/>
          </a:xfrm>
          <a:prstGeom prst="roundRect">
            <a:avLst>
              <a:gd name="adj" fmla="val 432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190488" y="649224"/>
            <a:ext cx="2249424" cy="139903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2000;</a:t>
            </a:r>
          </a:p>
        </p:txBody>
      </p:sp>
      <p:sp>
        <p:nvSpPr>
          <p:cNvPr id="15" name="Shape 13"/>
          <p:cNvSpPr/>
          <p:nvPr/>
        </p:nvSpPr>
        <p:spPr>
          <a:xfrm>
            <a:off x="5989320" y="2395728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5989320" y="2395728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7" name="Text 15"/>
          <p:cNvSpPr/>
          <p:nvPr/>
        </p:nvSpPr>
        <p:spPr>
          <a:xfrm>
            <a:off x="5989320" y="28346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5989320" y="2980944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5989320" y="2980944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orders Table</a:t>
            </a:r>
          </a:p>
        </p:txBody>
      </p:sp>
      <p:sp>
        <p:nvSpPr>
          <p:cNvPr id="20" name="Text 18"/>
          <p:cNvSpPr/>
          <p:nvPr/>
        </p:nvSpPr>
        <p:spPr>
          <a:xfrm>
            <a:off x="5989320" y="341985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89320" y="3566160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5989320" y="3566160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SELECT</a:t>
            </a:r>
          </a:p>
        </p:txBody>
      </p:sp>
      <p:sp>
        <p:nvSpPr>
          <p:cNvPr id="23" name="Text 21"/>
          <p:cNvSpPr/>
          <p:nvPr/>
        </p:nvSpPr>
        <p:spPr>
          <a:xfrm>
            <a:off x="5989320" y="4005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↓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5989320" y="4151376"/>
            <a:ext cx="2651760" cy="457200"/>
          </a:xfrm>
          <a:prstGeom prst="roundRect">
            <a:avLst>
              <a:gd name="adj" fmla="val 12000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5989320" y="4151376"/>
            <a:ext cx="2651760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01 / 06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59436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What is Full Table Scan?</a:t>
            </a:r>
          </a:p>
        </p:txBody>
      </p:sp>
      <p:sp>
        <p:nvSpPr>
          <p:cNvPr id="3" name="Shape 1"/>
          <p:cNvSpPr/>
          <p:nvPr/>
        </p:nvSpPr>
        <p:spPr>
          <a:xfrm>
            <a:off x="54864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74980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WHAT</a:t>
            </a:r>
          </a:p>
        </p:txBody>
      </p:sp>
      <p:sp>
        <p:nvSpPr>
          <p:cNvPr id="5" name="Text 3"/>
          <p:cNvSpPr/>
          <p:nvPr/>
        </p:nvSpPr>
        <p:spPr>
          <a:xfrm>
            <a:off x="74980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Full Table Scan is a key SQL feature used to filter, transform, or organize database tables.</a:t>
            </a:r>
          </a:p>
        </p:txBody>
      </p:sp>
      <p:sp>
        <p:nvSpPr>
          <p:cNvPr id="6" name="Shape 4"/>
          <p:cNvSpPr/>
          <p:nvPr/>
        </p:nvSpPr>
        <p:spPr>
          <a:xfrm>
            <a:off x="338328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358444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WHY</a:t>
            </a:r>
          </a:p>
        </p:txBody>
      </p:sp>
      <p:sp>
        <p:nvSpPr>
          <p:cNvPr id="8" name="Text 6"/>
          <p:cNvSpPr/>
          <p:nvPr/>
        </p:nvSpPr>
        <p:spPr>
          <a:xfrm>
            <a:off x="358444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Understanding Full Table Scan helps you build robust data models and optimize search queries.</a:t>
            </a:r>
          </a:p>
        </p:txBody>
      </p:sp>
      <p:sp>
        <p:nvSpPr>
          <p:cNvPr id="9" name="Shape 7"/>
          <p:cNvSpPr/>
          <p:nvPr/>
        </p:nvSpPr>
        <p:spPr>
          <a:xfrm>
            <a:off x="6217920" y="11430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419088" y="1307592"/>
            <a:ext cx="2203704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MiSans"/>
              </a:rPr>
              <a:t>WHEN</a:t>
            </a:r>
          </a:p>
        </p:txBody>
      </p:sp>
      <p:sp>
        <p:nvSpPr>
          <p:cNvPr id="11" name="Text 9"/>
          <p:cNvSpPr/>
          <p:nvPr/>
        </p:nvSpPr>
        <p:spPr>
          <a:xfrm>
            <a:off x="6419088" y="1645920"/>
            <a:ext cx="2203704" cy="7315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C9D4E5"/>
                </a:solidFill>
                <a:latin typeface="MiSans"/>
              </a:rPr>
              <a:t>Use Full Table Scan when querying datasets that require Full Table Scan operations.</a:t>
            </a:r>
          </a:p>
        </p:txBody>
      </p:sp>
      <p:sp>
        <p:nvSpPr>
          <p:cNvPr id="12" name="Text 10"/>
          <p:cNvSpPr/>
          <p:nvPr/>
        </p:nvSpPr>
        <p:spPr>
          <a:xfrm>
            <a:off x="548640" y="28803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74980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Database</a:t>
            </a:r>
          </a:p>
        </p:txBody>
      </p:sp>
      <p:sp>
        <p:nvSpPr>
          <p:cNvPr id="15" name="Text 13"/>
          <p:cNvSpPr/>
          <p:nvPr/>
        </p:nvSpPr>
        <p:spPr>
          <a:xfrm>
            <a:off x="74980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Full source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338328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58444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Full Table Scan</a:t>
            </a:r>
          </a:p>
        </p:txBody>
      </p:sp>
      <p:sp>
        <p:nvSpPr>
          <p:cNvPr id="18" name="Text 16"/>
          <p:cNvSpPr/>
          <p:nvPr/>
        </p:nvSpPr>
        <p:spPr>
          <a:xfrm>
            <a:off x="358444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Apply criteria</a:t>
            </a:r>
          </a:p>
        </p:txBody>
      </p:sp>
      <p:sp>
        <p:nvSpPr>
          <p:cNvPr id="19" name="Shape 17"/>
          <p:cNvSpPr/>
          <p:nvPr/>
        </p:nvSpPr>
        <p:spPr>
          <a:xfrm>
            <a:off x="6217920" y="3246120"/>
            <a:ext cx="2606040" cy="1188720"/>
          </a:xfrm>
          <a:prstGeom prst="roundRect">
            <a:avLst>
              <a:gd name="adj" fmla="val 6154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6419088" y="3410712"/>
            <a:ext cx="2203704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FFFFFF"/>
                </a:solidFill>
                <a:latin typeface="MiSans"/>
              </a:rPr>
              <a:t>Returned Result</a:t>
            </a:r>
          </a:p>
        </p:txBody>
      </p:sp>
      <p:sp>
        <p:nvSpPr>
          <p:cNvPr id="21" name="Text 19"/>
          <p:cNvSpPr/>
          <p:nvPr/>
        </p:nvSpPr>
        <p:spPr>
          <a:xfrm>
            <a:off x="6419088" y="3794760"/>
            <a:ext cx="2203704" cy="45720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Only requested rows</a:t>
            </a:r>
          </a:p>
        </p:txBody>
      </p:sp>
      <p:sp>
        <p:nvSpPr>
          <p:cNvPr id="22" name="Text 20"/>
          <p:cNvSpPr/>
          <p:nvPr/>
        </p:nvSpPr>
        <p:spPr>
          <a:xfrm>
            <a:off x="544830" y="4457700"/>
            <a:ext cx="8046720" cy="3200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>
                <a:solidFill>
                  <a:srgbClr val="FFC83D"/>
                </a:solidFill>
                <a:latin typeface="MiSans"/>
              </a:rPr>
              <a:t>TIP:  Always verify performance of Full Table Scan on large tables.</a:t>
            </a:r>
          </a:p>
        </p:txBody>
      </p:sp>
      <p:sp>
        <p:nvSpPr>
          <p:cNvPr id="23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24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02 / 06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How Does Full Table Scan Work?</a:t>
            </a:r>
          </a:p>
        </p:txBody>
      </p:sp>
      <p:sp>
        <p:nvSpPr>
          <p:cNvPr id="3" name="Shape 1"/>
          <p:cNvSpPr/>
          <p:nvPr/>
        </p:nvSpPr>
        <p:spPr>
          <a:xfrm>
            <a:off x="649224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922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2130552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40280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40280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Products Table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721608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83133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95344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Evaluate Condition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312664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477256" y="96012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540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422392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Matching Rows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903720" y="960120"/>
            <a:ext cx="128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→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141464" y="948690"/>
            <a:ext cx="1481328" cy="548640"/>
          </a:xfrm>
          <a:prstGeom prst="roundRect">
            <a:avLst>
              <a:gd name="adj" fmla="val 13333"/>
            </a:avLst>
          </a:prstGeom>
          <a:solidFill>
            <a:srgbClr val="0F2E1E"/>
          </a:solidFill>
          <a:ln w="12700">
            <a:solidFill>
              <a:srgbClr val="21314A"/>
            </a:solidFill>
            <a:prstDash val="solid"/>
          </a:ln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7013448" y="960120"/>
            <a:ext cx="14813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 Result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48640" y="17830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DATABASE PREVIEW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3931920" cy="1828800"/>
        </p:xfrm>
        <a:graphic>
          <a:graphicData uri="http://schemas.openxmlformats.org/drawingml/2006/table">
            <a:tbl>
              <a:tblPr/>
              <a:tblGrid>
                <a:gridCol w="502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8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72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customer_id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order_date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1">
                          <a:solidFill>
                            <a:srgbClr val="FFFFFF"/>
                          </a:solidFill>
                          <a:latin typeface="MiSans"/>
                        </a:rPr>
                        <a:t>status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2024-01-05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2024-01-10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Completed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1003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2024-02-01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Shipped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800" b="0">
                          <a:solidFill>
                            <a:srgbClr val="C9D4E5"/>
                          </a:solidFill>
                          <a:latin typeface="MiSans"/>
                        </a:rPr>
                        <a:t>…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9" name="Text 16"/>
          <p:cNvSpPr/>
          <p:nvPr/>
        </p:nvSpPr>
        <p:spPr>
          <a:xfrm>
            <a:off x="4709160" y="17830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SQL QUERY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4709160" y="2103120"/>
            <a:ext cx="3886200" cy="1143000"/>
          </a:xfrm>
          <a:prstGeom prst="roundRect">
            <a:avLst>
              <a:gd name="adj" fmla="val 64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4910328" y="2249424"/>
            <a:ext cx="3483864" cy="8503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2000;</a:t>
            </a:r>
          </a:p>
        </p:txBody>
      </p:sp>
      <p:sp>
        <p:nvSpPr>
          <p:cNvPr id="22" name="Text 19"/>
          <p:cNvSpPr/>
          <p:nvPr/>
        </p:nvSpPr>
        <p:spPr>
          <a:xfrm>
            <a:off x="4709160" y="338328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RETURNED RESULT</a:t>
            </a:r>
            <a:endParaRPr lang="en-US" sz="1200" dirty="0"/>
          </a:p>
        </p:txBody>
      </p:sp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703320"/>
          <a:ext cx="3886200" cy="1066800"/>
        </p:xfrm>
        <a:graphic>
          <a:graphicData uri="http://schemas.openxmlformats.org/drawingml/2006/table">
            <a:tbl>
              <a:tblPr/>
              <a:tblGrid>
                <a:gridCol w="3886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717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6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" name="Text 21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26" name="Text 22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03 / 06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Full Table Scan in Action</a:t>
            </a:r>
          </a:p>
        </p:txBody>
      </p:sp>
      <p:sp>
        <p:nvSpPr>
          <p:cNvPr id="3" name="Text 1"/>
          <p:cNvSpPr/>
          <p:nvPr/>
        </p:nvSpPr>
        <p:spPr>
          <a:xfrm>
            <a:off x="57023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SYNTAX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3794760" cy="1005840"/>
          </a:xfrm>
          <a:prstGeom prst="roundRect">
            <a:avLst>
              <a:gd name="adj" fmla="val 8000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517904"/>
            <a:ext cx="3346704" cy="62179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column_name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condition;</a:t>
            </a:r>
          </a:p>
        </p:txBody>
      </p:sp>
      <p:sp>
        <p:nvSpPr>
          <p:cNvPr id="6" name="Text 4"/>
          <p:cNvSpPr/>
          <p:nvPr/>
        </p:nvSpPr>
        <p:spPr>
          <a:xfrm>
            <a:off x="548640" y="24231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FACC1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BUSINESS SCENARIO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2743200"/>
            <a:ext cx="3749040" cy="1051560"/>
          </a:xfrm>
          <a:prstGeom prst="roundRect">
            <a:avLst>
              <a:gd name="adj" fmla="val 6957"/>
            </a:avLst>
          </a:prstGeom>
          <a:solidFill>
            <a:srgbClr val="1F1A0D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749808" y="2889504"/>
            <a:ext cx="3346704" cy="7772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600" b="0">
                <a:solidFill>
                  <a:srgbClr val="C9D4E5"/>
                </a:solidFill>
                <a:latin typeface="MiSans"/>
              </a:rPr>
              <a:t>Table scan</a:t>
            </a:r>
          </a:p>
        </p:txBody>
      </p:sp>
      <p:sp>
        <p:nvSpPr>
          <p:cNvPr id="9" name="Text 7"/>
          <p:cNvSpPr/>
          <p:nvPr/>
        </p:nvSpPr>
        <p:spPr>
          <a:xfrm>
            <a:off x="4709160" y="100584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EXAMPLE QUERY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09160" y="1303020"/>
            <a:ext cx="3977640" cy="1394460"/>
          </a:xfrm>
          <a:prstGeom prst="roundRect">
            <a:avLst>
              <a:gd name="adj" fmla="val 6154"/>
            </a:avLst>
          </a:prstGeom>
          <a:solidFill>
            <a:srgbClr val="081B30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4910328" y="1517904"/>
            <a:ext cx="3483864" cy="896112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t"/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EXPLAIN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SELECT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    *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FROM orders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>
                <a:solidFill>
                  <a:srgbClr val="2F80FF"/>
                </a:solidFill>
                <a:latin typeface="Consolas"/>
              </a:rPr>
              <a:t>WHERE total_amount &gt; 2000;</a:t>
            </a:r>
          </a:p>
        </p:txBody>
      </p:sp>
      <p:sp>
        <p:nvSpPr>
          <p:cNvPr id="12" name="Text 10"/>
          <p:cNvSpPr/>
          <p:nvPr/>
        </p:nvSpPr>
        <p:spPr>
          <a:xfrm>
            <a:off x="4709160" y="2743200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EXPECTED RESULT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09160" y="3063240"/>
          <a:ext cx="3886200" cy="1066800"/>
        </p:xfrm>
        <a:graphic>
          <a:graphicData uri="http://schemas.openxmlformats.org/drawingml/2006/table">
            <a:tbl>
              <a:tblPr/>
              <a:tblGrid>
                <a:gridCol w="10515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91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addr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opcode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>
                          <a:solidFill>
                            <a:srgbClr val="FFFFFF"/>
                          </a:solidFill>
                          <a:latin typeface="MiSans"/>
                        </a:rPr>
                        <a:t>p1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024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Init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1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OpenRead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2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Rewind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>
                          <a:solidFill>
                            <a:srgbClr val="C9D4E5"/>
                          </a:solidFill>
                          <a:latin typeface="MiSans"/>
                        </a:rPr>
                        <a:t>0</a:t>
                      </a:r>
                    </a:p>
                  </a:txBody>
                  <a:tcPr anchor="ctr" marL="73152" marR="73152" marT="73152" marB="73152">
                    <a:lnL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1314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1E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" name="Text 19"/>
          <p:cNvSpPr/>
          <p:nvPr/>
        </p:nvSpPr>
        <p:spPr>
          <a:xfrm>
            <a:off x="158750" y="4873244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23" name="Text 20"/>
          <p:cNvSpPr/>
          <p:nvPr/>
        </p:nvSpPr>
        <p:spPr>
          <a:xfrm>
            <a:off x="8020050" y="485902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04 / 06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MiSans"/>
              </a:rPr>
              <a:t>Common Mistakes &amp; Best Practices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MISTAKES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Forgetting to filter data correctly.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Using the wrong clause for the task.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Ignoring query readability.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FF5C5C"/>
                </a:solidFill>
                <a:latin typeface="MiSans"/>
              </a:rPr>
              <a:t>MESSY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Poor formatting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Inconsistent naming conventions.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Difficult to maintain over time.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846320" y="1005840"/>
            <a:ext cx="3749039" cy="3474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BEST PRACTICES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Write clear and readable queries.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Follow SQL best practices.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24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Validate results before execution.</a:t>
            </a: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500" b="1">
                <a:solidFill>
                  <a:srgbClr val="2ECC71"/>
                </a:solidFill>
                <a:latin typeface="MiSans"/>
              </a:rPr>
              <a:t>CLEAN SQL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Proper indentation and layout.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Meaningful aliases and naming.</a:t>
            </a: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800"/>
              </a:spcAft>
            </a:pPr>
            <a:r>
              <a:rPr sz="1100" b="0">
                <a:solidFill>
                  <a:srgbClr val="C9D4E5"/>
                </a:solidFill>
                <a:latin typeface="MiSans"/>
              </a:rPr>
              <a:t>•  Consistent formatting rules.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pPr algn="l"/>
            <a:r>
              <a:rPr sz="80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05 / 06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54864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2400" b="1">
                <a:solidFill>
                  <a:srgbClr val="FFFFFF"/>
                </a:solidFill>
                <a:latin typeface="MiSans"/>
              </a:rPr>
              <a:t>Key Takeaways &amp; Your Challenge</a:t>
            </a:r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KEY TAKEAWAYS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749040" cy="1874520"/>
          </a:xfrm>
          <a:prstGeom prst="roundRect">
            <a:avLst>
              <a:gd name="adj" fmla="val 3902"/>
            </a:avLst>
          </a:prstGeom>
          <a:solidFill>
            <a:srgbClr val="0C1E33"/>
          </a:solidFill>
          <a:ln w="12700">
            <a:solidFill>
              <a:srgbClr val="21314A"/>
            </a:solidFill>
            <a:prstDash val="solid"/>
          </a:ln>
          <a:effectLst>
            <a:outerShdw blurRad="101600" dist="38100" dir="5400000" algn="bl" rotWithShape="0">
              <a:srgbClr val="000000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49808" y="1481328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24128" y="1481328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Full Table Scan is a core component of SQL query structure.</a:t>
            </a:r>
          </a:p>
        </p:txBody>
      </p:sp>
      <p:sp>
        <p:nvSpPr>
          <p:cNvPr id="7" name="Text 5"/>
          <p:cNvSpPr/>
          <p:nvPr/>
        </p:nvSpPr>
        <p:spPr>
          <a:xfrm>
            <a:off x="749808" y="1901952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24128" y="1901952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It helps optimize data retrieval and organization.</a:t>
            </a:r>
          </a:p>
        </p:txBody>
      </p:sp>
      <p:sp>
        <p:nvSpPr>
          <p:cNvPr id="9" name="Text 7"/>
          <p:cNvSpPr/>
          <p:nvPr/>
        </p:nvSpPr>
        <p:spPr>
          <a:xfrm>
            <a:off x="749808" y="2322576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24128" y="2322576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Use it to satisfy specific business scenario criteria.</a:t>
            </a:r>
          </a:p>
        </p:txBody>
      </p:sp>
      <p:sp>
        <p:nvSpPr>
          <p:cNvPr id="11" name="Text 9"/>
          <p:cNvSpPr/>
          <p:nvPr/>
        </p:nvSpPr>
        <p:spPr>
          <a:xfrm>
            <a:off x="749808" y="2743200"/>
            <a:ext cx="2560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22C55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24128" y="2743200"/>
            <a:ext cx="3108960" cy="384048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C9D4E5"/>
                </a:solidFill>
                <a:latin typeface="MiSans"/>
              </a:rPr>
              <a:t>Combine with other clauses for advanced calculations.</a:t>
            </a:r>
          </a:p>
        </p:txBody>
      </p:sp>
      <p:sp>
        <p:nvSpPr>
          <p:cNvPr id="19" name="Text 17"/>
          <p:cNvSpPr/>
          <p:nvPr/>
        </p:nvSpPr>
        <p:spPr>
          <a:xfrm>
            <a:off x="4846320" y="100584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b="1" kern="0" spc="150" dirty="0">
                <a:solidFill>
                  <a:srgbClr val="3B82F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CONTINUE LEARNING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102352" y="13258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Practice on DB Fiddle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5102352" y="1655064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D7DE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View Solution on GitHub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457200" y="4777740"/>
            <a:ext cx="45720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27" name="Text 25"/>
          <p:cNvSpPr/>
          <p:nvPr/>
        </p:nvSpPr>
        <p:spPr>
          <a:xfrm>
            <a:off x="7772400" y="4777740"/>
            <a:ext cx="914400" cy="274320"/>
          </a:xfrm>
          <a:prstGeom prst="rect">
            <a:avLst/>
          </a:prstGeom>
          <a:noFill/>
          <a:ln/>
        </p:spPr>
        <p:txBody>
          <a:bodyPr wrap="square" lIns="109728" tIns="109728" rIns="109728" bIns="109728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>
                <a:solidFill>
                  <a:srgbClr val="8AA0BF"/>
                </a:solidFill>
                <a:latin typeface="MiSans"/>
              </a:rPr>
              <a:t>06 / 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2800" b="1">
                <a:solidFill>
                  <a:srgbClr val="FFFFFF"/>
                </a:solidFill>
                <a:latin typeface="MiSans"/>
              </a:rPr>
              <a:t>PRACTICE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795528"/>
            <a:ext cx="8046720" cy="32004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1400">
                <a:solidFill>
                  <a:srgbClr val="C9D4E5"/>
                </a:solidFill>
                <a:latin typeface="MiSans"/>
              </a:rPr>
              <a:t>Test your understanding by solving the following questions before viewing the solution.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34440"/>
            <a:ext cx="8046720" cy="2926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1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A full table scan reads all rows. Write EXPLAIN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total_amount &gt; 2000</a:t>
            </a:r>
            <a:r>
              <a:rPr sz="1100">
                <a:solidFill>
                  <a:srgbClr val="C9D4E5"/>
                </a:solidFill>
                <a:latin typeface="MiSans"/>
              </a:rPr>
              <a:t>. If no index on total_amount, MySQL does a full table scan (type = ALL).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2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Contrast: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order_id = 1001 (uses PRIMARY KEY index -- fast) vs SELECT * FROM orders WHERE total_amount = 3500 (full scan if no index)</a:t>
            </a:r>
            <a:r>
              <a:rPr sz="1100">
                <a:solidFill>
                  <a:srgbClr val="C9D4E5"/>
                </a:solidFill>
                <a:latin typeface="MiSans"/>
              </a:rPr>
              <a:t>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3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The nightly report queries: </a:t>
            </a:r>
            <a:r>
              <a:rPr sz="900">
                <a:solidFill>
                  <a:srgbClr val="C9D4E5"/>
                </a:solidFill>
                <a:latin typeface="Consolas"/>
              </a:rPr>
              <a:t>SELECT * FROM orders WHERE total_amount BETWEEN 2000 AND 6000</a:t>
            </a:r>
            <a:r>
              <a:rPr sz="1100">
                <a:solidFill>
                  <a:srgbClr val="C9D4E5"/>
                </a:solidFill>
                <a:latin typeface="MiSans"/>
              </a:rPr>
              <a:t>. It's slow because of a full table scan. Create an index on total_amount and re-run EXPLAIN.</a:t>
            </a:r>
          </a:p>
          <a:p>
            <a:pPr>
              <a:spcBef>
                <a:spcPts val="1200"/>
              </a:spcBef>
              <a:spcAft>
                <a:spcPts val="400"/>
              </a:spcAft>
            </a:pPr>
            <a:r>
              <a:rPr sz="1400" b="1">
                <a:solidFill>
                  <a:srgbClr val="FFFFFF"/>
                </a:solidFill>
                <a:latin typeface="MiSans"/>
              </a:rPr>
              <a:t>Question 4</a:t>
            </a: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1000"/>
              </a:spcAft>
            </a:pPr>
            <a:r>
              <a:rPr sz="1100">
                <a:solidFill>
                  <a:srgbClr val="C9D4E5"/>
                </a:solidFill>
                <a:latin typeface="MiSans"/>
              </a:rPr>
              <a:t>Identify which queries cause full table scans:
(A) </a:t>
            </a:r>
            <a:r>
              <a:rPr sz="900">
                <a:solidFill>
                  <a:srgbClr val="C9D4E5"/>
                </a:solidFill>
                <a:latin typeface="Consolas"/>
              </a:rPr>
              <a:t>WHERE order_id = 1001 -- index</a:t>
            </a:r>
            <a:r>
              <a:rPr sz="1100">
                <a:solidFill>
                  <a:srgbClr val="C9D4E5"/>
                </a:solidFill>
                <a:latin typeface="MiSans"/>
              </a:rPr>
              <a:t>.
(B) </a:t>
            </a:r>
            <a:r>
              <a:rPr sz="900">
                <a:solidFill>
                  <a:srgbClr val="C9D4E5"/>
                </a:solidFill>
                <a:latin typeface="Consolas"/>
              </a:rPr>
              <a:t>WHERE total_amount &gt; 2000 -- scan (no index)</a:t>
            </a:r>
            <a:r>
              <a:rPr sz="1100">
                <a:solidFill>
                  <a:srgbClr val="C9D4E5"/>
                </a:solidFill>
                <a:latin typeface="MiSans"/>
              </a:rPr>
              <a:t>.
(C) </a:t>
            </a:r>
            <a:r>
              <a:rPr sz="900">
                <a:solidFill>
                  <a:srgbClr val="C9D4E5"/>
                </a:solidFill>
                <a:latin typeface="Consolas"/>
              </a:rPr>
              <a:t>WHERE status LIKE '%ompleted' -- scan (leading wildcard)</a:t>
            </a:r>
            <a:r>
              <a:rPr sz="1100">
                <a:solidFill>
                  <a:srgbClr val="C9D4E5"/>
                </a:solidFill>
                <a:latin typeface="MiSans"/>
              </a:rPr>
              <a:t>.
Write EXPLAIN for all three and observe the difference.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</p:spPr>
        <p:txBody>
          <a:bodyPr wrap="none" lIns="0" tIns="0">
            <a:spAutoFit/>
          </a:bodyPr>
          <a:lstStyle/>
          <a:p>
            <a:r>
              <a:rPr sz="800">
                <a:solidFill>
                  <a:srgbClr val="8AA0BF"/>
                </a:solidFill>
                <a:latin typeface="MiSans"/>
              </a:rPr>
              <a:t>SQL MASTER  ·  SQL-173: Full Table Scan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4709160"/>
            <a:ext cx="822960" cy="274320"/>
          </a:xfrm>
          <a:prstGeom prst="rect">
            <a:avLst/>
          </a:prstGeom>
          <a:noFill/>
        </p:spPr>
        <p:txBody>
          <a:bodyPr wrap="none" rIns="0" tIns="0">
            <a:spAutoFit/>
          </a:bodyPr>
          <a:lstStyle/>
          <a:p>
            <a:pPr algn="r"/>
            <a:r>
              <a:rPr sz="800">
                <a:solidFill>
                  <a:srgbClr val="8AA0BF"/>
                </a:solidFill>
                <a:latin typeface="MiSans"/>
              </a:rPr>
              <a:t>07 / 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579</Words>
  <Application>Microsoft Office PowerPoint</Application>
  <PresentationFormat>On-screen Show (16:9)</PresentationFormat>
  <Paragraphs>186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Arial</vt:lpstr>
      <vt:lpstr>Calibri</vt:lpstr>
      <vt:lpstr>Inter</vt:lpstr>
      <vt:lpstr>JetBrains Mono</vt:lpstr>
      <vt:lpstr>MiSans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SQL-002 — WHERE</dc:title>
  <dc:subject>PptxGenJS Presentation</dc:subject>
  <dc:creator>SQL Master</dc:creator>
  <cp:lastModifiedBy>Zuboraj</cp:lastModifiedBy>
  <cp:revision>4</cp:revision>
  <dcterms:created xsi:type="dcterms:W3CDTF">2026-07-08T08:16:46Z</dcterms:created>
  <dcterms:modified xsi:type="dcterms:W3CDTF">2026-07-08T09:47:15Z</dcterms:modified>
</cp:coreProperties>
</file>