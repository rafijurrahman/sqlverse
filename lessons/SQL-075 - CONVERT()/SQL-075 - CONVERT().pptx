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 id="262"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7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350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6"/>
        </a:solidFill>
        <a:effectLst/>
      </p:bgPr>
    </p:bg>
    <p:spTree>
      <p:nvGrpSpPr>
        <p:cNvPr id="1" name=""/>
        <p:cNvGrpSpPr/>
        <p:nvPr/>
      </p:nvGrpSpPr>
      <p:grpSpPr>
        <a:xfrm>
          <a:off x="0" y="0"/>
          <a:ext cx="0" cy="0"/>
          <a:chOff x="0" y="0"/>
          <a:chExt cx="0" cy="0"/>
        </a:xfrm>
      </p:grpSpPr>
      <p:sp>
        <p:nvSpPr>
          <p:cNvPr id="2" name="Shape 0"/>
          <p:cNvSpPr/>
          <p:nvPr/>
        </p:nvSpPr>
        <p:spPr>
          <a:xfrm>
            <a:off x="548640" y="457200"/>
            <a:ext cx="1371600" cy="365760"/>
          </a:xfrm>
          <a:prstGeom prst="roundRect">
            <a:avLst>
              <a:gd name="adj" fmla="val 50000"/>
            </a:avLst>
          </a:prstGeom>
          <a:solidFill>
            <a:srgbClr val="0F2540"/>
          </a:solidFill>
          <a:ln w="12700">
            <a:solidFill>
              <a:srgbClr val="3B82F6"/>
            </a:solidFill>
            <a:prstDash val="solid"/>
          </a:ln>
        </p:spPr>
        <p:txBody>
          <a:bodyPr/>
          <a:p/>
        </p:txBody>
      </p:sp>
      <p:sp>
        <p:nvSpPr>
          <p:cNvPr id="3" name="Text 1"/>
          <p:cNvSpPr/>
          <p:nvPr/>
        </p:nvSpPr>
        <p:spPr>
          <a:xfrm>
            <a:off x="548640" y="457200"/>
            <a:ext cx="1371600" cy="36576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200" b="1" i="0">
                <a:solidFill>
                  <a:srgbClr val="8AA0BF"/>
                </a:solidFill>
                <a:latin typeface="MiSans"/>
              </a:rPr>
              <a:t>SQL-075</a:t>
            </a:r>
          </a:p>
        </p:txBody>
      </p:sp>
      <p:sp>
        <p:nvSpPr>
          <p:cNvPr id="4" name="Text 2"/>
          <p:cNvSpPr/>
          <p:nvPr/>
        </p:nvSpPr>
        <p:spPr>
          <a:xfrm>
            <a:off x="548640" y="914400"/>
            <a:ext cx="5669280" cy="9144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2000" b="1" i="0">
                <a:solidFill>
                  <a:srgbClr val="FFFFFF"/>
                </a:solidFill>
                <a:latin typeface="MiSans"/>
              </a:rPr>
              <a:t>CONVERT()</a:t>
            </a:r>
          </a:p>
        </p:txBody>
      </p:sp>
      <p:sp>
        <p:nvSpPr>
          <p:cNvPr id="5" name="Text 3"/>
          <p:cNvSpPr/>
          <p:nvPr/>
        </p:nvSpPr>
        <p:spPr>
          <a:xfrm>
            <a:off x="548640" y="1691640"/>
            <a:ext cx="5486400"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400" b="1" i="0">
                <a:solidFill>
                  <a:srgbClr val="C9D4E5"/>
                </a:solidFill>
                <a:latin typeface="MiSans"/>
              </a:rPr>
              <a:t>Master the CONVERT concept in SQL database queries.</a:t>
            </a:r>
          </a:p>
        </p:txBody>
      </p:sp>
      <p:sp>
        <p:nvSpPr>
          <p:cNvPr id="6" name="Text 4"/>
          <p:cNvSpPr/>
          <p:nvPr/>
        </p:nvSpPr>
        <p:spPr>
          <a:xfrm>
            <a:off x="548640" y="2148840"/>
            <a:ext cx="5120640" cy="82296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CONVERT is a key SQL feature used to filter, transform, or organize database tables.</a:t>
            </a:r>
          </a:p>
        </p:txBody>
      </p:sp>
      <p:sp>
        <p:nvSpPr>
          <p:cNvPr id="7" name="Text 5"/>
          <p:cNvSpPr/>
          <p:nvPr/>
        </p:nvSpPr>
        <p:spPr>
          <a:xfrm>
            <a:off x="548640" y="3246120"/>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8" name="Text 6"/>
          <p:cNvSpPr/>
          <p:nvPr/>
        </p:nvSpPr>
        <p:spPr>
          <a:xfrm>
            <a:off x="868680" y="3246120"/>
            <a:ext cx="4389120"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Practical Business Examples</a:t>
            </a:r>
          </a:p>
        </p:txBody>
      </p:sp>
      <p:sp>
        <p:nvSpPr>
          <p:cNvPr id="9" name="Text 7"/>
          <p:cNvSpPr/>
          <p:nvPr/>
        </p:nvSpPr>
        <p:spPr>
          <a:xfrm>
            <a:off x="548640" y="3630168"/>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868680" y="3630168"/>
            <a:ext cx="4389120"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Real SQL Practice</a:t>
            </a:r>
          </a:p>
        </p:txBody>
      </p:sp>
      <p:sp>
        <p:nvSpPr>
          <p:cNvPr id="11" name="Text 9"/>
          <p:cNvSpPr/>
          <p:nvPr/>
        </p:nvSpPr>
        <p:spPr>
          <a:xfrm>
            <a:off x="548640" y="4014216"/>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2" name="Text 10"/>
          <p:cNvSpPr/>
          <p:nvPr/>
        </p:nvSpPr>
        <p:spPr>
          <a:xfrm>
            <a:off x="868680" y="4014216"/>
            <a:ext cx="4389120"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Beginner Friendly</a:t>
            </a:r>
          </a:p>
        </p:txBody>
      </p:sp>
      <p:sp>
        <p:nvSpPr>
          <p:cNvPr id="13" name="Shape 11"/>
          <p:cNvSpPr/>
          <p:nvPr/>
        </p:nvSpPr>
        <p:spPr>
          <a:xfrm>
            <a:off x="5989320" y="502920"/>
            <a:ext cx="2651760" cy="1691640"/>
          </a:xfrm>
          <a:prstGeom prst="roundRect">
            <a:avLst>
              <a:gd name="adj" fmla="val 432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6190488" y="649224"/>
            <a:ext cx="2249424" cy="1399032"/>
          </a:xfrm>
          <a:prstGeom prst="rect">
            <a:avLst/>
          </a:prstGeom>
          <a:noFill/>
          <a:ln/>
        </p:spPr>
        <p:txBody>
          <a:bodyPr wrap="square" lIns="182880" tIns="182880" rIns="182880" bIns="182880" rtlCol="0" anchor="ctr"/>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gpa,</a:t>
            </a:r>
          </a:p>
          <a:p>
            <a:pPr algn="l">
              <a:lnSpc>
                <a:spcPct val="100000"/>
              </a:lnSpc>
              <a:spcBef>
                <a:spcPts val="0"/>
              </a:spcBef>
              <a:spcAft>
                <a:spcPts val="0"/>
              </a:spcAft>
            </a:pPr>
            <a:r>
              <a:rPr sz="900">
                <a:solidFill>
                  <a:srgbClr val="2F80FF"/>
                </a:solidFill>
                <a:latin typeface="Consolas"/>
              </a:rPr>
              <a:t>    CONVERT(gpa, CHAR) AS "CONVERT GPA",</a:t>
            </a:r>
          </a:p>
          <a:p>
            <a:pPr algn="l">
              <a:lnSpc>
                <a:spcPct val="100000"/>
              </a:lnSpc>
              <a:spcBef>
                <a:spcPts val="0"/>
              </a:spcBef>
              <a:spcAft>
                <a:spcPts val="0"/>
              </a:spcAft>
            </a:pPr>
            <a:r>
              <a:rPr sz="900">
                <a:solidFill>
                  <a:srgbClr val="2F80FF"/>
                </a:solidFill>
                <a:latin typeface="Consolas"/>
              </a:rPr>
              <a:t>    CAST(gpa AS CHAR) AS "CAST GPA"</a:t>
            </a:r>
          </a:p>
          <a:p>
            <a:pPr algn="l">
              <a:lnSpc>
                <a:spcPct val="100000"/>
              </a:lnSpc>
              <a:spcBef>
                <a:spcPts val="0"/>
              </a:spcBef>
              <a:spcAft>
                <a:spcPts val="0"/>
              </a:spcAft>
            </a:pPr>
            <a:r>
              <a:rPr sz="900">
                <a:solidFill>
                  <a:srgbClr val="2F80FF"/>
                </a:solidFill>
                <a:latin typeface="Consolas"/>
              </a:rPr>
              <a:t>FROM students;</a:t>
            </a:r>
          </a:p>
        </p:txBody>
      </p:sp>
      <p:sp>
        <p:nvSpPr>
          <p:cNvPr id="15" name="Shape 13"/>
          <p:cNvSpPr/>
          <p:nvPr/>
        </p:nvSpPr>
        <p:spPr>
          <a:xfrm>
            <a:off x="5989320" y="2395728"/>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6" name="Text 14"/>
          <p:cNvSpPr/>
          <p:nvPr/>
        </p:nvSpPr>
        <p:spPr>
          <a:xfrm>
            <a:off x="5989320" y="2395728"/>
            <a:ext cx="2651760"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Database</a:t>
            </a:r>
          </a:p>
        </p:txBody>
      </p:sp>
      <p:sp>
        <p:nvSpPr>
          <p:cNvPr id="17" name="Text 15"/>
          <p:cNvSpPr/>
          <p:nvPr/>
        </p:nvSpPr>
        <p:spPr>
          <a:xfrm>
            <a:off x="5989320" y="2834640"/>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8" name="Shape 16"/>
          <p:cNvSpPr/>
          <p:nvPr/>
        </p:nvSpPr>
        <p:spPr>
          <a:xfrm>
            <a:off x="5989320" y="2980944"/>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9" name="Text 17"/>
          <p:cNvSpPr/>
          <p:nvPr/>
        </p:nvSpPr>
        <p:spPr>
          <a:xfrm>
            <a:off x="5989320" y="2980944"/>
            <a:ext cx="2651760"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students Table</a:t>
            </a:r>
          </a:p>
        </p:txBody>
      </p:sp>
      <p:sp>
        <p:nvSpPr>
          <p:cNvPr id="20" name="Text 18"/>
          <p:cNvSpPr/>
          <p:nvPr/>
        </p:nvSpPr>
        <p:spPr>
          <a:xfrm>
            <a:off x="5989320" y="3419856"/>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1" name="Shape 19"/>
          <p:cNvSpPr/>
          <p:nvPr/>
        </p:nvSpPr>
        <p:spPr>
          <a:xfrm>
            <a:off x="5989320" y="3566160"/>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2" name="Text 20"/>
          <p:cNvSpPr/>
          <p:nvPr/>
        </p:nvSpPr>
        <p:spPr>
          <a:xfrm>
            <a:off x="5989320" y="3566160"/>
            <a:ext cx="2651760"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SELECT</a:t>
            </a:r>
          </a:p>
        </p:txBody>
      </p:sp>
      <p:sp>
        <p:nvSpPr>
          <p:cNvPr id="23" name="Text 21"/>
          <p:cNvSpPr/>
          <p:nvPr/>
        </p:nvSpPr>
        <p:spPr>
          <a:xfrm>
            <a:off x="5989320" y="4005072"/>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4" name="Shape 22"/>
          <p:cNvSpPr/>
          <p:nvPr/>
        </p:nvSpPr>
        <p:spPr>
          <a:xfrm>
            <a:off x="5989320" y="4151376"/>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5" name="Text 23"/>
          <p:cNvSpPr/>
          <p:nvPr/>
        </p:nvSpPr>
        <p:spPr>
          <a:xfrm>
            <a:off x="5989320" y="4151376"/>
            <a:ext cx="2651760"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Returned Result</a:t>
            </a:r>
          </a:p>
        </p:txBody>
      </p:sp>
      <p:sp>
        <p:nvSpPr>
          <p:cNvPr id="26" name="Text 24"/>
          <p:cNvSpPr/>
          <p:nvPr/>
        </p:nvSpPr>
        <p:spPr>
          <a:xfrm>
            <a:off x="457200" y="4777740"/>
            <a:ext cx="45720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SQL MASTER  ·  SQL-075: CONVERT()</a:t>
            </a:r>
          </a:p>
        </p:txBody>
      </p:sp>
      <p:sp>
        <p:nvSpPr>
          <p:cNvPr id="27" name="Text 25"/>
          <p:cNvSpPr/>
          <p:nvPr/>
        </p:nvSpPr>
        <p:spPr>
          <a:xfrm>
            <a:off x="7772400" y="4777740"/>
            <a:ext cx="9144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01 / 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65760"/>
            <a:ext cx="8046720" cy="59436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2800" b="1" i="0">
                <a:solidFill>
                  <a:srgbClr val="FFFFFF"/>
                </a:solidFill>
                <a:latin typeface="MiSans"/>
              </a:rPr>
              <a:t>What is CONVERT()?</a:t>
            </a:r>
          </a:p>
        </p:txBody>
      </p:sp>
      <p:sp>
        <p:nvSpPr>
          <p:cNvPr id="3" name="Shape 1"/>
          <p:cNvSpPr/>
          <p:nvPr/>
        </p:nvSpPr>
        <p:spPr>
          <a:xfrm>
            <a:off x="54864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4" name="Text 2"/>
          <p:cNvSpPr/>
          <p:nvPr/>
        </p:nvSpPr>
        <p:spPr>
          <a:xfrm>
            <a:off x="749808" y="1307592"/>
            <a:ext cx="2203704" cy="2743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600" b="1" i="0">
                <a:solidFill>
                  <a:srgbClr val="FFFFFF"/>
                </a:solidFill>
                <a:latin typeface="MiSans"/>
              </a:rPr>
              <a:t>WHAT</a:t>
            </a:r>
          </a:p>
        </p:txBody>
      </p:sp>
      <p:sp>
        <p:nvSpPr>
          <p:cNvPr id="5" name="Text 3"/>
          <p:cNvSpPr/>
          <p:nvPr/>
        </p:nvSpPr>
        <p:spPr>
          <a:xfrm>
            <a:off x="749808" y="1645920"/>
            <a:ext cx="2203704" cy="7315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050" b="0" i="0">
                <a:solidFill>
                  <a:srgbClr val="C9D4E5"/>
                </a:solidFill>
                <a:latin typeface="MiSans"/>
              </a:rPr>
              <a:t>CONVERT is a key SQL feature used to filter, transform, or organize database tables.</a:t>
            </a:r>
          </a:p>
        </p:txBody>
      </p:sp>
      <p:sp>
        <p:nvSpPr>
          <p:cNvPr id="6" name="Shape 4"/>
          <p:cNvSpPr/>
          <p:nvPr/>
        </p:nvSpPr>
        <p:spPr>
          <a:xfrm>
            <a:off x="338328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7" name="Text 5"/>
          <p:cNvSpPr/>
          <p:nvPr/>
        </p:nvSpPr>
        <p:spPr>
          <a:xfrm>
            <a:off x="3584448" y="1307592"/>
            <a:ext cx="2203704" cy="2743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600" b="1" i="0">
                <a:solidFill>
                  <a:srgbClr val="FFFFFF"/>
                </a:solidFill>
                <a:latin typeface="MiSans"/>
              </a:rPr>
              <a:t>WHY</a:t>
            </a:r>
          </a:p>
        </p:txBody>
      </p:sp>
      <p:sp>
        <p:nvSpPr>
          <p:cNvPr id="8" name="Text 6"/>
          <p:cNvSpPr/>
          <p:nvPr/>
        </p:nvSpPr>
        <p:spPr>
          <a:xfrm>
            <a:off x="3584448" y="1645920"/>
            <a:ext cx="2203704" cy="7315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050" b="0" i="0">
                <a:solidFill>
                  <a:srgbClr val="C9D4E5"/>
                </a:solidFill>
                <a:latin typeface="MiSans"/>
              </a:rPr>
              <a:t>Understanding CONVERT helps you build robust data models and optimize search queries.</a:t>
            </a:r>
          </a:p>
        </p:txBody>
      </p:sp>
      <p:sp>
        <p:nvSpPr>
          <p:cNvPr id="9" name="Shape 7"/>
          <p:cNvSpPr/>
          <p:nvPr/>
        </p:nvSpPr>
        <p:spPr>
          <a:xfrm>
            <a:off x="621792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0" name="Text 8"/>
          <p:cNvSpPr/>
          <p:nvPr/>
        </p:nvSpPr>
        <p:spPr>
          <a:xfrm>
            <a:off x="6419088" y="1307592"/>
            <a:ext cx="2203704" cy="2743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600" b="1" i="0">
                <a:solidFill>
                  <a:srgbClr val="FFFFFF"/>
                </a:solidFill>
                <a:latin typeface="MiSans"/>
              </a:rPr>
              <a:t>WHEN</a:t>
            </a:r>
          </a:p>
        </p:txBody>
      </p:sp>
      <p:sp>
        <p:nvSpPr>
          <p:cNvPr id="11" name="Text 9"/>
          <p:cNvSpPr/>
          <p:nvPr/>
        </p:nvSpPr>
        <p:spPr>
          <a:xfrm>
            <a:off x="6419088" y="1645920"/>
            <a:ext cx="2203704" cy="7315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050" b="0" i="0">
                <a:solidFill>
                  <a:srgbClr val="C9D4E5"/>
                </a:solidFill>
                <a:latin typeface="MiSans"/>
              </a:rPr>
              <a:t>Use CONVERT when querying datasets that require CONVERT operations.</a:t>
            </a:r>
          </a:p>
        </p:txBody>
      </p:sp>
      <p:sp>
        <p:nvSpPr>
          <p:cNvPr id="12" name="Text 10"/>
          <p:cNvSpPr/>
          <p:nvPr/>
        </p:nvSpPr>
        <p:spPr>
          <a:xfrm>
            <a:off x="548640" y="2880360"/>
            <a:ext cx="8046720" cy="274320"/>
          </a:xfrm>
          <a:prstGeom prst="rect">
            <a:avLst/>
          </a:prstGeom>
          <a:noFill/>
          <a:ln/>
        </p:spPr>
        <p:txBody>
          <a:bodyPr wrap="square" lIns="0" tIns="0" rIns="0" bIns="0" rtlCol="0" anchor="ctr"/>
          <a:lstStyle/>
          <a:p>
            <a:pPr marL="0" indent="0">
              <a:buNone/>
            </a:pPr>
            <a:r>
              <a:rPr lang="en-US" sz="1200" b="1" kern="0" spc="150" dirty="0">
                <a:solidFill>
                  <a:srgbClr val="3B82F6"/>
                </a:solidFill>
                <a:latin typeface="Inter" pitchFamily="34" charset="0"/>
                <a:ea typeface="Inter" pitchFamily="34" charset="-122"/>
                <a:cs typeface="Inter" pitchFamily="34" charset="-120"/>
              </a:rPr>
              <a:t>EXAMPLE</a:t>
            </a:r>
            <a:endParaRPr lang="en-US" sz="1200" dirty="0"/>
          </a:p>
        </p:txBody>
      </p:sp>
      <p:sp>
        <p:nvSpPr>
          <p:cNvPr id="13" name="Shape 11"/>
          <p:cNvSpPr/>
          <p:nvPr/>
        </p:nvSpPr>
        <p:spPr>
          <a:xfrm>
            <a:off x="54864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749808" y="3410712"/>
            <a:ext cx="2203704"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Database</a:t>
            </a:r>
          </a:p>
        </p:txBody>
      </p:sp>
      <p:sp>
        <p:nvSpPr>
          <p:cNvPr id="15" name="Text 13"/>
          <p:cNvSpPr/>
          <p:nvPr/>
        </p:nvSpPr>
        <p:spPr>
          <a:xfrm>
            <a:off x="749808" y="3794760"/>
            <a:ext cx="2203704"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Full source data</a:t>
            </a:r>
          </a:p>
        </p:txBody>
      </p:sp>
      <p:sp>
        <p:nvSpPr>
          <p:cNvPr id="16" name="Shape 14"/>
          <p:cNvSpPr/>
          <p:nvPr/>
        </p:nvSpPr>
        <p:spPr>
          <a:xfrm>
            <a:off x="338328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7" name="Text 15"/>
          <p:cNvSpPr/>
          <p:nvPr/>
        </p:nvSpPr>
        <p:spPr>
          <a:xfrm>
            <a:off x="3584448" y="3410712"/>
            <a:ext cx="2203704"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CONVERT()</a:t>
            </a:r>
          </a:p>
        </p:txBody>
      </p:sp>
      <p:sp>
        <p:nvSpPr>
          <p:cNvPr id="18" name="Text 16"/>
          <p:cNvSpPr/>
          <p:nvPr/>
        </p:nvSpPr>
        <p:spPr>
          <a:xfrm>
            <a:off x="3584448" y="3794760"/>
            <a:ext cx="2203704"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Apply criteria</a:t>
            </a:r>
          </a:p>
        </p:txBody>
      </p:sp>
      <p:sp>
        <p:nvSpPr>
          <p:cNvPr id="19" name="Shape 17"/>
          <p:cNvSpPr/>
          <p:nvPr/>
        </p:nvSpPr>
        <p:spPr>
          <a:xfrm>
            <a:off x="621792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0" name="Text 18"/>
          <p:cNvSpPr/>
          <p:nvPr/>
        </p:nvSpPr>
        <p:spPr>
          <a:xfrm>
            <a:off x="6419088" y="3410712"/>
            <a:ext cx="2203704"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1" i="0">
                <a:solidFill>
                  <a:srgbClr val="FFFFFF"/>
                </a:solidFill>
                <a:latin typeface="MiSans"/>
              </a:rPr>
              <a:t>Returned Result</a:t>
            </a:r>
          </a:p>
        </p:txBody>
      </p:sp>
      <p:sp>
        <p:nvSpPr>
          <p:cNvPr id="21" name="Text 19"/>
          <p:cNvSpPr/>
          <p:nvPr/>
        </p:nvSpPr>
        <p:spPr>
          <a:xfrm>
            <a:off x="6419088" y="3794760"/>
            <a:ext cx="2203704" cy="45720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50" b="0" i="0">
                <a:solidFill>
                  <a:srgbClr val="C9D4E5"/>
                </a:solidFill>
                <a:latin typeface="MiSans"/>
              </a:rPr>
              <a:t>Only requested rows</a:t>
            </a:r>
          </a:p>
        </p:txBody>
      </p:sp>
      <p:sp>
        <p:nvSpPr>
          <p:cNvPr id="22" name="Text 20"/>
          <p:cNvSpPr/>
          <p:nvPr/>
        </p:nvSpPr>
        <p:spPr>
          <a:xfrm>
            <a:off x="544830" y="4457700"/>
            <a:ext cx="8046720" cy="32004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1000" b="0" i="1">
                <a:solidFill>
                  <a:srgbClr val="FFC83D"/>
                </a:solidFill>
                <a:latin typeface="MiSans"/>
              </a:rPr>
              <a:t>TIP:  Always verify performance of CONVERT() on large tables.</a:t>
            </a:r>
          </a:p>
        </p:txBody>
      </p:sp>
      <p:sp>
        <p:nvSpPr>
          <p:cNvPr id="23" name="Text 21"/>
          <p:cNvSpPr/>
          <p:nvPr/>
        </p:nvSpPr>
        <p:spPr>
          <a:xfrm>
            <a:off x="457200" y="4777740"/>
            <a:ext cx="45720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SQL MASTER  ·  SQL-075: CONVERT()</a:t>
            </a:r>
          </a:p>
        </p:txBody>
      </p:sp>
      <p:sp>
        <p:nvSpPr>
          <p:cNvPr id="24" name="Text 22"/>
          <p:cNvSpPr/>
          <p:nvPr/>
        </p:nvSpPr>
        <p:spPr>
          <a:xfrm>
            <a:off x="7772400" y="4777740"/>
            <a:ext cx="9144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02 / 06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2800" b="1" i="0">
                <a:solidFill>
                  <a:srgbClr val="FFFFFF"/>
                </a:solidFill>
                <a:latin typeface="MiSans"/>
              </a:rPr>
              <a:t>How Does CONVERT() Work?</a:t>
            </a:r>
          </a:p>
        </p:txBody>
      </p:sp>
      <p:sp>
        <p:nvSpPr>
          <p:cNvPr id="3" name="Shape 1"/>
          <p:cNvSpPr/>
          <p:nvPr/>
        </p:nvSpPr>
        <p:spPr>
          <a:xfrm>
            <a:off x="649224"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4" name="Text 2"/>
          <p:cNvSpPr/>
          <p:nvPr/>
        </p:nvSpPr>
        <p:spPr>
          <a:xfrm>
            <a:off x="64922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Database</a:t>
            </a:r>
            <a:endParaRPr lang="en-US" sz="1050" dirty="0"/>
          </a:p>
        </p:txBody>
      </p:sp>
      <p:sp>
        <p:nvSpPr>
          <p:cNvPr id="5" name="Text 3"/>
          <p:cNvSpPr/>
          <p:nvPr/>
        </p:nvSpPr>
        <p:spPr>
          <a:xfrm>
            <a:off x="2130552"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6" name="Shape 4"/>
          <p:cNvSpPr/>
          <p:nvPr/>
        </p:nvSpPr>
        <p:spPr>
          <a:xfrm>
            <a:off x="2240280"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7" name="Text 5"/>
          <p:cNvSpPr/>
          <p:nvPr/>
        </p:nvSpPr>
        <p:spPr>
          <a:xfrm>
            <a:off x="2240280"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Products Table</a:t>
            </a:r>
            <a:endParaRPr lang="en-US" sz="1050" dirty="0"/>
          </a:p>
        </p:txBody>
      </p:sp>
      <p:sp>
        <p:nvSpPr>
          <p:cNvPr id="8" name="Text 6"/>
          <p:cNvSpPr/>
          <p:nvPr/>
        </p:nvSpPr>
        <p:spPr>
          <a:xfrm>
            <a:off x="3721608"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9" name="Shape 7"/>
          <p:cNvSpPr/>
          <p:nvPr/>
        </p:nvSpPr>
        <p:spPr>
          <a:xfrm>
            <a:off x="383133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0" name="Text 8"/>
          <p:cNvSpPr/>
          <p:nvPr/>
        </p:nvSpPr>
        <p:spPr>
          <a:xfrm>
            <a:off x="389534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Evaluate Condition</a:t>
            </a:r>
            <a:endParaRPr lang="en-US" sz="1050" dirty="0"/>
          </a:p>
        </p:txBody>
      </p:sp>
      <p:sp>
        <p:nvSpPr>
          <p:cNvPr id="11" name="Text 9"/>
          <p:cNvSpPr/>
          <p:nvPr/>
        </p:nvSpPr>
        <p:spPr>
          <a:xfrm>
            <a:off x="5312664"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2" name="Shape 10"/>
          <p:cNvSpPr/>
          <p:nvPr/>
        </p:nvSpPr>
        <p:spPr>
          <a:xfrm>
            <a:off x="547725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3" name="Text 11"/>
          <p:cNvSpPr/>
          <p:nvPr/>
        </p:nvSpPr>
        <p:spPr>
          <a:xfrm>
            <a:off x="5422392"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Keep Matching Rows</a:t>
            </a:r>
            <a:endParaRPr lang="en-US" sz="1050" dirty="0"/>
          </a:p>
        </p:txBody>
      </p:sp>
      <p:sp>
        <p:nvSpPr>
          <p:cNvPr id="14" name="Text 12"/>
          <p:cNvSpPr/>
          <p:nvPr/>
        </p:nvSpPr>
        <p:spPr>
          <a:xfrm>
            <a:off x="6903720"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5" name="Shape 13"/>
          <p:cNvSpPr/>
          <p:nvPr/>
        </p:nvSpPr>
        <p:spPr>
          <a:xfrm>
            <a:off x="7141464" y="948690"/>
            <a:ext cx="1481328" cy="548640"/>
          </a:xfrm>
          <a:prstGeom prst="roundRect">
            <a:avLst>
              <a:gd name="adj" fmla="val 13333"/>
            </a:avLst>
          </a:prstGeom>
          <a:solidFill>
            <a:srgbClr val="0F2E1E"/>
          </a:solidFill>
          <a:ln w="12700">
            <a:solidFill>
              <a:srgbClr val="21314A"/>
            </a:solidFill>
            <a:prstDash val="solid"/>
          </a:ln>
        </p:spPr>
        <p:txBody>
          <a:bodyPr/>
          <a:p/>
        </p:txBody>
      </p:sp>
      <p:sp>
        <p:nvSpPr>
          <p:cNvPr id="16" name="Text 14"/>
          <p:cNvSpPr/>
          <p:nvPr/>
        </p:nvSpPr>
        <p:spPr>
          <a:xfrm>
            <a:off x="7013448" y="960120"/>
            <a:ext cx="1481328" cy="548640"/>
          </a:xfrm>
          <a:prstGeom prst="rect">
            <a:avLst/>
          </a:prstGeom>
          <a:noFill/>
          <a:ln/>
        </p:spPr>
        <p:txBody>
          <a:bodyPr wrap="square" lIns="0" tIns="0" rIns="0" bIns="0" rtlCol="0" anchor="ctr"/>
          <a:lstStyle/>
          <a:p>
            <a:pPr marL="0" indent="0" algn="ctr">
              <a:buNone/>
            </a:pPr>
            <a:r>
              <a:rPr lang="en-US" sz="1050" b="1" dirty="0">
                <a:solidFill>
                  <a:srgbClr val="22C55E"/>
                </a:solidFill>
                <a:latin typeface="Inter" pitchFamily="34" charset="0"/>
                <a:ea typeface="Inter" pitchFamily="34" charset="-122"/>
                <a:cs typeface="Inter" pitchFamily="34" charset="-120"/>
              </a:rPr>
              <a:t>Return Result</a:t>
            </a:r>
            <a:endParaRPr lang="en-US" sz="1050" dirty="0"/>
          </a:p>
        </p:txBody>
      </p:sp>
      <p:sp>
        <p:nvSpPr>
          <p:cNvPr id="17" name="Text 15"/>
          <p:cNvSpPr/>
          <p:nvPr/>
        </p:nvSpPr>
        <p:spPr>
          <a:xfrm>
            <a:off x="548640" y="1783080"/>
            <a:ext cx="393192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DATABASE PREVIEW</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3342132" cy="1554480"/>
        </p:xfrm>
        <a:graphic>
          <a:graphicData uri="http://schemas.openxmlformats.org/drawingml/2006/table">
            <a:tbl>
              <a:tblPr/>
              <a:tblGrid>
                <a:gridCol w="427482">
                  <a:extLst>
                    <a:ext uri="{9D8B030D-6E8A-4147-A177-3AD203B41FA5}">
                      <a16:colId xmlns:a16="http://schemas.microsoft.com/office/drawing/2014/main" val="20000"/>
                    </a:ext>
                  </a:extLst>
                </a:gridCol>
                <a:gridCol w="1282446">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660654">
                  <a:extLst>
                    <a:ext uri="{9D8B030D-6E8A-4147-A177-3AD203B41FA5}">
                      <a16:colId xmlns:a16="http://schemas.microsoft.com/office/drawing/2014/main" val="20003"/>
                    </a:ext>
                  </a:extLst>
                </a:gridCol>
              </a:tblGrid>
              <a:tr h="259080">
                <a:tc>
                  <a:txBody>
                    <a:bodyPr anchor="ctr"/>
                    <a:lstStyle/>
                    <a:p>
                      <a:pPr algn="ctr">
                        <a:lnSpc>
                          <a:spcPct val="100000"/>
                        </a:lnSpc>
                        <a:spcBef>
                          <a:spcPts val="0"/>
                        </a:spcBef>
                        <a:spcAft>
                          <a:spcPts val="0"/>
                        </a:spcAft>
                      </a:pPr>
                      <a:r>
                        <a:rPr sz="800" b="1">
                          <a:solidFill>
                            <a:srgbClr val="FFFFFF"/>
                          </a:solidFill>
                          <a:latin typeface="MiSans"/>
                        </a:rPr>
                        <a:t>student_id</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student_code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first_name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last_name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59080">
                <a:tc>
                  <a:txBody>
                    <a:bodyPr anchor="ctr"/>
                    <a:lstStyle/>
                    <a:p>
                      <a:pPr algn="ctr">
                        <a:lnSpc>
                          <a:spcPct val="100000"/>
                        </a:lnSpc>
                        <a:spcBef>
                          <a:spcPts val="0"/>
                        </a:spcBef>
                        <a:spcAft>
                          <a:spcPts val="0"/>
                        </a:spcAft>
                      </a:pPr>
                      <a:r>
                        <a:rPr sz="800" b="0">
                          <a:solidFill>
                            <a:srgbClr val="C9D4E5"/>
                          </a:solidFill>
                          <a:latin typeface="MiSans"/>
                        </a:rPr>
                        <a:t>1</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STD-001</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Rahim</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Uddin</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59080">
                <a:tc>
                  <a:txBody>
                    <a:bodyPr anchor="ctr"/>
                    <a:lstStyle/>
                    <a:p>
                      <a:pPr algn="ctr">
                        <a:lnSpc>
                          <a:spcPct val="100000"/>
                        </a:lnSpc>
                        <a:spcBef>
                          <a:spcPts val="0"/>
                        </a:spcBef>
                        <a:spcAft>
                          <a:spcPts val="0"/>
                        </a:spcAft>
                      </a:pPr>
                      <a:r>
                        <a:rPr sz="800" b="0">
                          <a:solidFill>
                            <a:srgbClr val="C9D4E5"/>
                          </a:solidFill>
                          <a:latin typeface="MiSans"/>
                        </a:rPr>
                        <a:t>2</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STD-002</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Fatema</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Begum</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59080">
                <a:tc>
                  <a:txBody>
                    <a:bodyPr anchor="ctr"/>
                    <a:lstStyle/>
                    <a:p>
                      <a:pPr algn="ctr">
                        <a:lnSpc>
                          <a:spcPct val="100000"/>
                        </a:lnSpc>
                        <a:spcBef>
                          <a:spcPts val="0"/>
                        </a:spcBef>
                        <a:spcAft>
                          <a:spcPts val="0"/>
                        </a:spcAft>
                      </a:pPr>
                      <a:r>
                        <a:rPr sz="800" b="0">
                          <a:solidFill>
                            <a:srgbClr val="C9D4E5"/>
                          </a:solidFill>
                          <a:latin typeface="MiSans"/>
                        </a:rPr>
                        <a:t>3</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STD-003</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Karim</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Molla</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r h="259080">
                <a:tc>
                  <a:txBody>
                    <a:bodyPr anchor="ctr"/>
                    <a:lstStyle/>
                    <a:p>
                      <a:pPr algn="ctr">
                        <a:lnSpc>
                          <a:spcPct val="100000"/>
                        </a:lnSpc>
                        <a:spcBef>
                          <a:spcPts val="0"/>
                        </a:spcBef>
                        <a:spcAft>
                          <a:spcPts val="0"/>
                        </a:spcAft>
                      </a:pPr>
                      <a:r>
                        <a:rPr sz="800" b="0">
                          <a:solidFill>
                            <a:srgbClr val="C9D4E5"/>
                          </a:solidFill>
                          <a:latin typeface="MiSans"/>
                        </a:rPr>
                        <a:t>…</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4"/>
                  </a:ext>
                </a:extLst>
              </a:tr>
              <a:tr h="259080">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5"/>
                  </a:ext>
                </a:extLst>
              </a:tr>
            </a:tbl>
          </a:graphicData>
        </a:graphic>
      </p:graphicFrame>
      <p:sp>
        <p:nvSpPr>
          <p:cNvPr id="19" name="Text 16"/>
          <p:cNvSpPr/>
          <p:nvPr/>
        </p:nvSpPr>
        <p:spPr>
          <a:xfrm>
            <a:off x="4709160" y="178308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SQL QUERY</a:t>
            </a:r>
            <a:endParaRPr lang="en-US" sz="1200" dirty="0"/>
          </a:p>
        </p:txBody>
      </p:sp>
      <p:sp>
        <p:nvSpPr>
          <p:cNvPr id="20" name="Shape 17"/>
          <p:cNvSpPr/>
          <p:nvPr/>
        </p:nvSpPr>
        <p:spPr>
          <a:xfrm>
            <a:off x="4709160" y="2103120"/>
            <a:ext cx="3886200" cy="1143000"/>
          </a:xfrm>
          <a:prstGeom prst="roundRect">
            <a:avLst>
              <a:gd name="adj" fmla="val 64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1" name="Text 18"/>
          <p:cNvSpPr/>
          <p:nvPr/>
        </p:nvSpPr>
        <p:spPr>
          <a:xfrm>
            <a:off x="4910328" y="2249424"/>
            <a:ext cx="3483864" cy="850392"/>
          </a:xfrm>
          <a:prstGeom prst="rect">
            <a:avLst/>
          </a:prstGeom>
          <a:noFill/>
          <a:ln/>
        </p:spPr>
        <p:txBody>
          <a:bodyPr wrap="square" lIns="201168" tIns="201168" rIns="201168" bIns="164592"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gpa,</a:t>
            </a:r>
          </a:p>
          <a:p>
            <a:pPr algn="l">
              <a:lnSpc>
                <a:spcPct val="100000"/>
              </a:lnSpc>
              <a:spcBef>
                <a:spcPts val="0"/>
              </a:spcBef>
              <a:spcAft>
                <a:spcPts val="0"/>
              </a:spcAft>
            </a:pPr>
            <a:r>
              <a:rPr sz="900">
                <a:solidFill>
                  <a:srgbClr val="2F80FF"/>
                </a:solidFill>
                <a:latin typeface="Consolas"/>
              </a:rPr>
              <a:t>    CONVERT(gpa, CHAR) AS "CONVERT GPA",</a:t>
            </a:r>
          </a:p>
          <a:p>
            <a:pPr algn="l">
              <a:lnSpc>
                <a:spcPct val="100000"/>
              </a:lnSpc>
              <a:spcBef>
                <a:spcPts val="0"/>
              </a:spcBef>
              <a:spcAft>
                <a:spcPts val="0"/>
              </a:spcAft>
            </a:pPr>
            <a:r>
              <a:rPr sz="900">
                <a:solidFill>
                  <a:srgbClr val="2F80FF"/>
                </a:solidFill>
                <a:latin typeface="Consolas"/>
              </a:rPr>
              <a:t>    CAST(gpa AS CHAR) AS "CAST GPA"</a:t>
            </a:r>
          </a:p>
          <a:p>
            <a:pPr algn="l">
              <a:lnSpc>
                <a:spcPct val="100000"/>
              </a:lnSpc>
              <a:spcBef>
                <a:spcPts val="0"/>
              </a:spcBef>
              <a:spcAft>
                <a:spcPts val="0"/>
              </a:spcAft>
            </a:pPr>
            <a:r>
              <a:rPr sz="900">
                <a:solidFill>
                  <a:srgbClr val="2F80FF"/>
                </a:solidFill>
                <a:latin typeface="Consolas"/>
              </a:rPr>
              <a:t>FROM students;</a:t>
            </a:r>
          </a:p>
        </p:txBody>
      </p:sp>
      <p:sp>
        <p:nvSpPr>
          <p:cNvPr id="22" name="Text 19"/>
          <p:cNvSpPr/>
          <p:nvPr/>
        </p:nvSpPr>
        <p:spPr>
          <a:xfrm>
            <a:off x="4709160" y="338328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RETURNED RESULT</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09160" y="3703320"/>
          <a:ext cx="3303270" cy="738376"/>
        </p:xfrm>
        <a:graphic>
          <a:graphicData uri="http://schemas.openxmlformats.org/drawingml/2006/table">
            <a:tbl>
              <a:tblPr/>
              <a:tblGrid>
                <a:gridCol w="3303270">
                  <a:extLst>
                    <a:ext uri="{9D8B030D-6E8A-4147-A177-3AD203B41FA5}">
                      <a16:colId xmlns:a16="http://schemas.microsoft.com/office/drawing/2014/main" val="20000"/>
                    </a:ext>
                  </a:extLst>
                </a:gridCol>
              </a:tblGrid>
              <a:tr h="184594">
                <a:tc>
                  <a:txBody>
                    <a:bodyPr anchor="ctr"/>
                    <a:lstStyle/>
                    <a:p>
                      <a:pPr algn="ctr">
                        <a:lnSpc>
                          <a:spcPct val="100000"/>
                        </a:lnSpc>
                        <a:spcBef>
                          <a:spcPts val="0"/>
                        </a:spcBef>
                        <a:spcAft>
                          <a:spcPts val="0"/>
                        </a:spcAft>
                      </a:pPr>
                      <a:r>
                        <a:rPr sz="600" b="1">
                          <a:solidFill>
                            <a:srgbClr val="FFFFFF"/>
                          </a:solidFill>
                          <a:latin typeface="MiSans"/>
                        </a:rPr>
                        <a:t>product_name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184594">
                <a:tc>
                  <a:txBody>
                    <a:bodyPr anchor="ctr"/>
                    <a:lstStyle/>
                    <a:p>
                      <a:pPr algn="ctr">
                        <a:lnSpc>
                          <a:spcPct val="100000"/>
                        </a:lnSpc>
                        <a:spcBef>
                          <a:spcPts val="0"/>
                        </a:spcBef>
                        <a:spcAft>
                          <a:spcPts val="0"/>
                        </a:spcAft>
                      </a:pPr>
                      <a:r>
                        <a:rPr sz="600" b="0">
                          <a:solidFill>
                            <a:srgbClr val="C9D4E5"/>
                          </a:solidFill>
                          <a:latin typeface="MiSans"/>
                        </a:rPr>
                        <a:t>Wireless Mouse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184594">
                <a:tc>
                  <a:txBody>
                    <a:bodyPr anchor="ctr"/>
                    <a:lstStyle/>
                    <a:p>
                      <a:pPr algn="ctr">
                        <a:lnSpc>
                          <a:spcPct val="100000"/>
                        </a:lnSpc>
                        <a:spcBef>
                          <a:spcPts val="0"/>
                        </a:spcBef>
                        <a:spcAft>
                          <a:spcPts val="0"/>
                        </a:spcAft>
                      </a:pPr>
                      <a:r>
                        <a:rPr sz="600" b="0">
                          <a:solidFill>
                            <a:srgbClr val="C9D4E5"/>
                          </a:solidFill>
                          <a:latin typeface="MiSans"/>
                        </a:rPr>
                        <a:t>USB Keyboard</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184594">
                <a:tc>
                  <a:txBody>
                    <a:bodyPr anchor="ctr"/>
                    <a:lstStyle/>
                    <a:p>
                      <a:pPr algn="ctr">
                        <a:lnSpc>
                          <a:spcPct val="100000"/>
                        </a:lnSpc>
                        <a:spcBef>
                          <a:spcPts val="0"/>
                        </a:spcBef>
                        <a:spcAft>
                          <a:spcPts val="0"/>
                        </a:spcAft>
                      </a:pPr>
                      <a:r>
                        <a:rPr sz="600" b="0">
                          <a:solidFill>
                            <a:srgbClr val="C9D4E5"/>
                          </a:solidFill>
                          <a:latin typeface="MiSans"/>
                        </a:rPr>
                        <a:t>Office Chair</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5" name="Text 21"/>
          <p:cNvSpPr/>
          <p:nvPr/>
        </p:nvSpPr>
        <p:spPr>
          <a:xfrm>
            <a:off x="457200" y="4777740"/>
            <a:ext cx="45720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SQL MASTER  ·  SQL-075: CONVERT()</a:t>
            </a:r>
          </a:p>
        </p:txBody>
      </p:sp>
      <p:sp>
        <p:nvSpPr>
          <p:cNvPr id="26" name="Text 22"/>
          <p:cNvSpPr/>
          <p:nvPr/>
        </p:nvSpPr>
        <p:spPr>
          <a:xfrm>
            <a:off x="7772400" y="4777740"/>
            <a:ext cx="9144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03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2800" b="1" i="0">
                <a:solidFill>
                  <a:srgbClr val="FFFFFF"/>
                </a:solidFill>
                <a:latin typeface="MiSans"/>
              </a:rPr>
              <a:t>CONVERT() in Action</a:t>
            </a:r>
          </a:p>
        </p:txBody>
      </p:sp>
      <p:sp>
        <p:nvSpPr>
          <p:cNvPr id="3" name="Text 1"/>
          <p:cNvSpPr/>
          <p:nvPr/>
        </p:nvSpPr>
        <p:spPr>
          <a:xfrm>
            <a:off x="57023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SYNTAX</a:t>
            </a:r>
            <a:endParaRPr lang="en-US" sz="1200" dirty="0"/>
          </a:p>
        </p:txBody>
      </p:sp>
      <p:sp>
        <p:nvSpPr>
          <p:cNvPr id="4" name="Shape 2"/>
          <p:cNvSpPr/>
          <p:nvPr/>
        </p:nvSpPr>
        <p:spPr>
          <a:xfrm>
            <a:off x="548640" y="1371600"/>
            <a:ext cx="3794760" cy="1005840"/>
          </a:xfrm>
          <a:prstGeom prst="roundRect">
            <a:avLst>
              <a:gd name="adj" fmla="val 80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517904"/>
            <a:ext cx="3346704" cy="621792"/>
          </a:xfrm>
          <a:prstGeom prst="rect">
            <a:avLst/>
          </a:prstGeom>
          <a:noFill/>
          <a:ln/>
        </p:spPr>
        <p:txBody>
          <a:bodyPr wrap="square" lIns="201168" tIns="201168" rIns="201168" bIns="164592"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column_name</a:t>
            </a:r>
          </a:p>
          <a:p>
            <a:pPr algn="l">
              <a:lnSpc>
                <a:spcPct val="100000"/>
              </a:lnSpc>
              <a:spcBef>
                <a:spcPts val="0"/>
              </a:spcBef>
              <a:spcAft>
                <a:spcPts val="0"/>
              </a:spcAft>
            </a:pPr>
            <a:r>
              <a:rPr sz="900">
                <a:solidFill>
                  <a:srgbClr val="2F80FF"/>
                </a:solidFill>
                <a:latin typeface="Consolas"/>
              </a:rPr>
              <a:t>FROM students</a:t>
            </a:r>
          </a:p>
          <a:p>
            <a:pPr algn="l">
              <a:lnSpc>
                <a:spcPct val="100000"/>
              </a:lnSpc>
              <a:spcBef>
                <a:spcPts val="0"/>
              </a:spcBef>
              <a:spcAft>
                <a:spcPts val="0"/>
              </a:spcAft>
            </a:pPr>
            <a:r>
              <a:rPr sz="900">
                <a:solidFill>
                  <a:srgbClr val="2F80FF"/>
                </a:solidFill>
                <a:latin typeface="Consolas"/>
              </a:rPr>
              <a:t>WHERE condition;</a:t>
            </a:r>
          </a:p>
        </p:txBody>
      </p:sp>
      <p:sp>
        <p:nvSpPr>
          <p:cNvPr id="6" name="Text 4"/>
          <p:cNvSpPr/>
          <p:nvPr/>
        </p:nvSpPr>
        <p:spPr>
          <a:xfrm>
            <a:off x="548640" y="2423160"/>
            <a:ext cx="3749040" cy="274320"/>
          </a:xfrm>
          <a:prstGeom prst="rect">
            <a:avLst/>
          </a:prstGeom>
          <a:noFill/>
          <a:ln/>
        </p:spPr>
        <p:txBody>
          <a:bodyPr wrap="square" lIns="0" tIns="0" rIns="0" bIns="0" rtlCol="0" anchor="ctr"/>
          <a:lstStyle/>
          <a:p>
            <a:pPr marL="0" indent="0" algn="l">
              <a:buNone/>
            </a:pPr>
            <a:r>
              <a:rPr lang="en-US" sz="1200" b="1" kern="0" spc="150" dirty="0">
                <a:solidFill>
                  <a:srgbClr val="FACC15"/>
                </a:solidFill>
                <a:latin typeface="Inter" pitchFamily="34" charset="0"/>
                <a:ea typeface="Inter" pitchFamily="34" charset="-122"/>
                <a:cs typeface="Inter" pitchFamily="34" charset="-120"/>
              </a:rPr>
              <a:t>BUSINESS SCENARIO</a:t>
            </a:r>
            <a:endParaRPr lang="en-US" sz="1200" dirty="0"/>
          </a:p>
        </p:txBody>
      </p:sp>
      <p:sp>
        <p:nvSpPr>
          <p:cNvPr id="7" name="Shape 5"/>
          <p:cNvSpPr/>
          <p:nvPr/>
        </p:nvSpPr>
        <p:spPr>
          <a:xfrm>
            <a:off x="548640" y="2743200"/>
            <a:ext cx="3749040" cy="1051560"/>
          </a:xfrm>
          <a:prstGeom prst="roundRect">
            <a:avLst>
              <a:gd name="adj" fmla="val 6957"/>
            </a:avLst>
          </a:prstGeom>
          <a:solidFill>
            <a:srgbClr val="1F1A0D"/>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8" name="Text 6"/>
          <p:cNvSpPr/>
          <p:nvPr/>
        </p:nvSpPr>
        <p:spPr>
          <a:xfrm>
            <a:off x="749808" y="2889504"/>
            <a:ext cx="3346704" cy="77724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500" b="0" i="0">
                <a:solidFill>
                  <a:srgbClr val="C9D4E5"/>
                </a:solidFill>
                <a:latin typeface="MiSans"/>
              </a:rPr>
              <a:t>CONVERT values</a:t>
            </a:r>
          </a:p>
        </p:txBody>
      </p:sp>
      <p:sp>
        <p:nvSpPr>
          <p:cNvPr id="9" name="Text 7"/>
          <p:cNvSpPr/>
          <p:nvPr/>
        </p:nvSpPr>
        <p:spPr>
          <a:xfrm>
            <a:off x="4709160" y="100584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EXAMPLE QUERY</a:t>
            </a:r>
            <a:endParaRPr lang="en-US" sz="1200" dirty="0"/>
          </a:p>
        </p:txBody>
      </p:sp>
      <p:sp>
        <p:nvSpPr>
          <p:cNvPr id="10" name="Shape 8"/>
          <p:cNvSpPr/>
          <p:nvPr/>
        </p:nvSpPr>
        <p:spPr>
          <a:xfrm>
            <a:off x="4709160" y="1303020"/>
            <a:ext cx="3977640" cy="1394460"/>
          </a:xfrm>
          <a:prstGeom prst="roundRect">
            <a:avLst>
              <a:gd name="adj" fmla="val 615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1" name="Text 9"/>
          <p:cNvSpPr/>
          <p:nvPr/>
        </p:nvSpPr>
        <p:spPr>
          <a:xfrm>
            <a:off x="4910328" y="1517904"/>
            <a:ext cx="3483864" cy="896112"/>
          </a:xfrm>
          <a:prstGeom prst="rect">
            <a:avLst/>
          </a:prstGeom>
          <a:noFill/>
          <a:ln/>
        </p:spPr>
        <p:txBody>
          <a:bodyPr wrap="square" lIns="201168" tIns="201168" rIns="201168" bIns="164592"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gpa,</a:t>
            </a:r>
          </a:p>
          <a:p>
            <a:pPr algn="l">
              <a:lnSpc>
                <a:spcPct val="100000"/>
              </a:lnSpc>
              <a:spcBef>
                <a:spcPts val="0"/>
              </a:spcBef>
              <a:spcAft>
                <a:spcPts val="0"/>
              </a:spcAft>
            </a:pPr>
            <a:r>
              <a:rPr sz="900">
                <a:solidFill>
                  <a:srgbClr val="2F80FF"/>
                </a:solidFill>
                <a:latin typeface="Consolas"/>
              </a:rPr>
              <a:t>    CONVERT(gpa, CHAR) AS "CONVERT GPA",</a:t>
            </a:r>
          </a:p>
          <a:p>
            <a:pPr algn="l">
              <a:lnSpc>
                <a:spcPct val="100000"/>
              </a:lnSpc>
              <a:spcBef>
                <a:spcPts val="0"/>
              </a:spcBef>
              <a:spcAft>
                <a:spcPts val="0"/>
              </a:spcAft>
            </a:pPr>
            <a:r>
              <a:rPr sz="900">
                <a:solidFill>
                  <a:srgbClr val="2F80FF"/>
                </a:solidFill>
                <a:latin typeface="Consolas"/>
              </a:rPr>
              <a:t>    CAST(gpa AS CHAR) AS "CAST GPA"</a:t>
            </a:r>
          </a:p>
          <a:p>
            <a:pPr algn="l">
              <a:lnSpc>
                <a:spcPct val="100000"/>
              </a:lnSpc>
              <a:spcBef>
                <a:spcPts val="0"/>
              </a:spcBef>
              <a:spcAft>
                <a:spcPts val="0"/>
              </a:spcAft>
            </a:pPr>
            <a:r>
              <a:rPr sz="900">
                <a:solidFill>
                  <a:srgbClr val="2F80FF"/>
                </a:solidFill>
                <a:latin typeface="Consolas"/>
              </a:rPr>
              <a:t>FROM students;</a:t>
            </a:r>
          </a:p>
        </p:txBody>
      </p:sp>
      <p:sp>
        <p:nvSpPr>
          <p:cNvPr id="12" name="Text 10"/>
          <p:cNvSpPr/>
          <p:nvPr/>
        </p:nvSpPr>
        <p:spPr>
          <a:xfrm>
            <a:off x="4709160" y="274320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EXPECTED RESULT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09160" y="3063240"/>
          <a:ext cx="3303270" cy="854964"/>
        </p:xfrm>
        <a:graphic>
          <a:graphicData uri="http://schemas.openxmlformats.org/drawingml/2006/table">
            <a:tbl>
              <a:tblPr/>
              <a:tblGrid>
                <a:gridCol w="893826">
                  <a:extLst>
                    <a:ext uri="{9D8B030D-6E8A-4147-A177-3AD203B41FA5}">
                      <a16:colId xmlns:a16="http://schemas.microsoft.com/office/drawing/2014/main" val="20000"/>
                    </a:ext>
                  </a:extLst>
                </a:gridCol>
                <a:gridCol w="1437894">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tblGrid>
              <a:tr h="213741">
                <a:tc>
                  <a:txBody>
                    <a:bodyPr anchor="ctr"/>
                    <a:lstStyle/>
                    <a:p>
                      <a:pPr algn="ctr">
                        <a:lnSpc>
                          <a:spcPct val="100000"/>
                        </a:lnSpc>
                        <a:spcBef>
                          <a:spcPts val="0"/>
                        </a:spcBef>
                        <a:spcAft>
                          <a:spcPts val="0"/>
                        </a:spcAft>
                      </a:pPr>
                      <a:r>
                        <a:rPr sz="1300" b="1">
                          <a:solidFill>
                            <a:srgbClr val="FFFFFF"/>
                          </a:solidFill>
                          <a:latin typeface="MiSans"/>
                        </a:rPr>
                        <a:t>product_name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13741">
                <a:tc>
                  <a:txBody>
                    <a:bodyPr anchor="ctr"/>
                    <a:lstStyle/>
                    <a:p>
                      <a:pPr algn="ctr">
                        <a:lnSpc>
                          <a:spcPct val="100000"/>
                        </a:lnSpc>
                        <a:spcBef>
                          <a:spcPts val="0"/>
                        </a:spcBef>
                        <a:spcAft>
                          <a:spcPts val="0"/>
                        </a:spcAft>
                      </a:pPr>
                      <a:r>
                        <a:rPr sz="1200" b="0">
                          <a:solidFill>
                            <a:srgbClr val="C9D4E5"/>
                          </a:solidFill>
                          <a:latin typeface="MiSans"/>
                        </a:rPr>
                        <a:t>Wireless Mouse</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13741">
                <a:tc>
                  <a:txBody>
                    <a:bodyPr anchor="ctr"/>
                    <a:lstStyle/>
                    <a:p>
                      <a:pPr algn="ctr">
                        <a:lnSpc>
                          <a:spcPct val="100000"/>
                        </a:lnSpc>
                        <a:spcBef>
                          <a:spcPts val="0"/>
                        </a:spcBef>
                        <a:spcAft>
                          <a:spcPts val="0"/>
                        </a:spcAft>
                      </a:pPr>
                      <a:r>
                        <a:rPr sz="1200" b="0">
                          <a:solidFill>
                            <a:srgbClr val="C9D4E5"/>
                          </a:solidFill>
                          <a:latin typeface="MiSans"/>
                        </a:rPr>
                        <a:t>USB Keyboard</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13741">
                <a:tc>
                  <a:txBody>
                    <a:bodyPr anchor="ctr"/>
                    <a:lstStyle/>
                    <a:p>
                      <a:pPr algn="ctr">
                        <a:lnSpc>
                          <a:spcPct val="100000"/>
                        </a:lnSpc>
                        <a:spcBef>
                          <a:spcPts val="0"/>
                        </a:spcBef>
                        <a:spcAft>
                          <a:spcPts val="0"/>
                        </a:spcAft>
                      </a:pPr>
                      <a:r>
                        <a:rPr sz="1200" b="0">
                          <a:solidFill>
                            <a:srgbClr val="C9D4E5"/>
                          </a:solidFill>
                          <a:latin typeface="MiSans"/>
                        </a:rPr>
                        <a:t>Office Chair</a:t>
                      </a: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109728" marR="109728" marT="109728" marB="91440">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2" name="Text 19"/>
          <p:cNvSpPr/>
          <p:nvPr/>
        </p:nvSpPr>
        <p:spPr>
          <a:xfrm>
            <a:off x="158750" y="4873244"/>
            <a:ext cx="45720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SQL MASTER  ·  SQL-075: CONVERT()</a:t>
            </a:r>
          </a:p>
        </p:txBody>
      </p:sp>
      <p:sp>
        <p:nvSpPr>
          <p:cNvPr id="23" name="Text 20"/>
          <p:cNvSpPr/>
          <p:nvPr/>
        </p:nvSpPr>
        <p:spPr>
          <a:xfrm>
            <a:off x="8020050" y="4859020"/>
            <a:ext cx="9144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04 / 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046720" cy="502920"/>
          </a:xfrm>
          <a:prstGeom prst="rect">
            <a:avLst/>
          </a:prstGeom>
          <a:noFill/>
        </p:spPr>
        <p:txBody>
          <a:bodyPr wrap="none" lIns="0" tIns="0">
            <a:spAutoFit/>
          </a:bodyPr>
          <a:lstStyle/>
          <a:p>
            <a:pPr algn="l"/>
            <a:r>
              <a:rPr sz="2800" b="1">
                <a:solidFill>
                  <a:srgbClr val="FFFFFF"/>
                </a:solidFill>
                <a:latin typeface="MiSans"/>
              </a:rPr>
              <a:t>Common Mistakes &amp; Best Practices</a:t>
            </a:r>
          </a:p>
        </p:txBody>
      </p:sp>
      <p:sp>
        <p:nvSpPr>
          <p:cNvPr id="3" name="TextBox 2"/>
          <p:cNvSpPr txBox="1"/>
          <p:nvPr/>
        </p:nvSpPr>
        <p:spPr>
          <a:xfrm>
            <a:off x="54864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FF5C5C"/>
                </a:solidFill>
                <a:latin typeface="MiSans"/>
              </a:rPr>
              <a:t>MISTAKES</a:t>
            </a:r>
          </a:p>
          <a:p>
            <a:pPr>
              <a:lnSpc>
                <a:spcPct val="115000"/>
              </a:lnSpc>
              <a:spcBef>
                <a:spcPts val="0"/>
              </a:spcBef>
              <a:spcAft>
                <a:spcPts val="800"/>
              </a:spcAft>
            </a:pPr>
            <a:r>
              <a:rPr sz="1100" b="0">
                <a:solidFill>
                  <a:srgbClr val="C9D4E5"/>
                </a:solidFill>
                <a:latin typeface="MiSans"/>
              </a:rPr>
              <a:t>•  Forgetting to filter data correctly.</a:t>
            </a:r>
          </a:p>
          <a:p>
            <a:pPr>
              <a:lnSpc>
                <a:spcPct val="115000"/>
              </a:lnSpc>
              <a:spcBef>
                <a:spcPts val="0"/>
              </a:spcBef>
              <a:spcAft>
                <a:spcPts val="800"/>
              </a:spcAft>
            </a:pPr>
            <a:r>
              <a:rPr sz="1100" b="0">
                <a:solidFill>
                  <a:srgbClr val="C9D4E5"/>
                </a:solidFill>
                <a:latin typeface="MiSans"/>
              </a:rPr>
              <a:t>•  Using the wrong clause for the task.</a:t>
            </a:r>
          </a:p>
          <a:p>
            <a:pPr>
              <a:lnSpc>
                <a:spcPct val="115000"/>
              </a:lnSpc>
              <a:spcBef>
                <a:spcPts val="0"/>
              </a:spcBef>
              <a:spcAft>
                <a:spcPts val="2400"/>
              </a:spcAft>
            </a:pPr>
            <a:r>
              <a:rPr sz="1100" b="0">
                <a:solidFill>
                  <a:srgbClr val="C9D4E5"/>
                </a:solidFill>
                <a:latin typeface="MiSans"/>
              </a:rPr>
              <a:t>•  Ignoring query readability.</a:t>
            </a:r>
          </a:p>
          <a:p>
            <a:pPr>
              <a:spcBef>
                <a:spcPts val="0"/>
              </a:spcBef>
              <a:spcAft>
                <a:spcPts val="800"/>
              </a:spcAft>
            </a:pPr>
            <a:r>
              <a:rPr sz="1500" b="1">
                <a:solidFill>
                  <a:srgbClr val="FF5C5C"/>
                </a:solidFill>
                <a:latin typeface="MiSans"/>
              </a:rPr>
              <a:t>MESSY SQL</a:t>
            </a:r>
          </a:p>
          <a:p>
            <a:pPr>
              <a:lnSpc>
                <a:spcPct val="115000"/>
              </a:lnSpc>
              <a:spcBef>
                <a:spcPts val="0"/>
              </a:spcBef>
              <a:spcAft>
                <a:spcPts val="800"/>
              </a:spcAft>
            </a:pPr>
            <a:r>
              <a:rPr sz="1100" b="0">
                <a:solidFill>
                  <a:srgbClr val="C9D4E5"/>
                </a:solidFill>
                <a:latin typeface="MiSans"/>
              </a:rPr>
              <a:t>•  Poor formatting and layout.</a:t>
            </a:r>
          </a:p>
          <a:p>
            <a:pPr>
              <a:lnSpc>
                <a:spcPct val="115000"/>
              </a:lnSpc>
              <a:spcBef>
                <a:spcPts val="0"/>
              </a:spcBef>
              <a:spcAft>
                <a:spcPts val="800"/>
              </a:spcAft>
            </a:pPr>
            <a:r>
              <a:rPr sz="1100" b="0">
                <a:solidFill>
                  <a:srgbClr val="C9D4E5"/>
                </a:solidFill>
                <a:latin typeface="MiSans"/>
              </a:rPr>
              <a:t>•  Inconsistent naming conventions.</a:t>
            </a:r>
          </a:p>
          <a:p>
            <a:pPr>
              <a:lnSpc>
                <a:spcPct val="115000"/>
              </a:lnSpc>
              <a:spcBef>
                <a:spcPts val="0"/>
              </a:spcBef>
              <a:spcAft>
                <a:spcPts val="800"/>
              </a:spcAft>
            </a:pPr>
            <a:r>
              <a:rPr sz="1100" b="0">
                <a:solidFill>
                  <a:srgbClr val="C9D4E5"/>
                </a:solidFill>
                <a:latin typeface="MiSans"/>
              </a:rPr>
              <a:t>•  Difficult to maintain over time.</a:t>
            </a:r>
          </a:p>
        </p:txBody>
      </p:sp>
      <p:sp>
        <p:nvSpPr>
          <p:cNvPr id="4" name="TextBox 3"/>
          <p:cNvSpPr txBox="1"/>
          <p:nvPr/>
        </p:nvSpPr>
        <p:spPr>
          <a:xfrm>
            <a:off x="484632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2ECC71"/>
                </a:solidFill>
                <a:latin typeface="MiSans"/>
              </a:rPr>
              <a:t>BEST PRACTICES</a:t>
            </a:r>
          </a:p>
          <a:p>
            <a:pPr>
              <a:lnSpc>
                <a:spcPct val="115000"/>
              </a:lnSpc>
              <a:spcBef>
                <a:spcPts val="0"/>
              </a:spcBef>
              <a:spcAft>
                <a:spcPts val="800"/>
              </a:spcAft>
            </a:pPr>
            <a:r>
              <a:rPr sz="1100" b="0">
                <a:solidFill>
                  <a:srgbClr val="C9D4E5"/>
                </a:solidFill>
                <a:latin typeface="MiSans"/>
              </a:rPr>
              <a:t>•  Write clear and readable queries.</a:t>
            </a:r>
          </a:p>
          <a:p>
            <a:pPr>
              <a:lnSpc>
                <a:spcPct val="115000"/>
              </a:lnSpc>
              <a:spcBef>
                <a:spcPts val="0"/>
              </a:spcBef>
              <a:spcAft>
                <a:spcPts val="800"/>
              </a:spcAft>
            </a:pPr>
            <a:r>
              <a:rPr sz="1100" b="0">
                <a:solidFill>
                  <a:srgbClr val="C9D4E5"/>
                </a:solidFill>
                <a:latin typeface="MiSans"/>
              </a:rPr>
              <a:t>•  Follow SQL best practices.</a:t>
            </a:r>
          </a:p>
          <a:p>
            <a:pPr>
              <a:lnSpc>
                <a:spcPct val="115000"/>
              </a:lnSpc>
              <a:spcBef>
                <a:spcPts val="0"/>
              </a:spcBef>
              <a:spcAft>
                <a:spcPts val="2400"/>
              </a:spcAft>
            </a:pPr>
            <a:r>
              <a:rPr sz="1100" b="0">
                <a:solidFill>
                  <a:srgbClr val="C9D4E5"/>
                </a:solidFill>
                <a:latin typeface="MiSans"/>
              </a:rPr>
              <a:t>•  Validate results before execution.</a:t>
            </a:r>
          </a:p>
          <a:p>
            <a:pPr>
              <a:spcBef>
                <a:spcPts val="0"/>
              </a:spcBef>
              <a:spcAft>
                <a:spcPts val="800"/>
              </a:spcAft>
            </a:pPr>
            <a:r>
              <a:rPr sz="1500" b="1">
                <a:solidFill>
                  <a:srgbClr val="2ECC71"/>
                </a:solidFill>
                <a:latin typeface="MiSans"/>
              </a:rPr>
              <a:t>CLEAN SQL</a:t>
            </a:r>
          </a:p>
          <a:p>
            <a:pPr>
              <a:lnSpc>
                <a:spcPct val="115000"/>
              </a:lnSpc>
              <a:spcBef>
                <a:spcPts val="0"/>
              </a:spcBef>
              <a:spcAft>
                <a:spcPts val="800"/>
              </a:spcAft>
            </a:pPr>
            <a:r>
              <a:rPr sz="1100" b="0">
                <a:solidFill>
                  <a:srgbClr val="C9D4E5"/>
                </a:solidFill>
                <a:latin typeface="MiSans"/>
              </a:rPr>
              <a:t>•  Proper indentation and layout.</a:t>
            </a:r>
          </a:p>
          <a:p>
            <a:pPr>
              <a:lnSpc>
                <a:spcPct val="115000"/>
              </a:lnSpc>
              <a:spcBef>
                <a:spcPts val="0"/>
              </a:spcBef>
              <a:spcAft>
                <a:spcPts val="800"/>
              </a:spcAft>
            </a:pPr>
            <a:r>
              <a:rPr sz="1100" b="0">
                <a:solidFill>
                  <a:srgbClr val="C9D4E5"/>
                </a:solidFill>
                <a:latin typeface="MiSans"/>
              </a:rPr>
              <a:t>•  Meaningful aliases and naming.</a:t>
            </a:r>
          </a:p>
          <a:p>
            <a:pPr>
              <a:lnSpc>
                <a:spcPct val="115000"/>
              </a:lnSpc>
              <a:spcBef>
                <a:spcPts val="0"/>
              </a:spcBef>
              <a:spcAft>
                <a:spcPts val="800"/>
              </a:spcAft>
            </a:pPr>
            <a:r>
              <a:rPr sz="1100" b="0">
                <a:solidFill>
                  <a:srgbClr val="C9D4E5"/>
                </a:solidFill>
                <a:latin typeface="MiSans"/>
              </a:rPr>
              <a:t>•  Consistent formatting rules.</a:t>
            </a:r>
          </a:p>
        </p:txBody>
      </p:sp>
      <p:sp>
        <p:nvSpPr>
          <p:cNvPr id="5" name="TextBox 4"/>
          <p:cNvSpPr txBox="1"/>
          <p:nvPr/>
        </p:nvSpPr>
        <p:spPr>
          <a:xfrm>
            <a:off x="548640" y="4709160"/>
            <a:ext cx="5486400" cy="274320"/>
          </a:xfrm>
          <a:prstGeom prst="rect">
            <a:avLst/>
          </a:prstGeom>
          <a:noFill/>
        </p:spPr>
        <p:txBody>
          <a:bodyPr wrap="none" lIns="0" tIns="0">
            <a:spAutoFit/>
          </a:bodyPr>
          <a:lstStyle/>
          <a:p>
            <a:pPr algn="l"/>
            <a:r>
              <a:rPr sz="800">
                <a:solidFill>
                  <a:srgbClr val="8AA0BF"/>
                </a:solidFill>
                <a:latin typeface="MiSans"/>
              </a:rPr>
              <a:t>SQL MASTER  ·  SQL-075: CONVERT()</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05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2800" b="1" i="0">
                <a:solidFill>
                  <a:srgbClr val="FFFFFF"/>
                </a:solidFill>
                <a:latin typeface="MiSans"/>
              </a:rPr>
              <a:t>Key Takeaways &amp; Your Challenge</a:t>
            </a:r>
          </a:p>
        </p:txBody>
      </p:sp>
      <p:sp>
        <p:nvSpPr>
          <p:cNvPr id="3" name="Text 1"/>
          <p:cNvSpPr/>
          <p:nvPr/>
        </p:nvSpPr>
        <p:spPr>
          <a:xfrm>
            <a:off x="54864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KEY TAKEAWAYS</a:t>
            </a:r>
            <a:endParaRPr lang="en-US" sz="1200" dirty="0"/>
          </a:p>
        </p:txBody>
      </p:sp>
      <p:sp>
        <p:nvSpPr>
          <p:cNvPr id="4" name="Shape 2"/>
          <p:cNvSpPr/>
          <p:nvPr/>
        </p:nvSpPr>
        <p:spPr>
          <a:xfrm>
            <a:off x="548640" y="1325880"/>
            <a:ext cx="3749040" cy="1874520"/>
          </a:xfrm>
          <a:prstGeom prst="roundRect">
            <a:avLst>
              <a:gd name="adj" fmla="val 3902"/>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481328"/>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6" name="Text 4"/>
          <p:cNvSpPr/>
          <p:nvPr/>
        </p:nvSpPr>
        <p:spPr>
          <a:xfrm>
            <a:off x="1024128" y="1481328"/>
            <a:ext cx="3108960" cy="384048"/>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500" b="0" i="0">
                <a:solidFill>
                  <a:srgbClr val="C9D4E5"/>
                </a:solidFill>
                <a:latin typeface="MiSans"/>
              </a:rPr>
              <a:t>CONVERT is a core component of SQL query structure.</a:t>
            </a:r>
          </a:p>
        </p:txBody>
      </p:sp>
      <p:sp>
        <p:nvSpPr>
          <p:cNvPr id="7" name="Text 5"/>
          <p:cNvSpPr/>
          <p:nvPr/>
        </p:nvSpPr>
        <p:spPr>
          <a:xfrm>
            <a:off x="749808" y="1901952"/>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8" name="Text 6"/>
          <p:cNvSpPr/>
          <p:nvPr/>
        </p:nvSpPr>
        <p:spPr>
          <a:xfrm>
            <a:off x="1024128" y="1901952"/>
            <a:ext cx="3108960" cy="384048"/>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500" b="0" i="0">
                <a:solidFill>
                  <a:srgbClr val="C9D4E5"/>
                </a:solidFill>
                <a:latin typeface="MiSans"/>
              </a:rPr>
              <a:t>It helps optimize data retrieval and organization.</a:t>
            </a:r>
          </a:p>
        </p:txBody>
      </p:sp>
      <p:sp>
        <p:nvSpPr>
          <p:cNvPr id="9" name="Text 7"/>
          <p:cNvSpPr/>
          <p:nvPr/>
        </p:nvSpPr>
        <p:spPr>
          <a:xfrm>
            <a:off x="749808" y="2322576"/>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0" name="Text 8"/>
          <p:cNvSpPr/>
          <p:nvPr/>
        </p:nvSpPr>
        <p:spPr>
          <a:xfrm>
            <a:off x="1024128" y="2322576"/>
            <a:ext cx="3108960" cy="384048"/>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500" b="0" i="0">
                <a:solidFill>
                  <a:srgbClr val="C9D4E5"/>
                </a:solidFill>
                <a:latin typeface="MiSans"/>
              </a:rPr>
              <a:t>Use it to satisfy specific business scenario criteria.</a:t>
            </a:r>
          </a:p>
        </p:txBody>
      </p:sp>
      <p:sp>
        <p:nvSpPr>
          <p:cNvPr id="11" name="Text 9"/>
          <p:cNvSpPr/>
          <p:nvPr/>
        </p:nvSpPr>
        <p:spPr>
          <a:xfrm>
            <a:off x="749808" y="2743200"/>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2" name="Text 10"/>
          <p:cNvSpPr/>
          <p:nvPr/>
        </p:nvSpPr>
        <p:spPr>
          <a:xfrm>
            <a:off x="1024128" y="2743200"/>
            <a:ext cx="3108960" cy="384048"/>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500" b="0" i="0">
                <a:solidFill>
                  <a:srgbClr val="C9D4E5"/>
                </a:solidFill>
                <a:latin typeface="MiSans"/>
              </a:rPr>
              <a:t>Combine with other clauses for advanced calculations.</a:t>
            </a:r>
          </a:p>
        </p:txBody>
      </p:sp>
      <p:sp>
        <p:nvSpPr>
          <p:cNvPr id="19" name="Text 17"/>
          <p:cNvSpPr/>
          <p:nvPr/>
        </p:nvSpPr>
        <p:spPr>
          <a:xfrm>
            <a:off x="4846320" y="1005840"/>
            <a:ext cx="3749040" cy="274320"/>
          </a:xfrm>
          <a:prstGeom prst="rect">
            <a:avLst/>
          </a:prstGeom>
          <a:noFill/>
          <a:ln/>
        </p:spPr>
        <p:txBody>
          <a:bodyPr wrap="square" lIns="0" tIns="0" rIns="0" bIns="0" rtlCol="0" anchor="ctr"/>
          <a:lstStyle/>
          <a:p>
            <a:pPr marL="0" indent="0" algn="l">
              <a:buNone/>
            </a:pPr>
            <a:r>
              <a:rPr lang="en-US" sz="1050" b="1" kern="0" spc="150" dirty="0">
                <a:solidFill>
                  <a:srgbClr val="3B82F6"/>
                </a:solidFill>
                <a:latin typeface="Inter" pitchFamily="34" charset="0"/>
                <a:ea typeface="Inter" pitchFamily="34" charset="-122"/>
                <a:cs typeface="Inter" pitchFamily="34" charset="-120"/>
              </a:rPr>
              <a:t>CONTINUE LEARNING</a:t>
            </a:r>
            <a:endParaRPr lang="en-US" sz="1200" dirty="0"/>
          </a:p>
        </p:txBody>
      </p:sp>
      <p:sp>
        <p:nvSpPr>
          <p:cNvPr id="21" name="Text 19"/>
          <p:cNvSpPr/>
          <p:nvPr/>
        </p:nvSpPr>
        <p:spPr>
          <a:xfrm>
            <a:off x="5102352" y="1325880"/>
            <a:ext cx="3291840" cy="2743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050" b="0" i="0">
                <a:solidFill>
                  <a:srgbClr val="C9D4E5"/>
                </a:solidFill>
                <a:latin typeface="MiSans"/>
              </a:rPr>
              <a:t>Practice on DB Fiddle</a:t>
            </a:r>
          </a:p>
        </p:txBody>
      </p:sp>
      <p:sp>
        <p:nvSpPr>
          <p:cNvPr id="23" name="Text 21"/>
          <p:cNvSpPr/>
          <p:nvPr/>
        </p:nvSpPr>
        <p:spPr>
          <a:xfrm>
            <a:off x="5102352" y="1655064"/>
            <a:ext cx="3291840" cy="274320"/>
          </a:xfrm>
          <a:prstGeom prst="rect">
            <a:avLst/>
          </a:prstGeom>
          <a:noFill/>
          <a:ln/>
        </p:spPr>
        <p:txBody>
          <a:bodyPr wrap="square" lIns="164592" tIns="164592" rIns="164592" bIns="137160" rtlCol="0" anchor="ctr"/>
          <a:lstStyle/>
          <a:p>
            <a:pPr algn="l">
              <a:lnSpc>
                <a:spcPct val="115000"/>
              </a:lnSpc>
              <a:spcBef>
                <a:spcPts val="0"/>
              </a:spcBef>
              <a:spcAft>
                <a:spcPts val="0"/>
              </a:spcAft>
            </a:pPr>
            <a:r>
              <a:rPr sz="1050" b="0" i="0">
                <a:solidFill>
                  <a:srgbClr val="C9D4E5"/>
                </a:solidFill>
                <a:latin typeface="MiSans"/>
              </a:rPr>
              <a:t>View Solution on GitHub</a:t>
            </a:r>
          </a:p>
        </p:txBody>
      </p:sp>
      <p:sp>
        <p:nvSpPr>
          <p:cNvPr id="26" name="Text 24"/>
          <p:cNvSpPr/>
          <p:nvPr/>
        </p:nvSpPr>
        <p:spPr>
          <a:xfrm>
            <a:off x="457200" y="4777740"/>
            <a:ext cx="45720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SQL MASTER  ·  SQL-075: CONVERT()</a:t>
            </a:r>
          </a:p>
        </p:txBody>
      </p:sp>
      <p:sp>
        <p:nvSpPr>
          <p:cNvPr id="27" name="Text 25"/>
          <p:cNvSpPr/>
          <p:nvPr/>
        </p:nvSpPr>
        <p:spPr>
          <a:xfrm>
            <a:off x="7772400" y="4777740"/>
            <a:ext cx="914400" cy="274320"/>
          </a:xfrm>
          <a:prstGeom prst="rect">
            <a:avLst/>
          </a:prstGeom>
          <a:noFill/>
          <a:ln/>
        </p:spPr>
        <p:txBody>
          <a:bodyPr wrap="square" lIns="164592" tIns="164592" rIns="164592" bIns="137160" rtlCol="0" anchor="ctr"/>
          <a:lstStyle/>
          <a:p>
            <a:pPr algn="ctr">
              <a:lnSpc>
                <a:spcPct val="115000"/>
              </a:lnSpc>
              <a:spcBef>
                <a:spcPts val="0"/>
              </a:spcBef>
              <a:spcAft>
                <a:spcPts val="0"/>
              </a:spcAft>
            </a:pPr>
            <a:r>
              <a:rPr sz="800" b="0" i="0">
                <a:solidFill>
                  <a:srgbClr val="8AA0BF"/>
                </a:solidFill>
                <a:latin typeface="MiSans"/>
              </a:rPr>
              <a:t>06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526"/>
        </a:solidFill>
        <a:effectLst/>
      </p:bgPr>
    </p:bg>
    <p:spTree>
      <p:nvGrpSpPr>
        <p:cNvPr id="1" name=""/>
        <p:cNvGrpSpPr/>
        <p:nvPr/>
      </p:nvGrpSpPr>
      <p:grpSpPr/>
      <p:sp>
        <p:nvSpPr>
          <p:cNvPr id="2" name="TextBox 1"/>
          <p:cNvSpPr txBox="1"/>
          <p:nvPr/>
        </p:nvSpPr>
        <p:spPr>
          <a:xfrm>
            <a:off x="548640" y="292608"/>
            <a:ext cx="8046720" cy="502920"/>
          </a:xfrm>
          <a:prstGeom prst="rect">
            <a:avLst/>
          </a:prstGeom>
          <a:noFill/>
        </p:spPr>
        <p:txBody>
          <a:bodyPr wrap="none" lIns="0" tIns="0">
            <a:spAutoFit/>
          </a:bodyPr>
          <a:lstStyle/>
          <a:p>
            <a:r>
              <a:rPr sz="2800" b="1">
                <a:solidFill>
                  <a:srgbClr val="FFFFFF"/>
                </a:solidFill>
                <a:latin typeface="MiSans"/>
              </a:rPr>
              <a:t>PRACTICE CHALLENGE</a:t>
            </a:r>
          </a:p>
        </p:txBody>
      </p:sp>
      <p:sp>
        <p:nvSpPr>
          <p:cNvPr id="3" name="TextBox 2"/>
          <p:cNvSpPr txBox="1"/>
          <p:nvPr/>
        </p:nvSpPr>
        <p:spPr>
          <a:xfrm>
            <a:off x="548640" y="795528"/>
            <a:ext cx="8046720" cy="320040"/>
          </a:xfrm>
          <a:prstGeom prst="rect">
            <a:avLst/>
          </a:prstGeom>
          <a:noFill/>
        </p:spPr>
        <p:txBody>
          <a:bodyPr wrap="none" lIns="0" tIns="0">
            <a:spAutoFit/>
          </a:bodyPr>
          <a:lstStyle/>
          <a:p>
            <a:r>
              <a:rPr sz="1400">
                <a:solidFill>
                  <a:srgbClr val="C9D4E5"/>
                </a:solidFill>
                <a:latin typeface="MiSans"/>
              </a:rPr>
              <a:t>Test your understanding by solving the following questions before viewing the solution.</a:t>
            </a:r>
          </a:p>
        </p:txBody>
      </p:sp>
      <p:sp>
        <p:nvSpPr>
          <p:cNvPr id="4" name="TextBox 3"/>
          <p:cNvSpPr txBox="1"/>
          <p:nvPr/>
        </p:nvSpPr>
        <p:spPr>
          <a:xfrm>
            <a:off x="548640" y="1234440"/>
            <a:ext cx="8046720" cy="2926080"/>
          </a:xfrm>
          <a:prstGeom prst="rect">
            <a:avLst/>
          </a:prstGeom>
          <a:noFill/>
        </p:spPr>
        <p:txBody>
          <a:bodyPr wrap="square" lIns="0" rIns="0" tIns="0" bIns="0">
            <a:spAutoFit/>
          </a:bodyPr>
          <a:lstStyle/>
          <a:p>
            <a:pPr>
              <a:spcBef>
                <a:spcPts val="0"/>
              </a:spcBef>
              <a:spcAft>
                <a:spcPts val="400"/>
              </a:spcAft>
            </a:pPr>
            <a:r>
              <a:rPr sz="1400" b="1">
                <a:solidFill>
                  <a:srgbClr val="FFFFFF"/>
                </a:solidFill>
                <a:latin typeface="MiSans"/>
              </a:rPr>
              <a:t>Question 1</a:t>
            </a:r>
          </a:p>
          <a:p>
            <a:pPr>
              <a:lnSpc>
                <a:spcPct val="120000"/>
              </a:lnSpc>
              <a:spcBef>
                <a:spcPts val="0"/>
              </a:spcBef>
              <a:spcAft>
                <a:spcPts val="1000"/>
              </a:spcAft>
            </a:pPr>
            <a:r>
              <a:rPr sz="1100">
                <a:solidFill>
                  <a:srgbClr val="C9D4E5"/>
                </a:solidFill>
                <a:latin typeface="MiSans"/>
              </a:rPr>
              <a:t>Write a query using CONVERT(gpa, CHAR) to display GPA as text. Compare with CAST(gpa AS CHAR).</a:t>
            </a:r>
          </a:p>
          <a:p>
            <a:pPr>
              <a:spcBef>
                <a:spcPts val="1200"/>
              </a:spcBef>
              <a:spcAft>
                <a:spcPts val="400"/>
              </a:spcAft>
            </a:pPr>
            <a:r>
              <a:rPr sz="1400" b="1">
                <a:solidFill>
                  <a:srgbClr val="FFFFFF"/>
                </a:solidFill>
                <a:latin typeface="MiSans"/>
              </a:rPr>
              <a:t>Question 2</a:t>
            </a:r>
          </a:p>
          <a:p>
            <a:pPr>
              <a:lnSpc>
                <a:spcPct val="120000"/>
              </a:lnSpc>
              <a:spcBef>
                <a:spcPts val="0"/>
              </a:spcBef>
              <a:spcAft>
                <a:spcPts val="1000"/>
              </a:spcAft>
            </a:pPr>
            <a:r>
              <a:rPr sz="1100">
                <a:solidFill>
                  <a:srgbClr val="C9D4E5"/>
                </a:solidFill>
                <a:latin typeface="MiSans"/>
              </a:rPr>
              <a:t>Write a query to use CONVERT(student_id, CHAR) and CONVERT(gpa, DECIMAL(4,2)) to reformat the output.</a:t>
            </a:r>
          </a:p>
          <a:p>
            <a:pPr>
              <a:spcBef>
                <a:spcPts val="1200"/>
              </a:spcBef>
              <a:spcAft>
                <a:spcPts val="400"/>
              </a:spcAft>
            </a:pPr>
            <a:r>
              <a:rPr sz="1400" b="1">
                <a:solidFill>
                  <a:srgbClr val="FFFFFF"/>
                </a:solidFill>
                <a:latin typeface="MiSans"/>
              </a:rPr>
              <a:t>Question 3</a:t>
            </a:r>
          </a:p>
          <a:p>
            <a:pPr>
              <a:lnSpc>
                <a:spcPct val="120000"/>
              </a:lnSpc>
              <a:spcBef>
                <a:spcPts val="0"/>
              </a:spcBef>
              <a:spcAft>
                <a:spcPts val="1000"/>
              </a:spcAft>
            </a:pPr>
            <a:r>
              <a:rPr sz="1100">
                <a:solidFill>
                  <a:srgbClr val="C9D4E5"/>
                </a:solidFill>
                <a:latin typeface="MiSans"/>
              </a:rPr>
              <a:t>The transcript system exports numeric values as strings. Use CONVERT to convert gpa, student_id, and YEAR(date_of_birth) all to CHAR type. Display student_code and all three converted values.</a:t>
            </a:r>
          </a:p>
          <a:p>
            <a:pPr>
              <a:spcBef>
                <a:spcPts val="1200"/>
              </a:spcBef>
              <a:spcAft>
                <a:spcPts val="400"/>
              </a:spcAft>
            </a:pPr>
            <a:r>
              <a:rPr sz="1400" b="1">
                <a:solidFill>
                  <a:srgbClr val="FFFFFF"/>
                </a:solidFill>
                <a:latin typeface="MiSans"/>
              </a:rPr>
              <a:t>Question 4</a:t>
            </a:r>
          </a:p>
          <a:p>
            <a:pPr>
              <a:lnSpc>
                <a:spcPct val="120000"/>
              </a:lnSpc>
              <a:spcBef>
                <a:spcPts val="0"/>
              </a:spcBef>
              <a:spcAft>
                <a:spcPts val="1000"/>
              </a:spcAft>
            </a:pPr>
            <a:r>
              <a:rPr sz="1100">
                <a:solidFill>
                  <a:srgbClr val="C9D4E5"/>
                </a:solidFill>
                <a:latin typeface="MiSans"/>
              </a:rPr>
              <a:t>Write a query using both CAST and CONVERT to produce identical results for the same column. Show CAST(gpa AS CHAR) AS "CAST Result" and CONVERT(gpa, CHAR) AS "CONVERT Result" side by side to confirm they are equal.</a:t>
            </a:r>
          </a:p>
        </p:txBody>
      </p:sp>
      <p:sp>
        <p:nvSpPr>
          <p:cNvPr id="5" name="TextBox 4"/>
          <p:cNvSpPr txBox="1"/>
          <p:nvPr/>
        </p:nvSpPr>
        <p:spPr>
          <a:xfrm>
            <a:off x="548640" y="4709160"/>
            <a:ext cx="5486400" cy="274320"/>
          </a:xfrm>
          <a:prstGeom prst="rect">
            <a:avLst/>
          </a:prstGeom>
          <a:noFill/>
        </p:spPr>
        <p:txBody>
          <a:bodyPr wrap="none" lIns="0" tIns="0">
            <a:spAutoFit/>
          </a:bodyPr>
          <a:lstStyle/>
          <a:p>
            <a:r>
              <a:rPr sz="800">
                <a:solidFill>
                  <a:srgbClr val="8AA0BF"/>
                </a:solidFill>
                <a:latin typeface="MiSans"/>
              </a:rPr>
              <a:t>SQL MASTER  ·  SQL-075: CONVERT()</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579</Words>
  <Application>Microsoft Office PowerPoint</Application>
  <PresentationFormat>On-screen Show (16:9)</PresentationFormat>
  <Paragraphs>186</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Inter</vt:lpstr>
      <vt:lpstr>JetBrains Mono</vt:lpstr>
      <vt:lpstr>MiSans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SQL-002 — WHERE</dc:title>
  <dc:subject>PptxGenJS Presentation</dc:subject>
  <dc:creator>SQL Master</dc:creator>
  <cp:lastModifiedBy>Zuboraj</cp:lastModifiedBy>
  <cp:revision>4</cp:revision>
  <dcterms:created xsi:type="dcterms:W3CDTF">2026-07-08T08:16:46Z</dcterms:created>
  <dcterms:modified xsi:type="dcterms:W3CDTF">2026-07-08T09:47:15Z</dcterms:modified>
</cp:coreProperties>
</file>