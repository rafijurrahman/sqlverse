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 id="262"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51" d="100"/>
          <a:sy n="151" d="100"/>
        </p:scale>
        <p:origin x="474"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01350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526"/>
        </a:solidFill>
        <a:effectLst/>
      </p:bgPr>
    </p:bg>
    <p:spTree>
      <p:nvGrpSpPr>
        <p:cNvPr id="1" name=""/>
        <p:cNvGrpSpPr/>
        <p:nvPr/>
      </p:nvGrpSpPr>
      <p:grpSpPr>
        <a:xfrm>
          <a:off x="0" y="0"/>
          <a:ext cx="0" cy="0"/>
          <a:chOff x="0" y="0"/>
          <a:chExt cx="0" cy="0"/>
        </a:xfrm>
      </p:grpSpPr>
      <p:sp>
        <p:nvSpPr>
          <p:cNvPr id="2" name="Shape 0"/>
          <p:cNvSpPr/>
          <p:nvPr/>
        </p:nvSpPr>
        <p:spPr>
          <a:xfrm>
            <a:off x="548640" y="457200"/>
            <a:ext cx="1371600" cy="365760"/>
          </a:xfrm>
          <a:prstGeom prst="roundRect">
            <a:avLst>
              <a:gd name="adj" fmla="val 50000"/>
            </a:avLst>
          </a:prstGeom>
          <a:solidFill>
            <a:srgbClr val="0F2540"/>
          </a:solidFill>
          <a:ln w="12700">
            <a:solidFill>
              <a:srgbClr val="3B82F6"/>
            </a:solidFill>
            <a:prstDash val="solid"/>
          </a:ln>
        </p:spPr>
        <p:txBody>
          <a:bodyPr/>
          <a:p/>
        </p:txBody>
      </p:sp>
      <p:sp>
        <p:nvSpPr>
          <p:cNvPr id="3" name="Text 1"/>
          <p:cNvSpPr/>
          <p:nvPr/>
        </p:nvSpPr>
        <p:spPr>
          <a:xfrm>
            <a:off x="548640" y="457200"/>
            <a:ext cx="1371600" cy="36576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2000" b="0">
                <a:solidFill>
                  <a:srgbClr val="8AA0BF"/>
                </a:solidFill>
                <a:latin typeface="MiSans"/>
              </a:rPr>
              <a:t>SQL-C021</a:t>
            </a:r>
          </a:p>
        </p:txBody>
      </p:sp>
      <p:sp>
        <p:nvSpPr>
          <p:cNvPr id="4" name="Text 2"/>
          <p:cNvSpPr/>
          <p:nvPr/>
        </p:nvSpPr>
        <p:spPr>
          <a:xfrm>
            <a:off x="548640" y="914400"/>
            <a:ext cx="5669280" cy="9144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2000" b="1">
                <a:solidFill>
                  <a:srgbClr val="FFFFFF"/>
                </a:solidFill>
                <a:latin typeface="MiSans"/>
              </a:rPr>
              <a:t>UNION vs UNION ALL</a:t>
            </a:r>
          </a:p>
        </p:txBody>
      </p:sp>
      <p:sp>
        <p:nvSpPr>
          <p:cNvPr id="5" name="Text 3"/>
          <p:cNvSpPr/>
          <p:nvPr/>
        </p:nvSpPr>
        <p:spPr>
          <a:xfrm>
            <a:off x="548640" y="1691640"/>
            <a:ext cx="548640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2000" b="0">
                <a:solidFill>
                  <a:srgbClr val="C9D4E5"/>
                </a:solidFill>
                <a:latin typeface="MiSans"/>
              </a:rPr>
              <a:t>Understand the key differences between UNION and UNION ALL.</a:t>
            </a:r>
          </a:p>
        </p:txBody>
      </p:sp>
      <p:sp>
        <p:nvSpPr>
          <p:cNvPr id="6" name="Text 4"/>
          <p:cNvSpPr/>
          <p:nvPr/>
        </p:nvSpPr>
        <p:spPr>
          <a:xfrm>
            <a:off x="548640" y="2148840"/>
            <a:ext cx="5120640" cy="82296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500" b="0">
                <a:solidFill>
                  <a:srgbClr val="C9D4E5"/>
                </a:solidFill>
                <a:latin typeface="MiSans"/>
              </a:rPr>
              <a:t>Comparing UNION and UNION ALL highlights distinct operational and performance differences.</a:t>
            </a:r>
          </a:p>
        </p:txBody>
      </p:sp>
      <p:sp>
        <p:nvSpPr>
          <p:cNvPr id="7" name="Text 5"/>
          <p:cNvSpPr/>
          <p:nvPr/>
        </p:nvSpPr>
        <p:spPr>
          <a:xfrm>
            <a:off x="548640" y="3246120"/>
            <a:ext cx="274320" cy="320040"/>
          </a:xfrm>
          <a:prstGeom prst="rect">
            <a:avLst/>
          </a:prstGeom>
          <a:noFill/>
          <a:ln/>
        </p:spPr>
        <p:txBody>
          <a:bodyPr wrap="square" lIns="0" tIns="0" rIns="0" bIns="0" rtlCol="0" anchor="ctr"/>
          <a:lstStyle/>
          <a:p>
            <a:pPr marL="0" indent="0">
              <a:buNone/>
            </a:pPr>
            <a:r>
              <a:rPr lang="en-US" sz="1400" b="1" dirty="0">
                <a:solidFill>
                  <a:srgbClr val="22C55E"/>
                </a:solidFill>
                <a:latin typeface="Inter" pitchFamily="34" charset="0"/>
                <a:ea typeface="Inter" pitchFamily="34" charset="-122"/>
                <a:cs typeface="Inter" pitchFamily="34" charset="-120"/>
              </a:rPr>
              <a:t>✓</a:t>
            </a:r>
            <a:endParaRPr lang="en-US" sz="1400" dirty="0"/>
          </a:p>
        </p:txBody>
      </p:sp>
      <p:sp>
        <p:nvSpPr>
          <p:cNvPr id="8" name="Text 6"/>
          <p:cNvSpPr/>
          <p:nvPr/>
        </p:nvSpPr>
        <p:spPr>
          <a:xfrm>
            <a:off x="868680" y="3246120"/>
            <a:ext cx="4389120"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400" b="0">
                <a:solidFill>
                  <a:srgbClr val="C9D4E5"/>
                </a:solidFill>
                <a:latin typeface="MiSans"/>
              </a:rPr>
              <a:t>Practical Business Examples</a:t>
            </a:r>
          </a:p>
        </p:txBody>
      </p:sp>
      <p:sp>
        <p:nvSpPr>
          <p:cNvPr id="9" name="Text 7"/>
          <p:cNvSpPr/>
          <p:nvPr/>
        </p:nvSpPr>
        <p:spPr>
          <a:xfrm>
            <a:off x="548640" y="3630168"/>
            <a:ext cx="274320" cy="320040"/>
          </a:xfrm>
          <a:prstGeom prst="rect">
            <a:avLst/>
          </a:prstGeom>
          <a:noFill/>
          <a:ln/>
        </p:spPr>
        <p:txBody>
          <a:bodyPr wrap="square" lIns="0" tIns="0" rIns="0" bIns="0" rtlCol="0" anchor="ctr"/>
          <a:lstStyle/>
          <a:p>
            <a:pPr marL="0" indent="0">
              <a:buNone/>
            </a:pPr>
            <a:r>
              <a:rPr lang="en-US" sz="1400" b="1" dirty="0">
                <a:solidFill>
                  <a:srgbClr val="22C55E"/>
                </a:solidFill>
                <a:latin typeface="Inter" pitchFamily="34" charset="0"/>
                <a:ea typeface="Inter" pitchFamily="34" charset="-122"/>
                <a:cs typeface="Inter" pitchFamily="34" charset="-120"/>
              </a:rPr>
              <a:t>✓</a:t>
            </a:r>
            <a:endParaRPr lang="en-US" sz="1400" dirty="0"/>
          </a:p>
        </p:txBody>
      </p:sp>
      <p:sp>
        <p:nvSpPr>
          <p:cNvPr id="10" name="Text 8"/>
          <p:cNvSpPr/>
          <p:nvPr/>
        </p:nvSpPr>
        <p:spPr>
          <a:xfrm>
            <a:off x="868680" y="3630168"/>
            <a:ext cx="4389120"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400" b="0">
                <a:solidFill>
                  <a:srgbClr val="C9D4E5"/>
                </a:solidFill>
                <a:latin typeface="MiSans"/>
              </a:rPr>
              <a:t>Real SQL Practice</a:t>
            </a:r>
          </a:p>
        </p:txBody>
      </p:sp>
      <p:sp>
        <p:nvSpPr>
          <p:cNvPr id="11" name="Text 9"/>
          <p:cNvSpPr/>
          <p:nvPr/>
        </p:nvSpPr>
        <p:spPr>
          <a:xfrm>
            <a:off x="548640" y="4014216"/>
            <a:ext cx="274320" cy="320040"/>
          </a:xfrm>
          <a:prstGeom prst="rect">
            <a:avLst/>
          </a:prstGeom>
          <a:noFill/>
          <a:ln/>
        </p:spPr>
        <p:txBody>
          <a:bodyPr wrap="square" lIns="0" tIns="0" rIns="0" bIns="0" rtlCol="0" anchor="ctr"/>
          <a:lstStyle/>
          <a:p>
            <a:pPr marL="0" indent="0">
              <a:buNone/>
            </a:pPr>
            <a:r>
              <a:rPr lang="en-US" sz="1400" b="1" dirty="0">
                <a:solidFill>
                  <a:srgbClr val="22C55E"/>
                </a:solidFill>
                <a:latin typeface="Inter" pitchFamily="34" charset="0"/>
                <a:ea typeface="Inter" pitchFamily="34" charset="-122"/>
                <a:cs typeface="Inter" pitchFamily="34" charset="-120"/>
              </a:rPr>
              <a:t>✓</a:t>
            </a:r>
            <a:endParaRPr lang="en-US" sz="1400" dirty="0"/>
          </a:p>
        </p:txBody>
      </p:sp>
      <p:sp>
        <p:nvSpPr>
          <p:cNvPr id="12" name="Text 10"/>
          <p:cNvSpPr/>
          <p:nvPr/>
        </p:nvSpPr>
        <p:spPr>
          <a:xfrm>
            <a:off x="868680" y="4014216"/>
            <a:ext cx="4389120"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400" b="0">
                <a:solidFill>
                  <a:srgbClr val="C9D4E5"/>
                </a:solidFill>
                <a:latin typeface="MiSans"/>
              </a:rPr>
              <a:t>Beginner Friendly</a:t>
            </a:r>
          </a:p>
        </p:txBody>
      </p:sp>
      <p:sp>
        <p:nvSpPr>
          <p:cNvPr id="13" name="Shape 11"/>
          <p:cNvSpPr/>
          <p:nvPr/>
        </p:nvSpPr>
        <p:spPr>
          <a:xfrm>
            <a:off x="5989320" y="502920"/>
            <a:ext cx="2651760" cy="1691640"/>
          </a:xfrm>
          <a:prstGeom prst="roundRect">
            <a:avLst>
              <a:gd name="adj" fmla="val 4324"/>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4" name="Text 12"/>
          <p:cNvSpPr/>
          <p:nvPr/>
        </p:nvSpPr>
        <p:spPr>
          <a:xfrm>
            <a:off x="6190488" y="649224"/>
            <a:ext cx="2249424" cy="1399032"/>
          </a:xfrm>
          <a:prstGeom prst="rect">
            <a:avLst/>
          </a:prstGeom>
          <a:noFill/>
          <a:ln/>
        </p:spPr>
        <p:txBody>
          <a:bodyPr wrap="square" lIns="109728" tIns="109728" rIns="109728" bIns="109728" rtlCol="0" anchor="ctr"/>
          <a:lstStyle/>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tracking_number</a:t>
            </a:r>
          </a:p>
          <a:p>
            <a:pPr algn="l">
              <a:lnSpc>
                <a:spcPct val="100000"/>
              </a:lnSpc>
              <a:spcBef>
                <a:spcPts val="0"/>
              </a:spcBef>
              <a:spcAft>
                <a:spcPts val="0"/>
              </a:spcAft>
            </a:pPr>
            <a:r>
              <a:rPr sz="900">
                <a:solidFill>
                  <a:srgbClr val="2F80FF"/>
                </a:solidFill>
                <a:latin typeface="Consolas"/>
              </a:rPr>
              <a:t>FROM domestic_shipments</a:t>
            </a:r>
          </a:p>
          <a:p>
            <a:pPr algn="l">
              <a:lnSpc>
                <a:spcPct val="100000"/>
              </a:lnSpc>
              <a:spcBef>
                <a:spcPts val="0"/>
              </a:spcBef>
              <a:spcAft>
                <a:spcPts val="0"/>
              </a:spcAft>
            </a:pPr>
            <a:r>
              <a:rPr sz="900">
                <a:solidFill>
                  <a:srgbClr val="2F80FF"/>
                </a:solidFill>
                <a:latin typeface="Consolas"/>
              </a:rPr>
              <a:t>UNION </a:t>
            </a:r>
          </a:p>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tracking_number</a:t>
            </a:r>
          </a:p>
          <a:p>
            <a:pPr algn="l">
              <a:lnSpc>
                <a:spcPct val="100000"/>
              </a:lnSpc>
              <a:spcBef>
                <a:spcPts val="0"/>
              </a:spcBef>
              <a:spcAft>
                <a:spcPts val="0"/>
              </a:spcAft>
            </a:pPr>
            <a:r>
              <a:rPr sz="900">
                <a:solidFill>
                  <a:srgbClr val="2F80FF"/>
                </a:solidFill>
                <a:latin typeface="Consolas"/>
              </a:rPr>
              <a:t>FROM international_shipments;</a:t>
            </a:r>
          </a:p>
          <a:p>
            <a:pPr algn="l">
              <a:lnSpc>
                <a:spcPct val="100000"/>
              </a:lnSpc>
              <a:spcBef>
                <a:spcPts val="0"/>
              </a:spcBef>
              <a:spcAft>
                <a:spcPts val="0"/>
              </a:spcAft>
            </a:pPr>
          </a:p>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tracking_number</a:t>
            </a:r>
          </a:p>
          <a:p>
            <a:pPr algn="l">
              <a:lnSpc>
                <a:spcPct val="100000"/>
              </a:lnSpc>
              <a:spcBef>
                <a:spcPts val="0"/>
              </a:spcBef>
              <a:spcAft>
                <a:spcPts val="0"/>
              </a:spcAft>
            </a:pPr>
            <a:r>
              <a:rPr sz="900">
                <a:solidFill>
                  <a:srgbClr val="2F80FF"/>
                </a:solidFill>
                <a:latin typeface="Consolas"/>
              </a:rPr>
              <a:t>FROM domestic_shipments</a:t>
            </a:r>
          </a:p>
          <a:p>
            <a:pPr algn="l">
              <a:lnSpc>
                <a:spcPct val="100000"/>
              </a:lnSpc>
              <a:spcBef>
                <a:spcPts val="0"/>
              </a:spcBef>
              <a:spcAft>
                <a:spcPts val="0"/>
              </a:spcAft>
            </a:pPr>
            <a:r>
              <a:rPr sz="900">
                <a:solidFill>
                  <a:srgbClr val="2F80FF"/>
                </a:solidFill>
                <a:latin typeface="Consolas"/>
              </a:rPr>
              <a:t>UNION ALL </a:t>
            </a:r>
          </a:p>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tracking_number</a:t>
            </a:r>
          </a:p>
          <a:p>
            <a:pPr algn="l">
              <a:lnSpc>
                <a:spcPct val="100000"/>
              </a:lnSpc>
              <a:spcBef>
                <a:spcPts val="0"/>
              </a:spcBef>
              <a:spcAft>
                <a:spcPts val="0"/>
              </a:spcAft>
            </a:pPr>
            <a:r>
              <a:rPr sz="900">
                <a:solidFill>
                  <a:srgbClr val="2F80FF"/>
                </a:solidFill>
                <a:latin typeface="Consolas"/>
              </a:rPr>
              <a:t>FROM international_shipments;</a:t>
            </a:r>
          </a:p>
        </p:txBody>
      </p:sp>
      <p:sp>
        <p:nvSpPr>
          <p:cNvPr id="15" name="Shape 13"/>
          <p:cNvSpPr/>
          <p:nvPr/>
        </p:nvSpPr>
        <p:spPr>
          <a:xfrm>
            <a:off x="5989320" y="2395728"/>
            <a:ext cx="2651760" cy="457200"/>
          </a:xfrm>
          <a:prstGeom prst="roundRect">
            <a:avLst>
              <a:gd name="adj" fmla="val 12000"/>
            </a:avLst>
          </a:prstGeom>
          <a:solidFill>
            <a:srgbClr val="0F2540"/>
          </a:solidFill>
          <a:ln w="12700">
            <a:solidFill>
              <a:srgbClr val="21314A"/>
            </a:solidFill>
            <a:prstDash val="solid"/>
          </a:ln>
        </p:spPr>
        <p:txBody>
          <a:bodyPr/>
          <a:p/>
        </p:txBody>
      </p:sp>
      <p:sp>
        <p:nvSpPr>
          <p:cNvPr id="16" name="Text 14"/>
          <p:cNvSpPr/>
          <p:nvPr/>
        </p:nvSpPr>
        <p:spPr>
          <a:xfrm>
            <a:off x="5989320" y="2395728"/>
            <a:ext cx="265176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Database</a:t>
            </a:r>
          </a:p>
        </p:txBody>
      </p:sp>
      <p:sp>
        <p:nvSpPr>
          <p:cNvPr id="17" name="Text 15"/>
          <p:cNvSpPr/>
          <p:nvPr/>
        </p:nvSpPr>
        <p:spPr>
          <a:xfrm>
            <a:off x="5989320" y="2834640"/>
            <a:ext cx="2651760" cy="27432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18" name="Shape 16"/>
          <p:cNvSpPr/>
          <p:nvPr/>
        </p:nvSpPr>
        <p:spPr>
          <a:xfrm>
            <a:off x="5989320" y="2980944"/>
            <a:ext cx="2651760" cy="457200"/>
          </a:xfrm>
          <a:prstGeom prst="roundRect">
            <a:avLst>
              <a:gd name="adj" fmla="val 12000"/>
            </a:avLst>
          </a:prstGeom>
          <a:solidFill>
            <a:srgbClr val="0F2540"/>
          </a:solidFill>
          <a:ln w="12700">
            <a:solidFill>
              <a:srgbClr val="21314A"/>
            </a:solidFill>
            <a:prstDash val="solid"/>
          </a:ln>
        </p:spPr>
        <p:txBody>
          <a:bodyPr/>
          <a:p/>
        </p:txBody>
      </p:sp>
      <p:sp>
        <p:nvSpPr>
          <p:cNvPr id="19" name="Text 17"/>
          <p:cNvSpPr/>
          <p:nvPr/>
        </p:nvSpPr>
        <p:spPr>
          <a:xfrm>
            <a:off x="5989320" y="2980944"/>
            <a:ext cx="265176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domestic_shipments Table</a:t>
            </a:r>
          </a:p>
        </p:txBody>
      </p:sp>
      <p:sp>
        <p:nvSpPr>
          <p:cNvPr id="20" name="Text 18"/>
          <p:cNvSpPr/>
          <p:nvPr/>
        </p:nvSpPr>
        <p:spPr>
          <a:xfrm>
            <a:off x="5989320" y="3419856"/>
            <a:ext cx="2651760" cy="27432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21" name="Shape 19"/>
          <p:cNvSpPr/>
          <p:nvPr/>
        </p:nvSpPr>
        <p:spPr>
          <a:xfrm>
            <a:off x="5989320" y="3566160"/>
            <a:ext cx="2651760" cy="457200"/>
          </a:xfrm>
          <a:prstGeom prst="roundRect">
            <a:avLst>
              <a:gd name="adj" fmla="val 12000"/>
            </a:avLst>
          </a:prstGeom>
          <a:solidFill>
            <a:srgbClr val="0F2540"/>
          </a:solidFill>
          <a:ln w="12700">
            <a:solidFill>
              <a:srgbClr val="21314A"/>
            </a:solidFill>
            <a:prstDash val="solid"/>
          </a:ln>
        </p:spPr>
        <p:txBody>
          <a:bodyPr/>
          <a:p/>
        </p:txBody>
      </p:sp>
      <p:sp>
        <p:nvSpPr>
          <p:cNvPr id="22" name="Text 20"/>
          <p:cNvSpPr/>
          <p:nvPr/>
        </p:nvSpPr>
        <p:spPr>
          <a:xfrm>
            <a:off x="5989320" y="3566160"/>
            <a:ext cx="265176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Evaluate UNION ALL</a:t>
            </a:r>
          </a:p>
        </p:txBody>
      </p:sp>
      <p:sp>
        <p:nvSpPr>
          <p:cNvPr id="23" name="Text 21"/>
          <p:cNvSpPr/>
          <p:nvPr/>
        </p:nvSpPr>
        <p:spPr>
          <a:xfrm>
            <a:off x="5989320" y="4005072"/>
            <a:ext cx="2651760" cy="27432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24" name="Shape 22"/>
          <p:cNvSpPr/>
          <p:nvPr/>
        </p:nvSpPr>
        <p:spPr>
          <a:xfrm>
            <a:off x="5989320" y="4151376"/>
            <a:ext cx="2651760" cy="457200"/>
          </a:xfrm>
          <a:prstGeom prst="roundRect">
            <a:avLst>
              <a:gd name="adj" fmla="val 12000"/>
            </a:avLst>
          </a:prstGeom>
          <a:solidFill>
            <a:srgbClr val="0F2540"/>
          </a:solidFill>
          <a:ln w="12700">
            <a:solidFill>
              <a:srgbClr val="21314A"/>
            </a:solidFill>
            <a:prstDash val="solid"/>
          </a:ln>
        </p:spPr>
        <p:txBody>
          <a:bodyPr/>
          <a:p/>
        </p:txBody>
      </p:sp>
      <p:sp>
        <p:nvSpPr>
          <p:cNvPr id="25" name="Text 23"/>
          <p:cNvSpPr/>
          <p:nvPr/>
        </p:nvSpPr>
        <p:spPr>
          <a:xfrm>
            <a:off x="5989320" y="4151376"/>
            <a:ext cx="2651760"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Comparison result</a:t>
            </a:r>
          </a:p>
        </p:txBody>
      </p:sp>
      <p:sp>
        <p:nvSpPr>
          <p:cNvPr id="26" name="Text 24"/>
          <p:cNvSpPr/>
          <p:nvPr/>
        </p:nvSpPr>
        <p:spPr>
          <a:xfrm>
            <a:off x="457200" y="4777740"/>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SQL-C021: UNION vs UNION ALL</a:t>
            </a:r>
          </a:p>
        </p:txBody>
      </p:sp>
      <p:sp>
        <p:nvSpPr>
          <p:cNvPr id="27" name="Text 25"/>
          <p:cNvSpPr/>
          <p:nvPr/>
        </p:nvSpPr>
        <p:spPr>
          <a:xfrm>
            <a:off x="7772400" y="477774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01 / 06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65760"/>
            <a:ext cx="8046720" cy="59436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2400" b="1">
                <a:solidFill>
                  <a:srgbClr val="FFFFFF"/>
                </a:solidFill>
                <a:latin typeface="MiSans"/>
              </a:rPr>
              <a:t>What is UNION vs UNION ALL?</a:t>
            </a:r>
          </a:p>
        </p:txBody>
      </p:sp>
      <p:sp>
        <p:nvSpPr>
          <p:cNvPr id="3" name="Shape 1"/>
          <p:cNvSpPr/>
          <p:nvPr/>
        </p:nvSpPr>
        <p:spPr>
          <a:xfrm>
            <a:off x="548640" y="1143000"/>
            <a:ext cx="2606040" cy="1417320"/>
          </a:xfrm>
          <a:prstGeom prst="roundRect">
            <a:avLst>
              <a:gd name="adj" fmla="val 5161"/>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4" name="Text 2"/>
          <p:cNvSpPr/>
          <p:nvPr/>
        </p:nvSpPr>
        <p:spPr>
          <a:xfrm>
            <a:off x="749808" y="1307592"/>
            <a:ext cx="2203704" cy="2743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800" b="1">
                <a:solidFill>
                  <a:srgbClr val="FFFFFF"/>
                </a:solidFill>
                <a:latin typeface="MiSans"/>
              </a:rPr>
              <a:t>WHAT</a:t>
            </a:r>
          </a:p>
        </p:txBody>
      </p:sp>
      <p:sp>
        <p:nvSpPr>
          <p:cNvPr id="5" name="Text 3"/>
          <p:cNvSpPr/>
          <p:nvPr/>
        </p:nvSpPr>
        <p:spPr>
          <a:xfrm>
            <a:off x="749808" y="1645920"/>
            <a:ext cx="2203704" cy="7315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500" b="0">
                <a:solidFill>
                  <a:srgbClr val="C9D4E5"/>
                </a:solidFill>
                <a:latin typeface="MiSans"/>
              </a:rPr>
              <a:t>Comparing UNION and UNION ALL highlights distinct operational and performance differences.</a:t>
            </a:r>
          </a:p>
        </p:txBody>
      </p:sp>
      <p:sp>
        <p:nvSpPr>
          <p:cNvPr id="6" name="Shape 4"/>
          <p:cNvSpPr/>
          <p:nvPr/>
        </p:nvSpPr>
        <p:spPr>
          <a:xfrm>
            <a:off x="3383280" y="1143000"/>
            <a:ext cx="2606040" cy="1417320"/>
          </a:xfrm>
          <a:prstGeom prst="roundRect">
            <a:avLst>
              <a:gd name="adj" fmla="val 5161"/>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7" name="Text 5"/>
          <p:cNvSpPr/>
          <p:nvPr/>
        </p:nvSpPr>
        <p:spPr>
          <a:xfrm>
            <a:off x="3584448" y="1307592"/>
            <a:ext cx="2203704" cy="2743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800" b="1">
                <a:solidFill>
                  <a:srgbClr val="FFFFFF"/>
                </a:solidFill>
                <a:latin typeface="MiSans"/>
              </a:rPr>
              <a:t>WHY</a:t>
            </a:r>
          </a:p>
        </p:txBody>
      </p:sp>
      <p:sp>
        <p:nvSpPr>
          <p:cNvPr id="8" name="Text 6"/>
          <p:cNvSpPr/>
          <p:nvPr/>
        </p:nvSpPr>
        <p:spPr>
          <a:xfrm>
            <a:off x="3584448" y="1645920"/>
            <a:ext cx="2203704" cy="7315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500" b="0">
                <a:solidFill>
                  <a:srgbClr val="C9D4E5"/>
                </a:solidFill>
                <a:latin typeface="MiSans"/>
              </a:rPr>
              <a:t>Choosing the wrong syntax or operator can cause bugs and slow database execution.</a:t>
            </a:r>
          </a:p>
        </p:txBody>
      </p:sp>
      <p:sp>
        <p:nvSpPr>
          <p:cNvPr id="9" name="Shape 7"/>
          <p:cNvSpPr/>
          <p:nvPr/>
        </p:nvSpPr>
        <p:spPr>
          <a:xfrm>
            <a:off x="6217920" y="1143000"/>
            <a:ext cx="2606040" cy="1417320"/>
          </a:xfrm>
          <a:prstGeom prst="roundRect">
            <a:avLst>
              <a:gd name="adj" fmla="val 5161"/>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0" name="Text 8"/>
          <p:cNvSpPr/>
          <p:nvPr/>
        </p:nvSpPr>
        <p:spPr>
          <a:xfrm>
            <a:off x="6419088" y="1307592"/>
            <a:ext cx="2203704" cy="2743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800" b="1">
                <a:solidFill>
                  <a:srgbClr val="FFFFFF"/>
                </a:solidFill>
                <a:latin typeface="MiSans"/>
              </a:rPr>
              <a:t>WHEN</a:t>
            </a:r>
          </a:p>
        </p:txBody>
      </p:sp>
      <p:sp>
        <p:nvSpPr>
          <p:cNvPr id="11" name="Text 9"/>
          <p:cNvSpPr/>
          <p:nvPr/>
        </p:nvSpPr>
        <p:spPr>
          <a:xfrm>
            <a:off x="6419088" y="1645920"/>
            <a:ext cx="2203704" cy="73152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500" b="0">
                <a:solidFill>
                  <a:srgbClr val="C9D4E5"/>
                </a:solidFill>
                <a:latin typeface="MiSans"/>
              </a:rPr>
              <a:t>Compare these operations when designing queries for performance and clarity.</a:t>
            </a:r>
          </a:p>
        </p:txBody>
      </p:sp>
      <p:sp>
        <p:nvSpPr>
          <p:cNvPr id="12" name="Text 10"/>
          <p:cNvSpPr/>
          <p:nvPr/>
        </p:nvSpPr>
        <p:spPr>
          <a:xfrm>
            <a:off x="548640" y="2880360"/>
            <a:ext cx="8046720" cy="274320"/>
          </a:xfrm>
          <a:prstGeom prst="rect">
            <a:avLst/>
          </a:prstGeom>
          <a:noFill/>
          <a:ln/>
        </p:spPr>
        <p:txBody>
          <a:bodyPr wrap="square" lIns="0" tIns="0" rIns="0" bIns="0" rtlCol="0" anchor="ctr"/>
          <a:lstStyle/>
          <a:p>
            <a:pPr marL="0" indent="0">
              <a:buNone/>
            </a:pPr>
            <a:r>
              <a:rPr lang="en-US" sz="1200" b="1" kern="0" spc="150" dirty="0">
                <a:solidFill>
                  <a:srgbClr val="3B82F6"/>
                </a:solidFill>
                <a:latin typeface="Inter" pitchFamily="34" charset="0"/>
                <a:ea typeface="Inter" pitchFamily="34" charset="-122"/>
                <a:cs typeface="Inter" pitchFamily="34" charset="-120"/>
              </a:rPr>
              <a:t>EXAMPLE</a:t>
            </a:r>
            <a:endParaRPr lang="en-US" sz="1200" dirty="0"/>
          </a:p>
        </p:txBody>
      </p:sp>
      <p:sp>
        <p:nvSpPr>
          <p:cNvPr id="13" name="Shape 11"/>
          <p:cNvSpPr/>
          <p:nvPr/>
        </p:nvSpPr>
        <p:spPr>
          <a:xfrm>
            <a:off x="548640" y="3246120"/>
            <a:ext cx="2606040" cy="1188720"/>
          </a:xfrm>
          <a:prstGeom prst="roundRect">
            <a:avLst>
              <a:gd name="adj" fmla="val 6154"/>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4" name="Text 12"/>
          <p:cNvSpPr/>
          <p:nvPr/>
        </p:nvSpPr>
        <p:spPr>
          <a:xfrm>
            <a:off x="749808" y="3410712"/>
            <a:ext cx="2203704"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Database</a:t>
            </a:r>
          </a:p>
        </p:txBody>
      </p:sp>
      <p:sp>
        <p:nvSpPr>
          <p:cNvPr id="15" name="Text 13"/>
          <p:cNvSpPr/>
          <p:nvPr/>
        </p:nvSpPr>
        <p:spPr>
          <a:xfrm>
            <a:off x="749808" y="3794760"/>
            <a:ext cx="2203704"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C9D4E5"/>
                </a:solidFill>
                <a:latin typeface="MiSans"/>
              </a:rPr>
              <a:t>Full source data</a:t>
            </a:r>
          </a:p>
        </p:txBody>
      </p:sp>
      <p:sp>
        <p:nvSpPr>
          <p:cNvPr id="16" name="Shape 14"/>
          <p:cNvSpPr/>
          <p:nvPr/>
        </p:nvSpPr>
        <p:spPr>
          <a:xfrm>
            <a:off x="3383280" y="3246120"/>
            <a:ext cx="2606040" cy="1188720"/>
          </a:xfrm>
          <a:prstGeom prst="roundRect">
            <a:avLst>
              <a:gd name="adj" fmla="val 6154"/>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7" name="Text 15"/>
          <p:cNvSpPr/>
          <p:nvPr/>
        </p:nvSpPr>
        <p:spPr>
          <a:xfrm>
            <a:off x="3584448" y="3410712"/>
            <a:ext cx="2203704"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UNION vs UNION ALL</a:t>
            </a:r>
          </a:p>
        </p:txBody>
      </p:sp>
      <p:sp>
        <p:nvSpPr>
          <p:cNvPr id="18" name="Text 16"/>
          <p:cNvSpPr/>
          <p:nvPr/>
        </p:nvSpPr>
        <p:spPr>
          <a:xfrm>
            <a:off x="3584448" y="3794760"/>
            <a:ext cx="2203704"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C9D4E5"/>
                </a:solidFill>
                <a:latin typeface="MiSans"/>
              </a:rPr>
              <a:t>Apply criteria</a:t>
            </a:r>
          </a:p>
        </p:txBody>
      </p:sp>
      <p:sp>
        <p:nvSpPr>
          <p:cNvPr id="19" name="Shape 17"/>
          <p:cNvSpPr/>
          <p:nvPr/>
        </p:nvSpPr>
        <p:spPr>
          <a:xfrm>
            <a:off x="6217920" y="3246120"/>
            <a:ext cx="2606040" cy="1188720"/>
          </a:xfrm>
          <a:prstGeom prst="roundRect">
            <a:avLst>
              <a:gd name="adj" fmla="val 6154"/>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20" name="Text 18"/>
          <p:cNvSpPr/>
          <p:nvPr/>
        </p:nvSpPr>
        <p:spPr>
          <a:xfrm>
            <a:off x="6419088" y="3410712"/>
            <a:ext cx="2203704"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300" b="0">
                <a:solidFill>
                  <a:srgbClr val="FFFFFF"/>
                </a:solidFill>
                <a:latin typeface="MiSans"/>
              </a:rPr>
              <a:t>Comparison result</a:t>
            </a:r>
          </a:p>
        </p:txBody>
      </p:sp>
      <p:sp>
        <p:nvSpPr>
          <p:cNvPr id="21" name="Text 19"/>
          <p:cNvSpPr/>
          <p:nvPr/>
        </p:nvSpPr>
        <p:spPr>
          <a:xfrm>
            <a:off x="6419088" y="3794760"/>
            <a:ext cx="2203704" cy="45720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C9D4E5"/>
                </a:solidFill>
                <a:latin typeface="MiSans"/>
              </a:rPr>
              <a:t>Only requested rows</a:t>
            </a:r>
          </a:p>
        </p:txBody>
      </p:sp>
      <p:sp>
        <p:nvSpPr>
          <p:cNvPr id="22" name="Text 20"/>
          <p:cNvSpPr/>
          <p:nvPr/>
        </p:nvSpPr>
        <p:spPr>
          <a:xfrm>
            <a:off x="544830" y="4457700"/>
            <a:ext cx="8046720" cy="32004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400" b="0">
                <a:solidFill>
                  <a:srgbClr val="FFC83D"/>
                </a:solidFill>
                <a:latin typeface="MiSans"/>
              </a:rPr>
              <a:t>TIP:  Always verify performance of UNION vs UNION ALL on large tables.</a:t>
            </a:r>
          </a:p>
        </p:txBody>
      </p:sp>
      <p:sp>
        <p:nvSpPr>
          <p:cNvPr id="23" name="Text 21"/>
          <p:cNvSpPr/>
          <p:nvPr/>
        </p:nvSpPr>
        <p:spPr>
          <a:xfrm>
            <a:off x="457200" y="4777740"/>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SQL-C021: UNION vs UNION ALL</a:t>
            </a:r>
          </a:p>
        </p:txBody>
      </p:sp>
      <p:sp>
        <p:nvSpPr>
          <p:cNvPr id="24" name="Text 22"/>
          <p:cNvSpPr/>
          <p:nvPr/>
        </p:nvSpPr>
        <p:spPr>
          <a:xfrm>
            <a:off x="7772400" y="477774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02 / 06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2400" b="1">
                <a:solidFill>
                  <a:srgbClr val="FFFFFF"/>
                </a:solidFill>
                <a:latin typeface="MiSans"/>
              </a:rPr>
              <a:t>How Does UNION vs UNION ALL Work?</a:t>
            </a:r>
          </a:p>
        </p:txBody>
      </p:sp>
      <p:sp>
        <p:nvSpPr>
          <p:cNvPr id="3" name="Shape 1"/>
          <p:cNvSpPr/>
          <p:nvPr/>
        </p:nvSpPr>
        <p:spPr>
          <a:xfrm>
            <a:off x="649224"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4" name="Text 2"/>
          <p:cNvSpPr/>
          <p:nvPr/>
        </p:nvSpPr>
        <p:spPr>
          <a:xfrm>
            <a:off x="649224"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Database</a:t>
            </a:r>
            <a:endParaRPr lang="en-US" sz="1050" dirty="0"/>
          </a:p>
        </p:txBody>
      </p:sp>
      <p:sp>
        <p:nvSpPr>
          <p:cNvPr id="5" name="Text 3"/>
          <p:cNvSpPr/>
          <p:nvPr/>
        </p:nvSpPr>
        <p:spPr>
          <a:xfrm>
            <a:off x="2130552"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6" name="Shape 4"/>
          <p:cNvSpPr/>
          <p:nvPr/>
        </p:nvSpPr>
        <p:spPr>
          <a:xfrm>
            <a:off x="2240280"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7" name="Text 5"/>
          <p:cNvSpPr/>
          <p:nvPr/>
        </p:nvSpPr>
        <p:spPr>
          <a:xfrm>
            <a:off x="2240280"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Products Table</a:t>
            </a:r>
            <a:endParaRPr lang="en-US" sz="1050" dirty="0"/>
          </a:p>
        </p:txBody>
      </p:sp>
      <p:sp>
        <p:nvSpPr>
          <p:cNvPr id="8" name="Text 6"/>
          <p:cNvSpPr/>
          <p:nvPr/>
        </p:nvSpPr>
        <p:spPr>
          <a:xfrm>
            <a:off x="3721608"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9" name="Shape 7"/>
          <p:cNvSpPr/>
          <p:nvPr/>
        </p:nvSpPr>
        <p:spPr>
          <a:xfrm>
            <a:off x="3831336"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10" name="Text 8"/>
          <p:cNvSpPr/>
          <p:nvPr/>
        </p:nvSpPr>
        <p:spPr>
          <a:xfrm>
            <a:off x="3895344"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Evaluate Condition</a:t>
            </a:r>
            <a:endParaRPr lang="en-US" sz="1050" dirty="0"/>
          </a:p>
        </p:txBody>
      </p:sp>
      <p:sp>
        <p:nvSpPr>
          <p:cNvPr id="11" name="Text 9"/>
          <p:cNvSpPr/>
          <p:nvPr/>
        </p:nvSpPr>
        <p:spPr>
          <a:xfrm>
            <a:off x="5312664"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12" name="Shape 10"/>
          <p:cNvSpPr/>
          <p:nvPr/>
        </p:nvSpPr>
        <p:spPr>
          <a:xfrm>
            <a:off x="5477256" y="960120"/>
            <a:ext cx="1481328" cy="548640"/>
          </a:xfrm>
          <a:prstGeom prst="roundRect">
            <a:avLst>
              <a:gd name="adj" fmla="val 13333"/>
            </a:avLst>
          </a:prstGeom>
          <a:solidFill>
            <a:srgbClr val="0F2540"/>
          </a:solidFill>
          <a:ln w="12700">
            <a:solidFill>
              <a:srgbClr val="21314A"/>
            </a:solidFill>
            <a:prstDash val="solid"/>
          </a:ln>
        </p:spPr>
        <p:txBody>
          <a:bodyPr/>
          <a:p/>
        </p:txBody>
      </p:sp>
      <p:sp>
        <p:nvSpPr>
          <p:cNvPr id="13" name="Text 11"/>
          <p:cNvSpPr/>
          <p:nvPr/>
        </p:nvSpPr>
        <p:spPr>
          <a:xfrm>
            <a:off x="5422392" y="960120"/>
            <a:ext cx="1481328" cy="548640"/>
          </a:xfrm>
          <a:prstGeom prst="rect">
            <a:avLst/>
          </a:prstGeom>
          <a:noFill/>
          <a:ln/>
        </p:spPr>
        <p:txBody>
          <a:bodyPr wrap="square" lIns="0" tIns="0" rIns="0" bIns="0" rtlCol="0" anchor="ctr"/>
          <a:lstStyle/>
          <a:p>
            <a:pPr marL="0" indent="0" algn="ctr">
              <a:buNone/>
            </a:pPr>
            <a:r>
              <a:rPr lang="en-US" sz="1050" b="1" dirty="0">
                <a:solidFill>
                  <a:srgbClr val="D7DEE8"/>
                </a:solidFill>
                <a:latin typeface="Inter" pitchFamily="34" charset="0"/>
                <a:ea typeface="Inter" pitchFamily="34" charset="-122"/>
                <a:cs typeface="Inter" pitchFamily="34" charset="-120"/>
              </a:rPr>
              <a:t>Keep Matching Rows</a:t>
            </a:r>
            <a:endParaRPr lang="en-US" sz="1050" dirty="0"/>
          </a:p>
        </p:txBody>
      </p:sp>
      <p:sp>
        <p:nvSpPr>
          <p:cNvPr id="14" name="Text 12"/>
          <p:cNvSpPr/>
          <p:nvPr/>
        </p:nvSpPr>
        <p:spPr>
          <a:xfrm>
            <a:off x="6903720" y="960120"/>
            <a:ext cx="128016" cy="548640"/>
          </a:xfrm>
          <a:prstGeom prst="rect">
            <a:avLst/>
          </a:prstGeom>
          <a:noFill/>
          <a:ln/>
        </p:spPr>
        <p:txBody>
          <a:bodyPr wrap="square" lIns="0" tIns="0" rIns="0" bIns="0" rtlCol="0" anchor="ctr"/>
          <a:lstStyle/>
          <a:p>
            <a:pPr marL="0" indent="0" algn="ctr">
              <a:buNone/>
            </a:pPr>
            <a:r>
              <a:rPr lang="en-US" sz="1300" dirty="0">
                <a:solidFill>
                  <a:srgbClr val="3B82F6"/>
                </a:solidFill>
                <a:latin typeface="Inter" pitchFamily="34" charset="0"/>
                <a:ea typeface="Inter" pitchFamily="34" charset="-122"/>
                <a:cs typeface="Inter" pitchFamily="34" charset="-120"/>
              </a:rPr>
              <a:t>→</a:t>
            </a:r>
            <a:endParaRPr lang="en-US" sz="1300" dirty="0"/>
          </a:p>
        </p:txBody>
      </p:sp>
      <p:sp>
        <p:nvSpPr>
          <p:cNvPr id="15" name="Shape 13"/>
          <p:cNvSpPr/>
          <p:nvPr/>
        </p:nvSpPr>
        <p:spPr>
          <a:xfrm>
            <a:off x="7141464" y="948690"/>
            <a:ext cx="1481328" cy="548640"/>
          </a:xfrm>
          <a:prstGeom prst="roundRect">
            <a:avLst>
              <a:gd name="adj" fmla="val 13333"/>
            </a:avLst>
          </a:prstGeom>
          <a:solidFill>
            <a:srgbClr val="0F2E1E"/>
          </a:solidFill>
          <a:ln w="12700">
            <a:solidFill>
              <a:srgbClr val="21314A"/>
            </a:solidFill>
            <a:prstDash val="solid"/>
          </a:ln>
        </p:spPr>
        <p:txBody>
          <a:bodyPr/>
          <a:p/>
        </p:txBody>
      </p:sp>
      <p:sp>
        <p:nvSpPr>
          <p:cNvPr id="16" name="Text 14"/>
          <p:cNvSpPr/>
          <p:nvPr/>
        </p:nvSpPr>
        <p:spPr>
          <a:xfrm>
            <a:off x="7013448" y="960120"/>
            <a:ext cx="1481328" cy="548640"/>
          </a:xfrm>
          <a:prstGeom prst="rect">
            <a:avLst/>
          </a:prstGeom>
          <a:noFill/>
          <a:ln/>
        </p:spPr>
        <p:txBody>
          <a:bodyPr wrap="square" lIns="0" tIns="0" rIns="0" bIns="0" rtlCol="0" anchor="ctr"/>
          <a:lstStyle/>
          <a:p>
            <a:pPr marL="0" indent="0" algn="ctr">
              <a:buNone/>
            </a:pPr>
            <a:r>
              <a:rPr lang="en-US" sz="1050" b="1" dirty="0">
                <a:solidFill>
                  <a:srgbClr val="22C55E"/>
                </a:solidFill>
                <a:latin typeface="Inter" pitchFamily="34" charset="0"/>
                <a:ea typeface="Inter" pitchFamily="34" charset="-122"/>
                <a:cs typeface="Inter" pitchFamily="34" charset="-120"/>
              </a:rPr>
              <a:t>Return Result</a:t>
            </a:r>
            <a:endParaRPr lang="en-US" sz="1050" dirty="0"/>
          </a:p>
        </p:txBody>
      </p:sp>
      <p:sp>
        <p:nvSpPr>
          <p:cNvPr id="17" name="Text 15"/>
          <p:cNvSpPr/>
          <p:nvPr/>
        </p:nvSpPr>
        <p:spPr>
          <a:xfrm>
            <a:off x="548640" y="1783080"/>
            <a:ext cx="393192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DATABASE PREVIEW</a:t>
            </a:r>
            <a:endParaRPr lang="en-US" sz="1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103120"/>
          <a:ext cx="3931920" cy="1828800"/>
        </p:xfrm>
        <a:graphic>
          <a:graphicData uri="http://schemas.openxmlformats.org/drawingml/2006/table">
            <a:tbl>
              <a:tblPr/>
              <a:tblGrid>
                <a:gridCol w="502920">
                  <a:extLst>
                    <a:ext uri="{9D8B030D-6E8A-4147-A177-3AD203B41FA5}">
                      <a16:colId xmlns:a16="http://schemas.microsoft.com/office/drawing/2014/main" val="20000"/>
                    </a:ext>
                  </a:extLst>
                </a:gridCol>
                <a:gridCol w="150876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777240">
                  <a:extLst>
                    <a:ext uri="{9D8B030D-6E8A-4147-A177-3AD203B41FA5}">
                      <a16:colId xmlns:a16="http://schemas.microsoft.com/office/drawing/2014/main" val="20003"/>
                    </a:ext>
                  </a:extLst>
                </a:gridCol>
              </a:tblGrid>
              <a:tr h="304800">
                <a:tc>
                  <a:txBody>
                    <a:bodyPr anchor="ctr"/>
                    <a:lstStyle/>
                    <a:p>
                      <a:pPr algn="ctr">
                        <a:lnSpc>
                          <a:spcPct val="100000"/>
                        </a:lnSpc>
                        <a:spcBef>
                          <a:spcPts val="0"/>
                        </a:spcBef>
                        <a:spcAft>
                          <a:spcPts val="0"/>
                        </a:spcAft>
                      </a:pPr>
                      <a:r>
                        <a:rPr sz="800" b="1">
                          <a:solidFill>
                            <a:srgbClr val="FFFFFF"/>
                          </a:solidFill>
                          <a:latin typeface="MiSans"/>
                        </a:rPr>
                        <a:t>shipment_id</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r>
                        <a:rPr sz="800" b="1">
                          <a:solidFill>
                            <a:srgbClr val="FFFFFF"/>
                          </a:solidFill>
                          <a:latin typeface="MiSans"/>
                        </a:rPr>
                        <a:t>tracking_number</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r>
                        <a:rPr sz="800" b="1">
                          <a:solidFill>
                            <a:srgbClr val="FFFFFF"/>
                          </a:solidFill>
                          <a:latin typeface="MiSans"/>
                        </a:rPr>
                        <a:t>sender_city</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r>
                        <a:rPr sz="800" b="1">
                          <a:solidFill>
                            <a:srgbClr val="FFFFFF"/>
                          </a:solidFill>
                          <a:latin typeface="MiSans"/>
                        </a:rPr>
                        <a:t>receiver_city</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extLst>
                  <a:ext uri="{0D108BD9-81ED-4DB2-BD59-A6C34878D82A}">
                    <a16:rowId xmlns:a16="http://schemas.microsoft.com/office/drawing/2014/main" val="10000"/>
                  </a:ext>
                </a:extLst>
              </a:tr>
              <a:tr h="304800">
                <a:tc>
                  <a:txBody>
                    <a:bodyPr anchor="ctr"/>
                    <a:lstStyle/>
                    <a:p>
                      <a:pPr algn="ctr">
                        <a:lnSpc>
                          <a:spcPct val="100000"/>
                        </a:lnSpc>
                        <a:spcBef>
                          <a:spcPts val="0"/>
                        </a:spcBef>
                        <a:spcAft>
                          <a:spcPts val="0"/>
                        </a:spcAft>
                      </a:pPr>
                      <a:r>
                        <a:rPr sz="800" b="0">
                          <a:solidFill>
                            <a:srgbClr val="C9D4E5"/>
                          </a:solidFill>
                          <a:latin typeface="MiSans"/>
                        </a:rPr>
                        <a:t>1</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BD-1001</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Dhaka</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Chittagong</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1"/>
                  </a:ext>
                </a:extLst>
              </a:tr>
              <a:tr h="304800">
                <a:tc>
                  <a:txBody>
                    <a:bodyPr anchor="ctr"/>
                    <a:lstStyle/>
                    <a:p>
                      <a:pPr algn="ctr">
                        <a:lnSpc>
                          <a:spcPct val="100000"/>
                        </a:lnSpc>
                        <a:spcBef>
                          <a:spcPts val="0"/>
                        </a:spcBef>
                        <a:spcAft>
                          <a:spcPts val="0"/>
                        </a:spcAft>
                      </a:pPr>
                      <a:r>
                        <a:rPr sz="800" b="0">
                          <a:solidFill>
                            <a:srgbClr val="C9D4E5"/>
                          </a:solidFill>
                          <a:latin typeface="MiSans"/>
                        </a:rPr>
                        <a:t>2</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BD-1002</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Rajshahi</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Dhaka</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2"/>
                  </a:ext>
                </a:extLst>
              </a:tr>
              <a:tr h="304800">
                <a:tc>
                  <a:txBody>
                    <a:bodyPr anchor="ctr"/>
                    <a:lstStyle/>
                    <a:p>
                      <a:pPr algn="ctr">
                        <a:lnSpc>
                          <a:spcPct val="100000"/>
                        </a:lnSpc>
                        <a:spcBef>
                          <a:spcPts val="0"/>
                        </a:spcBef>
                        <a:spcAft>
                          <a:spcPts val="0"/>
                        </a:spcAft>
                      </a:pPr>
                      <a:r>
                        <a:rPr sz="800" b="0">
                          <a:solidFill>
                            <a:srgbClr val="C9D4E5"/>
                          </a:solidFill>
                          <a:latin typeface="MiSans"/>
                        </a:rPr>
                        <a:t>3</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BD-1003</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Dhaka</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Sylhet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3"/>
                  </a:ext>
                </a:extLst>
              </a:tr>
              <a:tr h="304800">
                <a:tc>
                  <a:txBody>
                    <a:bodyPr anchor="ctr"/>
                    <a:lstStyle/>
                    <a:p>
                      <a:pPr algn="ctr">
                        <a:lnSpc>
                          <a:spcPct val="100000"/>
                        </a:lnSpc>
                        <a:spcBef>
                          <a:spcPts val="0"/>
                        </a:spcBef>
                        <a:spcAft>
                          <a:spcPts val="0"/>
                        </a:spcAft>
                      </a:pPr>
                      <a:r>
                        <a:rPr sz="8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r>
                        <a:rPr sz="800" b="0">
                          <a:solidFill>
                            <a:srgbClr val="C9D4E5"/>
                          </a:solidFill>
                          <a:latin typeface="MiSans"/>
                        </a:rPr>
                        <a:t>…</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4"/>
                  </a:ext>
                </a:extLst>
              </a:tr>
              <a:tr h="304800">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5"/>
                  </a:ext>
                </a:extLst>
              </a:tr>
            </a:tbl>
          </a:graphicData>
        </a:graphic>
      </p:graphicFrame>
      <p:sp>
        <p:nvSpPr>
          <p:cNvPr id="19" name="Text 16"/>
          <p:cNvSpPr/>
          <p:nvPr/>
        </p:nvSpPr>
        <p:spPr>
          <a:xfrm>
            <a:off x="4709160" y="1783080"/>
            <a:ext cx="388620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SQL QUERY</a:t>
            </a:r>
            <a:endParaRPr lang="en-US" sz="1200" dirty="0"/>
          </a:p>
        </p:txBody>
      </p:sp>
      <p:sp>
        <p:nvSpPr>
          <p:cNvPr id="20" name="Shape 17"/>
          <p:cNvSpPr/>
          <p:nvPr/>
        </p:nvSpPr>
        <p:spPr>
          <a:xfrm>
            <a:off x="4709160" y="2103120"/>
            <a:ext cx="3886200" cy="1143000"/>
          </a:xfrm>
          <a:prstGeom prst="roundRect">
            <a:avLst>
              <a:gd name="adj" fmla="val 6400"/>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21" name="Text 18"/>
          <p:cNvSpPr/>
          <p:nvPr/>
        </p:nvSpPr>
        <p:spPr>
          <a:xfrm>
            <a:off x="4910328" y="2249424"/>
            <a:ext cx="3483864" cy="850392"/>
          </a:xfrm>
          <a:prstGeom prst="rect">
            <a:avLst/>
          </a:prstGeom>
          <a:noFill/>
          <a:ln/>
        </p:spPr>
        <p:txBody>
          <a:bodyPr wrap="square" lIns="109728" tIns="109728" rIns="109728" bIns="109728" rtlCol="0" anchor="t"/>
          <a:lstStyle/>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tracking_number</a:t>
            </a:r>
          </a:p>
          <a:p>
            <a:pPr algn="l">
              <a:lnSpc>
                <a:spcPct val="100000"/>
              </a:lnSpc>
              <a:spcBef>
                <a:spcPts val="0"/>
              </a:spcBef>
              <a:spcAft>
                <a:spcPts val="0"/>
              </a:spcAft>
            </a:pPr>
            <a:r>
              <a:rPr sz="900">
                <a:solidFill>
                  <a:srgbClr val="2F80FF"/>
                </a:solidFill>
                <a:latin typeface="Consolas"/>
              </a:rPr>
              <a:t>FROM domestic_shipments</a:t>
            </a:r>
          </a:p>
          <a:p>
            <a:pPr algn="l">
              <a:lnSpc>
                <a:spcPct val="100000"/>
              </a:lnSpc>
              <a:spcBef>
                <a:spcPts val="0"/>
              </a:spcBef>
              <a:spcAft>
                <a:spcPts val="0"/>
              </a:spcAft>
            </a:pPr>
            <a:r>
              <a:rPr sz="900">
                <a:solidFill>
                  <a:srgbClr val="2F80FF"/>
                </a:solidFill>
                <a:latin typeface="Consolas"/>
              </a:rPr>
              <a:t>UNION </a:t>
            </a:r>
          </a:p>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tracking_number</a:t>
            </a:r>
          </a:p>
          <a:p>
            <a:pPr algn="l">
              <a:lnSpc>
                <a:spcPct val="100000"/>
              </a:lnSpc>
              <a:spcBef>
                <a:spcPts val="0"/>
              </a:spcBef>
              <a:spcAft>
                <a:spcPts val="0"/>
              </a:spcAft>
            </a:pPr>
            <a:r>
              <a:rPr sz="900">
                <a:solidFill>
                  <a:srgbClr val="2F80FF"/>
                </a:solidFill>
                <a:latin typeface="Consolas"/>
              </a:rPr>
              <a:t>FROM international_shipments;</a:t>
            </a:r>
          </a:p>
          <a:p>
            <a:pPr algn="l">
              <a:lnSpc>
                <a:spcPct val="100000"/>
              </a:lnSpc>
              <a:spcBef>
                <a:spcPts val="0"/>
              </a:spcBef>
              <a:spcAft>
                <a:spcPts val="0"/>
              </a:spcAft>
            </a:pPr>
          </a:p>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tracking_number</a:t>
            </a:r>
          </a:p>
          <a:p>
            <a:pPr algn="l">
              <a:lnSpc>
                <a:spcPct val="100000"/>
              </a:lnSpc>
              <a:spcBef>
                <a:spcPts val="0"/>
              </a:spcBef>
              <a:spcAft>
                <a:spcPts val="0"/>
              </a:spcAft>
            </a:pPr>
            <a:r>
              <a:rPr sz="900">
                <a:solidFill>
                  <a:srgbClr val="2F80FF"/>
                </a:solidFill>
                <a:latin typeface="Consolas"/>
              </a:rPr>
              <a:t>FROM domestic_shipments</a:t>
            </a:r>
          </a:p>
          <a:p>
            <a:pPr algn="l">
              <a:lnSpc>
                <a:spcPct val="100000"/>
              </a:lnSpc>
              <a:spcBef>
                <a:spcPts val="0"/>
              </a:spcBef>
              <a:spcAft>
                <a:spcPts val="0"/>
              </a:spcAft>
            </a:pPr>
            <a:r>
              <a:rPr sz="900">
                <a:solidFill>
                  <a:srgbClr val="2F80FF"/>
                </a:solidFill>
                <a:latin typeface="Consolas"/>
              </a:rPr>
              <a:t>UNION ALL </a:t>
            </a:r>
          </a:p>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tracking_number</a:t>
            </a:r>
          </a:p>
          <a:p>
            <a:pPr algn="l">
              <a:lnSpc>
                <a:spcPct val="100000"/>
              </a:lnSpc>
              <a:spcBef>
                <a:spcPts val="0"/>
              </a:spcBef>
              <a:spcAft>
                <a:spcPts val="0"/>
              </a:spcAft>
            </a:pPr>
            <a:r>
              <a:rPr sz="900">
                <a:solidFill>
                  <a:srgbClr val="2F80FF"/>
                </a:solidFill>
                <a:latin typeface="Consolas"/>
              </a:rPr>
              <a:t>FROM international_shipments;</a:t>
            </a:r>
          </a:p>
        </p:txBody>
      </p:sp>
      <p:sp>
        <p:nvSpPr>
          <p:cNvPr id="22" name="Text 19"/>
          <p:cNvSpPr/>
          <p:nvPr/>
        </p:nvSpPr>
        <p:spPr>
          <a:xfrm>
            <a:off x="4709160" y="3383280"/>
            <a:ext cx="3886200" cy="274320"/>
          </a:xfrm>
          <a:prstGeom prst="rect">
            <a:avLst/>
          </a:prstGeom>
          <a:noFill/>
          <a:ln/>
        </p:spPr>
        <p:txBody>
          <a:bodyPr wrap="square" lIns="0" tIns="0" rIns="0" bIns="0" rtlCol="0" anchor="ctr"/>
          <a:lstStyle/>
          <a:p>
            <a:pPr marL="0" indent="0" algn="l">
              <a:buNone/>
            </a:pPr>
            <a:r>
              <a:rPr lang="en-US" sz="1200" b="1" kern="0" spc="150" dirty="0">
                <a:solidFill>
                  <a:srgbClr val="22C55E"/>
                </a:solidFill>
                <a:latin typeface="Inter" pitchFamily="34" charset="0"/>
                <a:ea typeface="Inter" pitchFamily="34" charset="-122"/>
                <a:cs typeface="Inter" pitchFamily="34" charset="-120"/>
              </a:rPr>
              <a:t>RETURNED RESULT</a:t>
            </a:r>
            <a:endParaRPr lang="en-US" sz="1200" dirty="0"/>
          </a:p>
        </p:txBody>
      </p:sp>
      <p:graphicFrame>
        <p:nvGraphicFramePr>
          <p:cNvPr id="23" name="Table 1"/>
          <p:cNvGraphicFramePr>
            <a:graphicFrameLocks noGrp="1"/>
          </p:cNvGraphicFramePr>
          <p:nvPr>
            <p:extLst>
              <p:ext uri="{D42A27DB-BD31-4B8C-83A1-F6EECF244321}">
                <p14:modId xmlns:p14="http://schemas.microsoft.com/office/powerpoint/2010/main" val="1579011935"/>
              </p:ext>
            </p:extLst>
          </p:nvPr>
        </p:nvGraphicFramePr>
        <p:xfrm>
          <a:off x="4709160" y="3703320"/>
          <a:ext cx="3886200" cy="1066800"/>
        </p:xfrm>
        <a:graphic>
          <a:graphicData uri="http://schemas.openxmlformats.org/drawingml/2006/table">
            <a:tbl>
              <a:tblPr/>
              <a:tblGrid>
                <a:gridCol w="3886200">
                  <a:extLst>
                    <a:ext uri="{9D8B030D-6E8A-4147-A177-3AD203B41FA5}">
                      <a16:colId xmlns:a16="http://schemas.microsoft.com/office/drawing/2014/main" val="20000"/>
                    </a:ext>
                  </a:extLst>
                </a:gridCol>
              </a:tblGrid>
              <a:tr h="217170">
                <a:tc>
                  <a:txBody>
                    <a:bodyPr anchor="ctr"/>
                    <a:lstStyle/>
                    <a:p>
                      <a:pPr algn="ctr">
                        <a:lnSpc>
                          <a:spcPct val="100000"/>
                        </a:lnSpc>
                        <a:spcBef>
                          <a:spcPts val="0"/>
                        </a:spcBef>
                        <a:spcAft>
                          <a:spcPts val="0"/>
                        </a:spcAft>
                      </a:pPr>
                      <a:r>
                        <a:rPr sz="600" b="1">
                          <a:solidFill>
                            <a:srgbClr val="FFFFFF"/>
                          </a:solidFill>
                          <a:latin typeface="MiSans"/>
                        </a:rPr>
                        <a:t>product_name</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extLst>
                  <a:ext uri="{0D108BD9-81ED-4DB2-BD59-A6C34878D82A}">
                    <a16:rowId xmlns:a16="http://schemas.microsoft.com/office/drawing/2014/main" val="10000"/>
                  </a:ext>
                </a:extLst>
              </a:tr>
              <a:tr h="217170">
                <a:tc>
                  <a:txBody>
                    <a:bodyPr anchor="ctr"/>
                    <a:lstStyle/>
                    <a:p>
                      <a:pPr algn="ctr">
                        <a:lnSpc>
                          <a:spcPct val="100000"/>
                        </a:lnSpc>
                        <a:spcBef>
                          <a:spcPts val="0"/>
                        </a:spcBef>
                        <a:spcAft>
                          <a:spcPts val="0"/>
                        </a:spcAft>
                      </a:pPr>
                      <a:r>
                        <a:rPr sz="600" b="0">
                          <a:solidFill>
                            <a:srgbClr val="C9D4E5"/>
                          </a:solidFill>
                          <a:latin typeface="MiSans"/>
                        </a:rPr>
                        <a:t>Wireless Mouse</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1"/>
                  </a:ext>
                </a:extLst>
              </a:tr>
              <a:tr h="217170">
                <a:tc>
                  <a:txBody>
                    <a:bodyPr anchor="ctr"/>
                    <a:lstStyle/>
                    <a:p>
                      <a:pPr algn="ctr">
                        <a:lnSpc>
                          <a:spcPct val="100000"/>
                        </a:lnSpc>
                        <a:spcBef>
                          <a:spcPts val="0"/>
                        </a:spcBef>
                        <a:spcAft>
                          <a:spcPts val="0"/>
                        </a:spcAft>
                      </a:pPr>
                      <a:r>
                        <a:rPr sz="600" b="0">
                          <a:solidFill>
                            <a:srgbClr val="C9D4E5"/>
                          </a:solidFill>
                          <a:latin typeface="MiSans"/>
                        </a:rPr>
                        <a:t>USB Keyboard</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2"/>
                  </a:ext>
                </a:extLst>
              </a:tr>
              <a:tr h="217170">
                <a:tc>
                  <a:txBody>
                    <a:bodyPr anchor="ctr"/>
                    <a:lstStyle/>
                    <a:p>
                      <a:pPr algn="ctr">
                        <a:lnSpc>
                          <a:spcPct val="100000"/>
                        </a:lnSpc>
                        <a:spcBef>
                          <a:spcPts val="0"/>
                        </a:spcBef>
                        <a:spcAft>
                          <a:spcPts val="0"/>
                        </a:spcAft>
                      </a:pPr>
                      <a:r>
                        <a:rPr sz="600" b="0">
                          <a:solidFill>
                            <a:srgbClr val="C9D4E5"/>
                          </a:solidFill>
                          <a:latin typeface="MiSans"/>
                        </a:rPr>
                        <a:t>Office Chair</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3"/>
                  </a:ext>
                </a:extLst>
              </a:tr>
            </a:tbl>
          </a:graphicData>
        </a:graphic>
      </p:graphicFrame>
      <p:sp>
        <p:nvSpPr>
          <p:cNvPr id="25" name="Text 21"/>
          <p:cNvSpPr/>
          <p:nvPr/>
        </p:nvSpPr>
        <p:spPr>
          <a:xfrm>
            <a:off x="457200" y="4777740"/>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SQL-C021: UNION vs UNION ALL</a:t>
            </a:r>
          </a:p>
        </p:txBody>
      </p:sp>
      <p:sp>
        <p:nvSpPr>
          <p:cNvPr id="26" name="Text 22"/>
          <p:cNvSpPr/>
          <p:nvPr/>
        </p:nvSpPr>
        <p:spPr>
          <a:xfrm>
            <a:off x="7772400" y="477774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03 / 06</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2400" b="1">
                <a:solidFill>
                  <a:srgbClr val="FFFFFF"/>
                </a:solidFill>
                <a:latin typeface="MiSans"/>
              </a:rPr>
              <a:t>UNION vs UNION ALL in Action</a:t>
            </a:r>
          </a:p>
        </p:txBody>
      </p:sp>
      <p:sp>
        <p:nvSpPr>
          <p:cNvPr id="3" name="Text 1"/>
          <p:cNvSpPr/>
          <p:nvPr/>
        </p:nvSpPr>
        <p:spPr>
          <a:xfrm>
            <a:off x="570230" y="1005840"/>
            <a:ext cx="374904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SYNTAX</a:t>
            </a:r>
            <a:endParaRPr lang="en-US" sz="1200" dirty="0"/>
          </a:p>
        </p:txBody>
      </p:sp>
      <p:sp>
        <p:nvSpPr>
          <p:cNvPr id="4" name="Shape 2"/>
          <p:cNvSpPr/>
          <p:nvPr/>
        </p:nvSpPr>
        <p:spPr>
          <a:xfrm>
            <a:off x="548640" y="1371600"/>
            <a:ext cx="3794760" cy="1005840"/>
          </a:xfrm>
          <a:prstGeom prst="roundRect">
            <a:avLst>
              <a:gd name="adj" fmla="val 8000"/>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5" name="Text 3"/>
          <p:cNvSpPr/>
          <p:nvPr/>
        </p:nvSpPr>
        <p:spPr>
          <a:xfrm>
            <a:off x="749808" y="1517904"/>
            <a:ext cx="3346704" cy="621792"/>
          </a:xfrm>
          <a:prstGeom prst="rect">
            <a:avLst/>
          </a:prstGeom>
          <a:noFill/>
          <a:ln/>
        </p:spPr>
        <p:txBody>
          <a:bodyPr wrap="square" lIns="109728" tIns="109728" rIns="109728" bIns="109728" rtlCol="0" anchor="t"/>
          <a:lstStyle/>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column_name</a:t>
            </a:r>
          </a:p>
          <a:p>
            <a:pPr algn="l">
              <a:lnSpc>
                <a:spcPct val="100000"/>
              </a:lnSpc>
              <a:spcBef>
                <a:spcPts val="0"/>
              </a:spcBef>
              <a:spcAft>
                <a:spcPts val="0"/>
              </a:spcAft>
            </a:pPr>
            <a:r>
              <a:rPr sz="900">
                <a:solidFill>
                  <a:srgbClr val="2F80FF"/>
                </a:solidFill>
                <a:latin typeface="Consolas"/>
              </a:rPr>
              <a:t>FROM domestic_shipments</a:t>
            </a:r>
          </a:p>
          <a:p>
            <a:pPr algn="l">
              <a:lnSpc>
                <a:spcPct val="100000"/>
              </a:lnSpc>
              <a:spcBef>
                <a:spcPts val="0"/>
              </a:spcBef>
              <a:spcAft>
                <a:spcPts val="0"/>
              </a:spcAft>
            </a:pPr>
            <a:r>
              <a:rPr sz="900">
                <a:solidFill>
                  <a:srgbClr val="2F80FF"/>
                </a:solidFill>
                <a:latin typeface="Consolas"/>
              </a:rPr>
              <a:t>WHERE condition;</a:t>
            </a:r>
          </a:p>
        </p:txBody>
      </p:sp>
      <p:sp>
        <p:nvSpPr>
          <p:cNvPr id="6" name="Text 4"/>
          <p:cNvSpPr/>
          <p:nvPr/>
        </p:nvSpPr>
        <p:spPr>
          <a:xfrm>
            <a:off x="548640" y="2423160"/>
            <a:ext cx="3749040" cy="274320"/>
          </a:xfrm>
          <a:prstGeom prst="rect">
            <a:avLst/>
          </a:prstGeom>
          <a:noFill/>
          <a:ln/>
        </p:spPr>
        <p:txBody>
          <a:bodyPr wrap="square" lIns="0" tIns="0" rIns="0" bIns="0" rtlCol="0" anchor="ctr"/>
          <a:lstStyle/>
          <a:p>
            <a:pPr marL="0" indent="0" algn="l">
              <a:buNone/>
            </a:pPr>
            <a:r>
              <a:rPr lang="en-US" sz="1200" b="1" kern="0" spc="150" dirty="0">
                <a:solidFill>
                  <a:srgbClr val="FACC15"/>
                </a:solidFill>
                <a:latin typeface="Inter" pitchFamily="34" charset="0"/>
                <a:ea typeface="Inter" pitchFamily="34" charset="-122"/>
                <a:cs typeface="Inter" pitchFamily="34" charset="-120"/>
              </a:rPr>
              <a:t>BUSINESS SCENARIO</a:t>
            </a:r>
            <a:endParaRPr lang="en-US" sz="1200" dirty="0"/>
          </a:p>
        </p:txBody>
      </p:sp>
      <p:sp>
        <p:nvSpPr>
          <p:cNvPr id="7" name="Shape 5"/>
          <p:cNvSpPr/>
          <p:nvPr/>
        </p:nvSpPr>
        <p:spPr>
          <a:xfrm>
            <a:off x="548640" y="2743200"/>
            <a:ext cx="3749040" cy="1051560"/>
          </a:xfrm>
          <a:prstGeom prst="roundRect">
            <a:avLst>
              <a:gd name="adj" fmla="val 6957"/>
            </a:avLst>
          </a:prstGeom>
          <a:solidFill>
            <a:srgbClr val="1F1A0D"/>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8" name="Text 6"/>
          <p:cNvSpPr/>
          <p:nvPr/>
        </p:nvSpPr>
        <p:spPr>
          <a:xfrm>
            <a:off x="749808" y="2889504"/>
            <a:ext cx="3346704" cy="77724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600" b="0">
                <a:solidFill>
                  <a:srgbClr val="C9D4E5"/>
                </a:solidFill>
                <a:latin typeface="MiSans"/>
              </a:rPr>
              <a:t>UNION vs UNION ALL</a:t>
            </a:r>
          </a:p>
        </p:txBody>
      </p:sp>
      <p:sp>
        <p:nvSpPr>
          <p:cNvPr id="9" name="Text 7"/>
          <p:cNvSpPr/>
          <p:nvPr/>
        </p:nvSpPr>
        <p:spPr>
          <a:xfrm>
            <a:off x="4709160" y="1005840"/>
            <a:ext cx="388620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EXAMPLE QUERY</a:t>
            </a:r>
            <a:endParaRPr lang="en-US" sz="1200" dirty="0"/>
          </a:p>
        </p:txBody>
      </p:sp>
      <p:sp>
        <p:nvSpPr>
          <p:cNvPr id="10" name="Shape 8"/>
          <p:cNvSpPr/>
          <p:nvPr/>
        </p:nvSpPr>
        <p:spPr>
          <a:xfrm>
            <a:off x="4709160" y="1303020"/>
            <a:ext cx="3977640" cy="1394460"/>
          </a:xfrm>
          <a:prstGeom prst="roundRect">
            <a:avLst>
              <a:gd name="adj" fmla="val 6154"/>
            </a:avLst>
          </a:prstGeom>
          <a:solidFill>
            <a:srgbClr val="081B30"/>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11" name="Text 9"/>
          <p:cNvSpPr/>
          <p:nvPr/>
        </p:nvSpPr>
        <p:spPr>
          <a:xfrm>
            <a:off x="4910328" y="1517904"/>
            <a:ext cx="3483864" cy="896112"/>
          </a:xfrm>
          <a:prstGeom prst="rect">
            <a:avLst/>
          </a:prstGeom>
          <a:noFill/>
          <a:ln/>
        </p:spPr>
        <p:txBody>
          <a:bodyPr wrap="square" lIns="109728" tIns="109728" rIns="109728" bIns="109728" rtlCol="0" anchor="t"/>
          <a:lstStyle/>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tracking_number</a:t>
            </a:r>
          </a:p>
          <a:p>
            <a:pPr algn="l">
              <a:lnSpc>
                <a:spcPct val="100000"/>
              </a:lnSpc>
              <a:spcBef>
                <a:spcPts val="0"/>
              </a:spcBef>
              <a:spcAft>
                <a:spcPts val="0"/>
              </a:spcAft>
            </a:pPr>
            <a:r>
              <a:rPr sz="900">
                <a:solidFill>
                  <a:srgbClr val="2F80FF"/>
                </a:solidFill>
                <a:latin typeface="Consolas"/>
              </a:rPr>
              <a:t>FROM domestic_shipments</a:t>
            </a:r>
          </a:p>
          <a:p>
            <a:pPr algn="l">
              <a:lnSpc>
                <a:spcPct val="100000"/>
              </a:lnSpc>
              <a:spcBef>
                <a:spcPts val="0"/>
              </a:spcBef>
              <a:spcAft>
                <a:spcPts val="0"/>
              </a:spcAft>
            </a:pPr>
            <a:r>
              <a:rPr sz="900">
                <a:solidFill>
                  <a:srgbClr val="2F80FF"/>
                </a:solidFill>
                <a:latin typeface="Consolas"/>
              </a:rPr>
              <a:t>UNION </a:t>
            </a:r>
          </a:p>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tracking_number</a:t>
            </a:r>
          </a:p>
          <a:p>
            <a:pPr algn="l">
              <a:lnSpc>
                <a:spcPct val="100000"/>
              </a:lnSpc>
              <a:spcBef>
                <a:spcPts val="0"/>
              </a:spcBef>
              <a:spcAft>
                <a:spcPts val="0"/>
              </a:spcAft>
            </a:pPr>
            <a:r>
              <a:rPr sz="900">
                <a:solidFill>
                  <a:srgbClr val="2F80FF"/>
                </a:solidFill>
                <a:latin typeface="Consolas"/>
              </a:rPr>
              <a:t>FROM international_shipments;</a:t>
            </a:r>
          </a:p>
          <a:p>
            <a:pPr algn="l">
              <a:lnSpc>
                <a:spcPct val="100000"/>
              </a:lnSpc>
              <a:spcBef>
                <a:spcPts val="0"/>
              </a:spcBef>
              <a:spcAft>
                <a:spcPts val="0"/>
              </a:spcAft>
            </a:pPr>
          </a:p>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tracking_number</a:t>
            </a:r>
          </a:p>
          <a:p>
            <a:pPr algn="l">
              <a:lnSpc>
                <a:spcPct val="100000"/>
              </a:lnSpc>
              <a:spcBef>
                <a:spcPts val="0"/>
              </a:spcBef>
              <a:spcAft>
                <a:spcPts val="0"/>
              </a:spcAft>
            </a:pPr>
            <a:r>
              <a:rPr sz="900">
                <a:solidFill>
                  <a:srgbClr val="2F80FF"/>
                </a:solidFill>
                <a:latin typeface="Consolas"/>
              </a:rPr>
              <a:t>FROM domestic_shipments</a:t>
            </a:r>
          </a:p>
          <a:p>
            <a:pPr algn="l">
              <a:lnSpc>
                <a:spcPct val="100000"/>
              </a:lnSpc>
              <a:spcBef>
                <a:spcPts val="0"/>
              </a:spcBef>
              <a:spcAft>
                <a:spcPts val="0"/>
              </a:spcAft>
            </a:pPr>
            <a:r>
              <a:rPr sz="900">
                <a:solidFill>
                  <a:srgbClr val="2F80FF"/>
                </a:solidFill>
                <a:latin typeface="Consolas"/>
              </a:rPr>
              <a:t>UNION ALL </a:t>
            </a:r>
          </a:p>
          <a:p>
            <a:pPr algn="l">
              <a:lnSpc>
                <a:spcPct val="100000"/>
              </a:lnSpc>
              <a:spcBef>
                <a:spcPts val="0"/>
              </a:spcBef>
              <a:spcAft>
                <a:spcPts val="0"/>
              </a:spcAft>
            </a:pPr>
            <a:r>
              <a:rPr sz="900">
                <a:solidFill>
                  <a:srgbClr val="2F80FF"/>
                </a:solidFill>
                <a:latin typeface="Consolas"/>
              </a:rPr>
              <a:t>SELECT</a:t>
            </a:r>
          </a:p>
          <a:p>
            <a:pPr algn="l">
              <a:lnSpc>
                <a:spcPct val="100000"/>
              </a:lnSpc>
              <a:spcBef>
                <a:spcPts val="0"/>
              </a:spcBef>
              <a:spcAft>
                <a:spcPts val="0"/>
              </a:spcAft>
            </a:pPr>
            <a:r>
              <a:rPr sz="900">
                <a:solidFill>
                  <a:srgbClr val="2F80FF"/>
                </a:solidFill>
                <a:latin typeface="Consolas"/>
              </a:rPr>
              <a:t>    tracking_number</a:t>
            </a:r>
          </a:p>
          <a:p>
            <a:pPr algn="l">
              <a:lnSpc>
                <a:spcPct val="100000"/>
              </a:lnSpc>
              <a:spcBef>
                <a:spcPts val="0"/>
              </a:spcBef>
              <a:spcAft>
                <a:spcPts val="0"/>
              </a:spcAft>
            </a:pPr>
            <a:r>
              <a:rPr sz="900">
                <a:solidFill>
                  <a:srgbClr val="2F80FF"/>
                </a:solidFill>
                <a:latin typeface="Consolas"/>
              </a:rPr>
              <a:t>FROM international_shipments;</a:t>
            </a:r>
          </a:p>
        </p:txBody>
      </p:sp>
      <p:sp>
        <p:nvSpPr>
          <p:cNvPr id="12" name="Text 10"/>
          <p:cNvSpPr/>
          <p:nvPr/>
        </p:nvSpPr>
        <p:spPr>
          <a:xfrm>
            <a:off x="4709160" y="2743200"/>
            <a:ext cx="3886200" cy="274320"/>
          </a:xfrm>
          <a:prstGeom prst="rect">
            <a:avLst/>
          </a:prstGeom>
          <a:noFill/>
          <a:ln/>
        </p:spPr>
        <p:txBody>
          <a:bodyPr wrap="square" lIns="0" tIns="0" rIns="0" bIns="0" rtlCol="0" anchor="ctr"/>
          <a:lstStyle/>
          <a:p>
            <a:pPr marL="0" indent="0" algn="l">
              <a:buNone/>
            </a:pPr>
            <a:r>
              <a:rPr lang="en-US" sz="1200" b="1" kern="0" spc="150" dirty="0">
                <a:solidFill>
                  <a:srgbClr val="22C55E"/>
                </a:solidFill>
                <a:latin typeface="Inter" pitchFamily="34" charset="0"/>
                <a:ea typeface="Inter" pitchFamily="34" charset="-122"/>
                <a:cs typeface="Inter" pitchFamily="34" charset="-120"/>
              </a:rPr>
              <a:t>EXPECTED RESULT</a:t>
            </a:r>
            <a:endParaRPr lang="en-US" sz="1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709160" y="3063240"/>
          <a:ext cx="3886200" cy="1066800"/>
        </p:xfrm>
        <a:graphic>
          <a:graphicData uri="http://schemas.openxmlformats.org/drawingml/2006/table">
            <a:tbl>
              <a:tblPr/>
              <a:tblGrid>
                <a:gridCol w="1051560">
                  <a:extLst>
                    <a:ext uri="{9D8B030D-6E8A-4147-A177-3AD203B41FA5}">
                      <a16:colId xmlns:a16="http://schemas.microsoft.com/office/drawing/2014/main" val="20000"/>
                    </a:ext>
                  </a:extLst>
                </a:gridCol>
                <a:gridCol w="169164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tblGrid>
              <a:tr h="251460">
                <a:tc>
                  <a:txBody>
                    <a:bodyPr anchor="ctr"/>
                    <a:lstStyle/>
                    <a:p>
                      <a:pPr algn="ctr">
                        <a:lnSpc>
                          <a:spcPct val="100000"/>
                        </a:lnSpc>
                        <a:spcBef>
                          <a:spcPts val="0"/>
                        </a:spcBef>
                        <a:spcAft>
                          <a:spcPts val="0"/>
                        </a:spcAft>
                      </a:pPr>
                      <a:r>
                        <a:rPr sz="1100" b="1">
                          <a:solidFill>
                            <a:srgbClr val="FFFFFF"/>
                          </a:solidFill>
                          <a:latin typeface="MiSans"/>
                        </a:rPr>
                        <a:t>product_name</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10243D"/>
                    </a:solidFill>
                  </a:tcPr>
                </a:tc>
                <a:extLst>
                  <a:ext uri="{0D108BD9-81ED-4DB2-BD59-A6C34878D82A}">
                    <a16:rowId xmlns:a16="http://schemas.microsoft.com/office/drawing/2014/main" val="10000"/>
                  </a:ext>
                </a:extLst>
              </a:tr>
              <a:tr h="251460">
                <a:tc>
                  <a:txBody>
                    <a:bodyPr anchor="ctr"/>
                    <a:lstStyle/>
                    <a:p>
                      <a:pPr algn="ctr">
                        <a:lnSpc>
                          <a:spcPct val="100000"/>
                        </a:lnSpc>
                        <a:spcBef>
                          <a:spcPts val="0"/>
                        </a:spcBef>
                        <a:spcAft>
                          <a:spcPts val="0"/>
                        </a:spcAft>
                      </a:pPr>
                      <a:r>
                        <a:rPr sz="1100" b="0">
                          <a:solidFill>
                            <a:srgbClr val="C9D4E5"/>
                          </a:solidFill>
                          <a:latin typeface="MiSans"/>
                        </a:rPr>
                        <a:t>Wireless Mouse</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1"/>
                  </a:ext>
                </a:extLst>
              </a:tr>
              <a:tr h="251460">
                <a:tc>
                  <a:txBody>
                    <a:bodyPr anchor="ctr"/>
                    <a:lstStyle/>
                    <a:p>
                      <a:pPr algn="ctr">
                        <a:lnSpc>
                          <a:spcPct val="100000"/>
                        </a:lnSpc>
                        <a:spcBef>
                          <a:spcPts val="0"/>
                        </a:spcBef>
                        <a:spcAft>
                          <a:spcPts val="0"/>
                        </a:spcAft>
                      </a:pPr>
                      <a:r>
                        <a:rPr sz="1100" b="0">
                          <a:solidFill>
                            <a:srgbClr val="C9D4E5"/>
                          </a:solidFill>
                          <a:latin typeface="MiSans"/>
                        </a:rPr>
                        <a:t>USB Keyboard</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2"/>
                  </a:ext>
                </a:extLst>
              </a:tr>
              <a:tr h="251460">
                <a:tc>
                  <a:txBody>
                    <a:bodyPr anchor="ctr"/>
                    <a:lstStyle/>
                    <a:p>
                      <a:pPr algn="ctr">
                        <a:lnSpc>
                          <a:spcPct val="100000"/>
                        </a:lnSpc>
                        <a:spcBef>
                          <a:spcPts val="0"/>
                        </a:spcBef>
                        <a:spcAft>
                          <a:spcPts val="0"/>
                        </a:spcAft>
                      </a:pPr>
                      <a:r>
                        <a:rPr sz="1100" b="0">
                          <a:solidFill>
                            <a:srgbClr val="C9D4E5"/>
                          </a:solidFill>
                          <a:latin typeface="MiSans"/>
                        </a:rPr>
                        <a:t>Office Chair</a:t>
                      </a: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tc>
                  <a:txBody>
                    <a:bodyPr anchor="ctr"/>
                    <a:lstStyle/>
                    <a:p>
                      <a:pPr algn="ctr">
                        <a:lnSpc>
                          <a:spcPct val="100000"/>
                        </a:lnSpc>
                        <a:spcBef>
                          <a:spcPts val="0"/>
                        </a:spcBef>
                        <a:spcAft>
                          <a:spcPts val="0"/>
                        </a:spcAft>
                      </a:pPr>
                    </a:p>
                  </a:txBody>
                  <a:tcPr anchor="ctr" marL="73152" marR="73152" marT="73152" marB="73152">
                    <a:lnL w="9525" cap="flat" cmpd="sng" algn="ctr">
                      <a:solidFill>
                        <a:srgbClr val="21314A"/>
                      </a:solidFill>
                      <a:prstDash val="solid"/>
                      <a:round/>
                      <a:headEnd type="none" w="med" len="med"/>
                      <a:tailEnd type="none" w="med" len="med"/>
                    </a:lnL>
                    <a:lnR w="9525" cap="flat" cmpd="sng" algn="ctr">
                      <a:solidFill>
                        <a:srgbClr val="21314A"/>
                      </a:solidFill>
                      <a:prstDash val="solid"/>
                      <a:round/>
                      <a:headEnd type="none" w="med" len="med"/>
                      <a:tailEnd type="none" w="med" len="med"/>
                    </a:lnR>
                    <a:lnT w="9525" cap="flat" cmpd="sng" algn="ctr">
                      <a:solidFill>
                        <a:srgbClr val="21314A"/>
                      </a:solidFill>
                      <a:prstDash val="solid"/>
                      <a:round/>
                      <a:headEnd type="none" w="med" len="med"/>
                      <a:tailEnd type="none" w="med" len="med"/>
                    </a:lnT>
                    <a:lnB w="9525" cap="flat" cmpd="sng" algn="ctr">
                      <a:solidFill>
                        <a:srgbClr val="21314A"/>
                      </a:solidFill>
                      <a:prstDash val="solid"/>
                      <a:round/>
                      <a:headEnd type="none" w="med" len="med"/>
                      <a:tailEnd type="none" w="med" len="med"/>
                    </a:lnB>
                    <a:solidFill>
                      <a:srgbClr val="0C1E33"/>
                    </a:solidFill>
                  </a:tcPr>
                </a:tc>
                <a:extLst>
                  <a:ext uri="{0D108BD9-81ED-4DB2-BD59-A6C34878D82A}">
                    <a16:rowId xmlns:a16="http://schemas.microsoft.com/office/drawing/2014/main" val="10003"/>
                  </a:ext>
                </a:extLst>
              </a:tr>
            </a:tbl>
          </a:graphicData>
        </a:graphic>
      </p:graphicFrame>
      <p:sp>
        <p:nvSpPr>
          <p:cNvPr id="22" name="Text 19"/>
          <p:cNvSpPr/>
          <p:nvPr/>
        </p:nvSpPr>
        <p:spPr>
          <a:xfrm>
            <a:off x="158750" y="4873244"/>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SQL-C021: UNION vs UNION ALL</a:t>
            </a:r>
          </a:p>
        </p:txBody>
      </p:sp>
      <p:sp>
        <p:nvSpPr>
          <p:cNvPr id="23" name="Text 20"/>
          <p:cNvSpPr/>
          <p:nvPr/>
        </p:nvSpPr>
        <p:spPr>
          <a:xfrm>
            <a:off x="8020050" y="485902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04 / 06</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1526"/>
        </a:solidFill>
        <a:effectLst/>
      </p:bgPr>
    </p:bg>
    <p:spTree>
      <p:nvGrpSpPr>
        <p:cNvPr id="1" name=""/>
        <p:cNvGrpSpPr/>
        <p:nvPr/>
      </p:nvGrpSpPr>
      <p:grpSpPr>
        <a:xfrm>
          <a:off x="0" y="0"/>
          <a:ext cx="0" cy="0"/>
          <a:chOff x="0" y="0"/>
          <a:chExt cx="0" cy="0"/>
        </a:xfrm>
      </p:grpSpPr>
      <p:sp>
        <p:nvSpPr>
          <p:cNvPr id="2" name="TextBox 1"/>
          <p:cNvSpPr txBox="1"/>
          <p:nvPr/>
        </p:nvSpPr>
        <p:spPr>
          <a:xfrm>
            <a:off x="548640" y="292608"/>
            <a:ext cx="8046720" cy="502920"/>
          </a:xfrm>
          <a:prstGeom prst="rect">
            <a:avLst/>
          </a:prstGeom>
          <a:noFill/>
        </p:spPr>
        <p:txBody>
          <a:bodyPr wrap="none" lIns="0" tIns="0">
            <a:spAutoFit/>
          </a:bodyPr>
          <a:lstStyle/>
          <a:p>
            <a:pPr algn="l"/>
            <a:r>
              <a:rPr sz="2800" b="1">
                <a:solidFill>
                  <a:srgbClr val="FFFFFF"/>
                </a:solidFill>
                <a:latin typeface="MiSans"/>
              </a:rPr>
              <a:t>Common Mistakes &amp; Best Practices</a:t>
            </a:r>
          </a:p>
        </p:txBody>
      </p:sp>
      <p:sp>
        <p:nvSpPr>
          <p:cNvPr id="3" name="TextBox 2"/>
          <p:cNvSpPr txBox="1"/>
          <p:nvPr/>
        </p:nvSpPr>
        <p:spPr>
          <a:xfrm>
            <a:off x="548640" y="1005840"/>
            <a:ext cx="3749039" cy="3474720"/>
          </a:xfrm>
          <a:prstGeom prst="rect">
            <a:avLst/>
          </a:prstGeom>
          <a:noFill/>
        </p:spPr>
        <p:txBody>
          <a:bodyPr wrap="square" lIns="0" rIns="0" tIns="0" bIns="0">
            <a:spAutoFit/>
          </a:bodyPr>
          <a:lstStyle/>
          <a:p>
            <a:pPr>
              <a:spcBef>
                <a:spcPts val="0"/>
              </a:spcBef>
              <a:spcAft>
                <a:spcPts val="800"/>
              </a:spcAft>
            </a:pPr>
            <a:r>
              <a:rPr sz="1500" b="1">
                <a:solidFill>
                  <a:srgbClr val="FF5C5C"/>
                </a:solidFill>
                <a:latin typeface="MiSans"/>
              </a:rPr>
              <a:t>MISTAKES</a:t>
            </a:r>
          </a:p>
          <a:p>
            <a:pPr>
              <a:lnSpc>
                <a:spcPct val="115000"/>
              </a:lnSpc>
              <a:spcBef>
                <a:spcPts val="0"/>
              </a:spcBef>
              <a:spcAft>
                <a:spcPts val="800"/>
              </a:spcAft>
            </a:pPr>
            <a:r>
              <a:rPr sz="1100" b="0">
                <a:solidFill>
                  <a:srgbClr val="C9D4E5"/>
                </a:solidFill>
                <a:latin typeface="MiSans"/>
              </a:rPr>
              <a:t>•  Forgetting to filter data correctly.</a:t>
            </a:r>
          </a:p>
          <a:p>
            <a:pPr>
              <a:lnSpc>
                <a:spcPct val="115000"/>
              </a:lnSpc>
              <a:spcBef>
                <a:spcPts val="0"/>
              </a:spcBef>
              <a:spcAft>
                <a:spcPts val="800"/>
              </a:spcAft>
            </a:pPr>
            <a:r>
              <a:rPr sz="1100" b="0">
                <a:solidFill>
                  <a:srgbClr val="C9D4E5"/>
                </a:solidFill>
                <a:latin typeface="MiSans"/>
              </a:rPr>
              <a:t>•  Using the wrong clause for the task.</a:t>
            </a:r>
          </a:p>
          <a:p>
            <a:pPr>
              <a:lnSpc>
                <a:spcPct val="115000"/>
              </a:lnSpc>
              <a:spcBef>
                <a:spcPts val="0"/>
              </a:spcBef>
              <a:spcAft>
                <a:spcPts val="2400"/>
              </a:spcAft>
            </a:pPr>
            <a:r>
              <a:rPr sz="1100" b="0">
                <a:solidFill>
                  <a:srgbClr val="C9D4E5"/>
                </a:solidFill>
                <a:latin typeface="MiSans"/>
              </a:rPr>
              <a:t>•  Ignoring query readability.</a:t>
            </a:r>
          </a:p>
          <a:p>
            <a:pPr>
              <a:spcBef>
                <a:spcPts val="0"/>
              </a:spcBef>
              <a:spcAft>
                <a:spcPts val="800"/>
              </a:spcAft>
            </a:pPr>
            <a:r>
              <a:rPr sz="1500" b="1">
                <a:solidFill>
                  <a:srgbClr val="FF5C5C"/>
                </a:solidFill>
                <a:latin typeface="MiSans"/>
              </a:rPr>
              <a:t>MESSY SQL</a:t>
            </a:r>
          </a:p>
          <a:p>
            <a:pPr>
              <a:lnSpc>
                <a:spcPct val="115000"/>
              </a:lnSpc>
              <a:spcBef>
                <a:spcPts val="0"/>
              </a:spcBef>
              <a:spcAft>
                <a:spcPts val="800"/>
              </a:spcAft>
            </a:pPr>
            <a:r>
              <a:rPr sz="1100" b="0">
                <a:solidFill>
                  <a:srgbClr val="C9D4E5"/>
                </a:solidFill>
                <a:latin typeface="MiSans"/>
              </a:rPr>
              <a:t>•  Poor formatting and layout.</a:t>
            </a:r>
          </a:p>
          <a:p>
            <a:pPr>
              <a:lnSpc>
                <a:spcPct val="115000"/>
              </a:lnSpc>
              <a:spcBef>
                <a:spcPts val="0"/>
              </a:spcBef>
              <a:spcAft>
                <a:spcPts val="800"/>
              </a:spcAft>
            </a:pPr>
            <a:r>
              <a:rPr sz="1100" b="0">
                <a:solidFill>
                  <a:srgbClr val="C9D4E5"/>
                </a:solidFill>
                <a:latin typeface="MiSans"/>
              </a:rPr>
              <a:t>•  Inconsistent naming conventions.</a:t>
            </a:r>
          </a:p>
          <a:p>
            <a:pPr>
              <a:lnSpc>
                <a:spcPct val="115000"/>
              </a:lnSpc>
              <a:spcBef>
                <a:spcPts val="0"/>
              </a:spcBef>
              <a:spcAft>
                <a:spcPts val="800"/>
              </a:spcAft>
            </a:pPr>
            <a:r>
              <a:rPr sz="1100" b="0">
                <a:solidFill>
                  <a:srgbClr val="C9D4E5"/>
                </a:solidFill>
                <a:latin typeface="MiSans"/>
              </a:rPr>
              <a:t>•  Difficult to maintain over time.</a:t>
            </a:r>
          </a:p>
        </p:txBody>
      </p:sp>
      <p:sp>
        <p:nvSpPr>
          <p:cNvPr id="4" name="TextBox 3"/>
          <p:cNvSpPr txBox="1"/>
          <p:nvPr/>
        </p:nvSpPr>
        <p:spPr>
          <a:xfrm>
            <a:off x="4846320" y="1005840"/>
            <a:ext cx="3749039" cy="3474720"/>
          </a:xfrm>
          <a:prstGeom prst="rect">
            <a:avLst/>
          </a:prstGeom>
          <a:noFill/>
        </p:spPr>
        <p:txBody>
          <a:bodyPr wrap="square" lIns="0" rIns="0" tIns="0" bIns="0">
            <a:spAutoFit/>
          </a:bodyPr>
          <a:lstStyle/>
          <a:p>
            <a:pPr>
              <a:spcBef>
                <a:spcPts val="0"/>
              </a:spcBef>
              <a:spcAft>
                <a:spcPts val="800"/>
              </a:spcAft>
            </a:pPr>
            <a:r>
              <a:rPr sz="1500" b="1">
                <a:solidFill>
                  <a:srgbClr val="2ECC71"/>
                </a:solidFill>
                <a:latin typeface="MiSans"/>
              </a:rPr>
              <a:t>BEST PRACTICES</a:t>
            </a:r>
          </a:p>
          <a:p>
            <a:pPr>
              <a:lnSpc>
                <a:spcPct val="115000"/>
              </a:lnSpc>
              <a:spcBef>
                <a:spcPts val="0"/>
              </a:spcBef>
              <a:spcAft>
                <a:spcPts val="800"/>
              </a:spcAft>
            </a:pPr>
            <a:r>
              <a:rPr sz="1100" b="0">
                <a:solidFill>
                  <a:srgbClr val="C9D4E5"/>
                </a:solidFill>
                <a:latin typeface="MiSans"/>
              </a:rPr>
              <a:t>•  Write clear and readable queries.</a:t>
            </a:r>
          </a:p>
          <a:p>
            <a:pPr>
              <a:lnSpc>
                <a:spcPct val="115000"/>
              </a:lnSpc>
              <a:spcBef>
                <a:spcPts val="0"/>
              </a:spcBef>
              <a:spcAft>
                <a:spcPts val="800"/>
              </a:spcAft>
            </a:pPr>
            <a:r>
              <a:rPr sz="1100" b="0">
                <a:solidFill>
                  <a:srgbClr val="C9D4E5"/>
                </a:solidFill>
                <a:latin typeface="MiSans"/>
              </a:rPr>
              <a:t>•  Follow SQL best practices.</a:t>
            </a:r>
          </a:p>
          <a:p>
            <a:pPr>
              <a:lnSpc>
                <a:spcPct val="115000"/>
              </a:lnSpc>
              <a:spcBef>
                <a:spcPts val="0"/>
              </a:spcBef>
              <a:spcAft>
                <a:spcPts val="2400"/>
              </a:spcAft>
            </a:pPr>
            <a:r>
              <a:rPr sz="1100" b="0">
                <a:solidFill>
                  <a:srgbClr val="C9D4E5"/>
                </a:solidFill>
                <a:latin typeface="MiSans"/>
              </a:rPr>
              <a:t>•  Validate results before execution.</a:t>
            </a:r>
          </a:p>
          <a:p>
            <a:pPr>
              <a:spcBef>
                <a:spcPts val="0"/>
              </a:spcBef>
              <a:spcAft>
                <a:spcPts val="800"/>
              </a:spcAft>
            </a:pPr>
            <a:r>
              <a:rPr sz="1500" b="1">
                <a:solidFill>
                  <a:srgbClr val="2ECC71"/>
                </a:solidFill>
                <a:latin typeface="MiSans"/>
              </a:rPr>
              <a:t>CLEAN SQL</a:t>
            </a:r>
          </a:p>
          <a:p>
            <a:pPr>
              <a:lnSpc>
                <a:spcPct val="115000"/>
              </a:lnSpc>
              <a:spcBef>
                <a:spcPts val="0"/>
              </a:spcBef>
              <a:spcAft>
                <a:spcPts val="800"/>
              </a:spcAft>
            </a:pPr>
            <a:r>
              <a:rPr sz="1100" b="0">
                <a:solidFill>
                  <a:srgbClr val="C9D4E5"/>
                </a:solidFill>
                <a:latin typeface="MiSans"/>
              </a:rPr>
              <a:t>•  Proper indentation and layout.</a:t>
            </a:r>
          </a:p>
          <a:p>
            <a:pPr>
              <a:lnSpc>
                <a:spcPct val="115000"/>
              </a:lnSpc>
              <a:spcBef>
                <a:spcPts val="0"/>
              </a:spcBef>
              <a:spcAft>
                <a:spcPts val="800"/>
              </a:spcAft>
            </a:pPr>
            <a:r>
              <a:rPr sz="1100" b="0">
                <a:solidFill>
                  <a:srgbClr val="C9D4E5"/>
                </a:solidFill>
                <a:latin typeface="MiSans"/>
              </a:rPr>
              <a:t>•  Meaningful aliases and naming.</a:t>
            </a:r>
          </a:p>
          <a:p>
            <a:pPr>
              <a:lnSpc>
                <a:spcPct val="115000"/>
              </a:lnSpc>
              <a:spcBef>
                <a:spcPts val="0"/>
              </a:spcBef>
              <a:spcAft>
                <a:spcPts val="800"/>
              </a:spcAft>
            </a:pPr>
            <a:r>
              <a:rPr sz="1100" b="0">
                <a:solidFill>
                  <a:srgbClr val="C9D4E5"/>
                </a:solidFill>
                <a:latin typeface="MiSans"/>
              </a:rPr>
              <a:t>•  Consistent formatting rules.</a:t>
            </a:r>
          </a:p>
        </p:txBody>
      </p:sp>
      <p:sp>
        <p:nvSpPr>
          <p:cNvPr id="5" name="TextBox 4"/>
          <p:cNvSpPr txBox="1"/>
          <p:nvPr/>
        </p:nvSpPr>
        <p:spPr>
          <a:xfrm>
            <a:off x="548640" y="4709160"/>
            <a:ext cx="5486400" cy="274320"/>
          </a:xfrm>
          <a:prstGeom prst="rect">
            <a:avLst/>
          </a:prstGeom>
          <a:noFill/>
        </p:spPr>
        <p:txBody>
          <a:bodyPr wrap="none" lIns="0" tIns="0">
            <a:spAutoFit/>
          </a:bodyPr>
          <a:lstStyle/>
          <a:p>
            <a:pPr algn="l"/>
            <a:r>
              <a:rPr sz="800">
                <a:solidFill>
                  <a:srgbClr val="8AA0BF"/>
                </a:solidFill>
                <a:latin typeface="MiSans"/>
              </a:rPr>
              <a:t>SQL MASTER  ·  SQL-C021: UNION vs UNION ALL</a:t>
            </a:r>
          </a:p>
        </p:txBody>
      </p:sp>
      <p:sp>
        <p:nvSpPr>
          <p:cNvPr id="6" name="TextBox 5"/>
          <p:cNvSpPr txBox="1"/>
          <p:nvPr/>
        </p:nvSpPr>
        <p:spPr>
          <a:xfrm>
            <a:off x="7772400" y="4709160"/>
            <a:ext cx="822960" cy="274320"/>
          </a:xfrm>
          <a:prstGeom prst="rect">
            <a:avLst/>
          </a:prstGeom>
          <a:noFill/>
        </p:spPr>
        <p:txBody>
          <a:bodyPr wrap="none" rIns="0" tIns="0">
            <a:spAutoFit/>
          </a:bodyPr>
          <a:lstStyle/>
          <a:p>
            <a:pPr algn="r"/>
            <a:r>
              <a:rPr sz="800">
                <a:solidFill>
                  <a:srgbClr val="8AA0BF"/>
                </a:solidFill>
                <a:latin typeface="MiSans"/>
              </a:rPr>
              <a:t>05 / 06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1526"/>
        </a:solidFill>
        <a:effectLst/>
      </p:bgPr>
    </p:bg>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109728" tIns="109728" rIns="109728" bIns="109728" rtlCol="0" anchor="ctr"/>
          <a:lstStyle/>
          <a:p>
            <a:pPr algn="l">
              <a:lnSpc>
                <a:spcPct val="115000"/>
              </a:lnSpc>
              <a:spcBef>
                <a:spcPts val="0"/>
              </a:spcBef>
              <a:spcAft>
                <a:spcPts val="0"/>
              </a:spcAft>
            </a:pPr>
            <a:r>
              <a:rPr sz="2400" b="1">
                <a:solidFill>
                  <a:srgbClr val="FFFFFF"/>
                </a:solidFill>
                <a:latin typeface="MiSans"/>
              </a:rPr>
              <a:t>Key Takeaways &amp; Your Challenge</a:t>
            </a:r>
          </a:p>
        </p:txBody>
      </p:sp>
      <p:sp>
        <p:nvSpPr>
          <p:cNvPr id="3" name="Text 1"/>
          <p:cNvSpPr/>
          <p:nvPr/>
        </p:nvSpPr>
        <p:spPr>
          <a:xfrm>
            <a:off x="548640" y="1005840"/>
            <a:ext cx="3749040" cy="274320"/>
          </a:xfrm>
          <a:prstGeom prst="rect">
            <a:avLst/>
          </a:prstGeom>
          <a:noFill/>
          <a:ln/>
        </p:spPr>
        <p:txBody>
          <a:bodyPr wrap="square" lIns="0" tIns="0" rIns="0" bIns="0" rtlCol="0" anchor="ctr"/>
          <a:lstStyle/>
          <a:p>
            <a:pPr marL="0" indent="0" algn="l">
              <a:buNone/>
            </a:pPr>
            <a:r>
              <a:rPr lang="en-US" sz="1200" b="1" kern="0" spc="150" dirty="0">
                <a:solidFill>
                  <a:srgbClr val="3B82F6"/>
                </a:solidFill>
                <a:latin typeface="Inter" pitchFamily="34" charset="0"/>
                <a:ea typeface="Inter" pitchFamily="34" charset="-122"/>
                <a:cs typeface="Inter" pitchFamily="34" charset="-120"/>
              </a:rPr>
              <a:t>KEY TAKEAWAYS</a:t>
            </a:r>
            <a:endParaRPr lang="en-US" sz="1200" dirty="0"/>
          </a:p>
        </p:txBody>
      </p:sp>
      <p:sp>
        <p:nvSpPr>
          <p:cNvPr id="4" name="Shape 2"/>
          <p:cNvSpPr/>
          <p:nvPr/>
        </p:nvSpPr>
        <p:spPr>
          <a:xfrm>
            <a:off x="548640" y="1325880"/>
            <a:ext cx="3749040" cy="1874520"/>
          </a:xfrm>
          <a:prstGeom prst="roundRect">
            <a:avLst>
              <a:gd name="adj" fmla="val 3902"/>
            </a:avLst>
          </a:prstGeom>
          <a:solidFill>
            <a:srgbClr val="0C1E33"/>
          </a:solidFill>
          <a:ln w="12700">
            <a:solidFill>
              <a:srgbClr val="21314A"/>
            </a:solidFill>
            <a:prstDash val="solid"/>
          </a:ln>
          <a:effectLst>
            <a:outerShdw blurRad="101600" dist="38100" dir="5400000" algn="bl" rotWithShape="0">
              <a:srgbClr val="000000">
                <a:alpha val="25000"/>
              </a:srgbClr>
            </a:outerShdw>
          </a:effectLst>
        </p:spPr>
        <p:txBody>
          <a:bodyPr/>
          <a:p/>
        </p:txBody>
      </p:sp>
      <p:sp>
        <p:nvSpPr>
          <p:cNvPr id="5" name="Text 3"/>
          <p:cNvSpPr/>
          <p:nvPr/>
        </p:nvSpPr>
        <p:spPr>
          <a:xfrm>
            <a:off x="749808" y="1481328"/>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6" name="Text 4"/>
          <p:cNvSpPr/>
          <p:nvPr/>
        </p:nvSpPr>
        <p:spPr>
          <a:xfrm>
            <a:off x="1024128" y="1481328"/>
            <a:ext cx="3108960" cy="384048"/>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300" b="0">
                <a:solidFill>
                  <a:srgbClr val="C9D4E5"/>
                </a:solidFill>
                <a:latin typeface="MiSans"/>
              </a:rPr>
              <a:t>Use UNION for specific single-condition tasks.</a:t>
            </a:r>
          </a:p>
        </p:txBody>
      </p:sp>
      <p:sp>
        <p:nvSpPr>
          <p:cNvPr id="7" name="Text 5"/>
          <p:cNvSpPr/>
          <p:nvPr/>
        </p:nvSpPr>
        <p:spPr>
          <a:xfrm>
            <a:off x="749808" y="1901952"/>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8" name="Text 6"/>
          <p:cNvSpPr/>
          <p:nvPr/>
        </p:nvSpPr>
        <p:spPr>
          <a:xfrm>
            <a:off x="1024128" y="1901952"/>
            <a:ext cx="3108960" cy="384048"/>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300" b="0">
                <a:solidFill>
                  <a:srgbClr val="C9D4E5"/>
                </a:solidFill>
                <a:latin typeface="MiSans"/>
              </a:rPr>
              <a:t>Choose UNION ALL when scaling complexity.</a:t>
            </a:r>
          </a:p>
        </p:txBody>
      </p:sp>
      <p:sp>
        <p:nvSpPr>
          <p:cNvPr id="9" name="Text 7"/>
          <p:cNvSpPr/>
          <p:nvPr/>
        </p:nvSpPr>
        <p:spPr>
          <a:xfrm>
            <a:off x="749808" y="2322576"/>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10" name="Text 8"/>
          <p:cNvSpPr/>
          <p:nvPr/>
        </p:nvSpPr>
        <p:spPr>
          <a:xfrm>
            <a:off x="1024128" y="2322576"/>
            <a:ext cx="3108960" cy="384048"/>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300" b="0">
                <a:solidFill>
                  <a:srgbClr val="C9D4E5"/>
                </a:solidFill>
                <a:latin typeface="MiSans"/>
              </a:rPr>
              <a:t>Understand performance differences.</a:t>
            </a:r>
          </a:p>
        </p:txBody>
      </p:sp>
      <p:sp>
        <p:nvSpPr>
          <p:cNvPr id="11" name="Text 9"/>
          <p:cNvSpPr/>
          <p:nvPr/>
        </p:nvSpPr>
        <p:spPr>
          <a:xfrm>
            <a:off x="749808" y="2743200"/>
            <a:ext cx="256032" cy="365760"/>
          </a:xfrm>
          <a:prstGeom prst="rect">
            <a:avLst/>
          </a:prstGeom>
          <a:noFill/>
          <a:ln/>
        </p:spPr>
        <p:txBody>
          <a:bodyPr wrap="square" lIns="0" tIns="0" rIns="0" bIns="0" rtlCol="0" anchor="t"/>
          <a:lstStyle/>
          <a:p>
            <a:pPr marL="0" indent="0">
              <a:buNone/>
            </a:pPr>
            <a:r>
              <a:rPr lang="en-US" sz="1300" b="1" dirty="0">
                <a:solidFill>
                  <a:srgbClr val="22C55E"/>
                </a:solidFill>
                <a:latin typeface="Inter" pitchFamily="34" charset="0"/>
                <a:ea typeface="Inter" pitchFamily="34" charset="-122"/>
                <a:cs typeface="Inter" pitchFamily="34" charset="-120"/>
              </a:rPr>
              <a:t>✓</a:t>
            </a:r>
            <a:endParaRPr lang="en-US" sz="1300" dirty="0"/>
          </a:p>
        </p:txBody>
      </p:sp>
      <p:sp>
        <p:nvSpPr>
          <p:cNvPr id="12" name="Text 10"/>
          <p:cNvSpPr/>
          <p:nvPr/>
        </p:nvSpPr>
        <p:spPr>
          <a:xfrm>
            <a:off x="1024128" y="2743200"/>
            <a:ext cx="3108960" cy="384048"/>
          </a:xfrm>
          <a:prstGeom prst="rect">
            <a:avLst/>
          </a:prstGeom>
          <a:noFill/>
          <a:ln/>
        </p:spPr>
        <p:txBody>
          <a:bodyPr wrap="square" lIns="109728" tIns="109728" rIns="109728" bIns="109728" rtlCol="0" anchor="ctr"/>
          <a:lstStyle/>
          <a:p>
            <a:pPr algn="l">
              <a:lnSpc>
                <a:spcPct val="115000"/>
              </a:lnSpc>
              <a:spcBef>
                <a:spcPts val="0"/>
              </a:spcBef>
              <a:spcAft>
                <a:spcPts val="0"/>
              </a:spcAft>
            </a:pPr>
            <a:r>
              <a:rPr sz="1300" b="0">
                <a:solidFill>
                  <a:srgbClr val="C9D4E5"/>
                </a:solidFill>
                <a:latin typeface="MiSans"/>
              </a:rPr>
              <a:t>Verify query compatibility.</a:t>
            </a:r>
          </a:p>
        </p:txBody>
      </p:sp>
      <p:sp>
        <p:nvSpPr>
          <p:cNvPr id="19" name="Text 17"/>
          <p:cNvSpPr/>
          <p:nvPr/>
        </p:nvSpPr>
        <p:spPr>
          <a:xfrm>
            <a:off x="4846320" y="1005840"/>
            <a:ext cx="3749040" cy="274320"/>
          </a:xfrm>
          <a:prstGeom prst="rect">
            <a:avLst/>
          </a:prstGeom>
          <a:noFill/>
          <a:ln/>
        </p:spPr>
        <p:txBody>
          <a:bodyPr wrap="square" lIns="0" tIns="0" rIns="0" bIns="0" rtlCol="0" anchor="ctr"/>
          <a:lstStyle/>
          <a:p>
            <a:pPr marL="0" indent="0" algn="l">
              <a:buNone/>
            </a:pPr>
            <a:r>
              <a:rPr lang="en-US" sz="1050" b="1" kern="0" spc="150" dirty="0">
                <a:solidFill>
                  <a:srgbClr val="3B82F6"/>
                </a:solidFill>
                <a:latin typeface="Inter" pitchFamily="34" charset="0"/>
                <a:ea typeface="Inter" pitchFamily="34" charset="-122"/>
                <a:cs typeface="Inter" pitchFamily="34" charset="-120"/>
              </a:rPr>
              <a:t>CONTINUE LEARNING</a:t>
            </a:r>
            <a:endParaRPr lang="en-US" sz="1200" dirty="0"/>
          </a:p>
        </p:txBody>
      </p:sp>
      <p:sp>
        <p:nvSpPr>
          <p:cNvPr id="21" name="Text 19"/>
          <p:cNvSpPr/>
          <p:nvPr/>
        </p:nvSpPr>
        <p:spPr>
          <a:xfrm>
            <a:off x="5102352" y="1325880"/>
            <a:ext cx="3291840" cy="274320"/>
          </a:xfrm>
          <a:prstGeom prst="rect">
            <a:avLst/>
          </a:prstGeom>
          <a:noFill/>
          <a:ln/>
        </p:spPr>
        <p:txBody>
          <a:bodyPr wrap="square" lIns="0" tIns="0" rIns="0" bIns="0" rtlCol="0" anchor="ctr"/>
          <a:lstStyle/>
          <a:p>
            <a:pPr marL="0" indent="0">
              <a:buNone/>
            </a:pPr>
            <a:r>
              <a:rPr lang="en-US" sz="1250" dirty="0">
                <a:solidFill>
                  <a:srgbClr val="D7DEE8"/>
                </a:solidFill>
                <a:latin typeface="Inter" pitchFamily="34" charset="0"/>
                <a:ea typeface="Inter" pitchFamily="34" charset="-122"/>
                <a:cs typeface="Inter" pitchFamily="34" charset="-120"/>
              </a:rPr>
              <a:t>Practice on DB Fiddle</a:t>
            </a:r>
            <a:endParaRPr lang="en-US" sz="1250" dirty="0"/>
          </a:p>
        </p:txBody>
      </p:sp>
      <p:sp>
        <p:nvSpPr>
          <p:cNvPr id="23" name="Text 21"/>
          <p:cNvSpPr/>
          <p:nvPr/>
        </p:nvSpPr>
        <p:spPr>
          <a:xfrm>
            <a:off x="5102352" y="1655064"/>
            <a:ext cx="3291840" cy="274320"/>
          </a:xfrm>
          <a:prstGeom prst="rect">
            <a:avLst/>
          </a:prstGeom>
          <a:noFill/>
          <a:ln/>
        </p:spPr>
        <p:txBody>
          <a:bodyPr wrap="square" lIns="0" tIns="0" rIns="0" bIns="0" rtlCol="0" anchor="ctr"/>
          <a:lstStyle/>
          <a:p>
            <a:pPr marL="0" indent="0">
              <a:buNone/>
            </a:pPr>
            <a:r>
              <a:rPr lang="en-US" sz="1250" dirty="0">
                <a:solidFill>
                  <a:srgbClr val="D7DEE8"/>
                </a:solidFill>
                <a:latin typeface="Inter" pitchFamily="34" charset="0"/>
                <a:ea typeface="Inter" pitchFamily="34" charset="-122"/>
                <a:cs typeface="Inter" pitchFamily="34" charset="-120"/>
              </a:rPr>
              <a:t>View Solution on GitHub</a:t>
            </a:r>
            <a:endParaRPr lang="en-US" sz="1250" dirty="0"/>
          </a:p>
        </p:txBody>
      </p:sp>
      <p:sp>
        <p:nvSpPr>
          <p:cNvPr id="26" name="Text 24"/>
          <p:cNvSpPr/>
          <p:nvPr/>
        </p:nvSpPr>
        <p:spPr>
          <a:xfrm>
            <a:off x="457200" y="4777740"/>
            <a:ext cx="45720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SQL MASTER  ·  SQL-C021: UNION vs UNION ALL</a:t>
            </a:r>
          </a:p>
        </p:txBody>
      </p:sp>
      <p:sp>
        <p:nvSpPr>
          <p:cNvPr id="27" name="Text 25"/>
          <p:cNvSpPr/>
          <p:nvPr/>
        </p:nvSpPr>
        <p:spPr>
          <a:xfrm>
            <a:off x="7772400" y="4777740"/>
            <a:ext cx="914400" cy="274320"/>
          </a:xfrm>
          <a:prstGeom prst="rect">
            <a:avLst/>
          </a:prstGeom>
          <a:noFill/>
          <a:ln/>
        </p:spPr>
        <p:txBody>
          <a:bodyPr wrap="square" lIns="109728" tIns="109728" rIns="109728" bIns="109728" rtlCol="0" anchor="ctr"/>
          <a:lstStyle/>
          <a:p>
            <a:pPr algn="ctr">
              <a:lnSpc>
                <a:spcPct val="115000"/>
              </a:lnSpc>
              <a:spcBef>
                <a:spcPts val="0"/>
              </a:spcBef>
              <a:spcAft>
                <a:spcPts val="0"/>
              </a:spcAft>
            </a:pPr>
            <a:r>
              <a:rPr sz="1100" b="0">
                <a:solidFill>
                  <a:srgbClr val="8AA0BF"/>
                </a:solidFill>
                <a:latin typeface="MiSans"/>
              </a:rPr>
              <a:t>06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71526"/>
        </a:solidFill>
        <a:effectLst/>
      </p:bgPr>
    </p:bg>
    <p:spTree>
      <p:nvGrpSpPr>
        <p:cNvPr id="1" name=""/>
        <p:cNvGrpSpPr/>
        <p:nvPr/>
      </p:nvGrpSpPr>
      <p:grpSpPr/>
      <p:sp>
        <p:nvSpPr>
          <p:cNvPr id="2" name="TextBox 1"/>
          <p:cNvSpPr txBox="1"/>
          <p:nvPr/>
        </p:nvSpPr>
        <p:spPr>
          <a:xfrm>
            <a:off x="548640" y="292608"/>
            <a:ext cx="8046720" cy="502920"/>
          </a:xfrm>
          <a:prstGeom prst="rect">
            <a:avLst/>
          </a:prstGeom>
          <a:noFill/>
        </p:spPr>
        <p:txBody>
          <a:bodyPr wrap="none" lIns="0" tIns="0">
            <a:spAutoFit/>
          </a:bodyPr>
          <a:lstStyle/>
          <a:p>
            <a:r>
              <a:rPr sz="2800" b="1">
                <a:solidFill>
                  <a:srgbClr val="FFFFFF"/>
                </a:solidFill>
                <a:latin typeface="MiSans"/>
              </a:rPr>
              <a:t>PRACTICE CHALLENGE</a:t>
            </a:r>
          </a:p>
        </p:txBody>
      </p:sp>
      <p:sp>
        <p:nvSpPr>
          <p:cNvPr id="3" name="TextBox 2"/>
          <p:cNvSpPr txBox="1"/>
          <p:nvPr/>
        </p:nvSpPr>
        <p:spPr>
          <a:xfrm>
            <a:off x="548640" y="795528"/>
            <a:ext cx="8046720" cy="320040"/>
          </a:xfrm>
          <a:prstGeom prst="rect">
            <a:avLst/>
          </a:prstGeom>
          <a:noFill/>
        </p:spPr>
        <p:txBody>
          <a:bodyPr wrap="none" lIns="0" tIns="0">
            <a:spAutoFit/>
          </a:bodyPr>
          <a:lstStyle/>
          <a:p>
            <a:r>
              <a:rPr sz="1400">
                <a:solidFill>
                  <a:srgbClr val="C9D4E5"/>
                </a:solidFill>
                <a:latin typeface="MiSans"/>
              </a:rPr>
              <a:t>Test your understanding by solving the following questions before viewing the solution.</a:t>
            </a:r>
          </a:p>
        </p:txBody>
      </p:sp>
      <p:sp>
        <p:nvSpPr>
          <p:cNvPr id="4" name="TextBox 3"/>
          <p:cNvSpPr txBox="1"/>
          <p:nvPr/>
        </p:nvSpPr>
        <p:spPr>
          <a:xfrm>
            <a:off x="548640" y="1234440"/>
            <a:ext cx="8046720" cy="2926080"/>
          </a:xfrm>
          <a:prstGeom prst="rect">
            <a:avLst/>
          </a:prstGeom>
          <a:noFill/>
        </p:spPr>
        <p:txBody>
          <a:bodyPr wrap="square" lIns="0" rIns="0" tIns="0" bIns="0">
            <a:spAutoFit/>
          </a:bodyPr>
          <a:lstStyle/>
          <a:p>
            <a:pPr>
              <a:spcBef>
                <a:spcPts val="0"/>
              </a:spcBef>
              <a:spcAft>
                <a:spcPts val="400"/>
              </a:spcAft>
            </a:pPr>
            <a:r>
              <a:rPr sz="1400" b="1">
                <a:solidFill>
                  <a:srgbClr val="FFFFFF"/>
                </a:solidFill>
                <a:latin typeface="MiSans"/>
              </a:rPr>
              <a:t>Question 1</a:t>
            </a:r>
          </a:p>
          <a:p>
            <a:pPr>
              <a:lnSpc>
                <a:spcPct val="120000"/>
              </a:lnSpc>
              <a:spcBef>
                <a:spcPts val="0"/>
              </a:spcBef>
              <a:spcAft>
                <a:spcPts val="1000"/>
              </a:spcAft>
            </a:pPr>
            <a:r>
              <a:rPr sz="1100">
                <a:solidFill>
                  <a:srgbClr val="C9D4E5"/>
                </a:solidFill>
                <a:latin typeface="MiSans"/>
              </a:rPr>
              <a:t>Write both UNION and UNION ALL between domestic_shipments and international_shipments tracking numbers. Count the rows. UNION should have fewer due to duplicate removal.</a:t>
            </a:r>
          </a:p>
          <a:p>
            <a:pPr>
              <a:spcBef>
                <a:spcPts val="1200"/>
              </a:spcBef>
              <a:spcAft>
                <a:spcPts val="400"/>
              </a:spcAft>
            </a:pPr>
            <a:r>
              <a:rPr sz="1400" b="1">
                <a:solidFill>
                  <a:srgbClr val="FFFFFF"/>
                </a:solidFill>
                <a:latin typeface="MiSans"/>
              </a:rPr>
              <a:t>Question 2</a:t>
            </a:r>
          </a:p>
          <a:p>
            <a:pPr>
              <a:lnSpc>
                <a:spcPct val="120000"/>
              </a:lnSpc>
              <a:spcBef>
                <a:spcPts val="0"/>
              </a:spcBef>
              <a:spcAft>
                <a:spcPts val="1000"/>
              </a:spcAft>
            </a:pPr>
            <a:r>
              <a:rPr sz="1100">
                <a:solidFill>
                  <a:srgbClr val="C9D4E5"/>
                </a:solidFill>
                <a:latin typeface="MiSans"/>
              </a:rPr>
              <a:t>Write UNION and UNION ALL for Delivered shipments from both tables. Observe if BD-1001 (which appears twice in domestic) affects the count.</a:t>
            </a:r>
          </a:p>
          <a:p>
            <a:pPr>
              <a:spcBef>
                <a:spcPts val="1200"/>
              </a:spcBef>
              <a:spcAft>
                <a:spcPts val="400"/>
              </a:spcAft>
            </a:pPr>
            <a:r>
              <a:rPr sz="1400" b="1">
                <a:solidFill>
                  <a:srgbClr val="FFFFFF"/>
                </a:solidFill>
                <a:latin typeface="MiSans"/>
              </a:rPr>
              <a:t>Question 3</a:t>
            </a:r>
          </a:p>
          <a:p>
            <a:pPr>
              <a:lnSpc>
                <a:spcPct val="120000"/>
              </a:lnSpc>
              <a:spcBef>
                <a:spcPts val="0"/>
              </a:spcBef>
              <a:spcAft>
                <a:spcPts val="1000"/>
              </a:spcAft>
            </a:pPr>
            <a:r>
              <a:rPr sz="1100">
                <a:solidFill>
                  <a:srgbClr val="C9D4E5"/>
                </a:solidFill>
                <a:latin typeface="MiSans"/>
              </a:rPr>
              <a:t>(A) Use UNION when you need a unique list of tracking numbers across all shipments.
(B) Use UNION ALL when you need to count total shipment events including repeats.
Write both and explain the difference in row counts.</a:t>
            </a:r>
          </a:p>
          <a:p>
            <a:pPr>
              <a:spcBef>
                <a:spcPts val="1200"/>
              </a:spcBef>
              <a:spcAft>
                <a:spcPts val="400"/>
              </a:spcAft>
            </a:pPr>
            <a:r>
              <a:rPr sz="1400" b="1">
                <a:solidFill>
                  <a:srgbClr val="FFFFFF"/>
                </a:solidFill>
                <a:latin typeface="MiSans"/>
              </a:rPr>
              <a:t>Question 4</a:t>
            </a:r>
          </a:p>
          <a:p>
            <a:pPr>
              <a:lnSpc>
                <a:spcPct val="120000"/>
              </a:lnSpc>
              <a:spcBef>
                <a:spcPts val="0"/>
              </a:spcBef>
              <a:spcAft>
                <a:spcPts val="1000"/>
              </a:spcAft>
            </a:pPr>
            <a:r>
              <a:rPr sz="1100">
                <a:solidFill>
                  <a:srgbClr val="C9D4E5"/>
                </a:solidFill>
                <a:latin typeface="MiSans"/>
              </a:rPr>
              <a:t>Write a query to demonstrate: </a:t>
            </a:r>
            <a:r>
              <a:rPr sz="900">
                <a:solidFill>
                  <a:srgbClr val="C9D4E5"/>
                </a:solidFill>
                <a:latin typeface="Consolas"/>
              </a:rPr>
              <a:t>SELECT COUNT(*) FROM (UNION version) vs SELECT COUNT(*) FROM (UNION ALL version)</a:t>
            </a:r>
            <a:r>
              <a:rPr sz="1100">
                <a:solidFill>
                  <a:srgbClr val="C9D4E5"/>
                </a:solidFill>
                <a:latin typeface="MiSans"/>
              </a:rPr>
              <a:t>. Show the difference in numbers clearly.</a:t>
            </a:r>
          </a:p>
        </p:txBody>
      </p:sp>
      <p:sp>
        <p:nvSpPr>
          <p:cNvPr id="5" name="TextBox 4"/>
          <p:cNvSpPr txBox="1"/>
          <p:nvPr/>
        </p:nvSpPr>
        <p:spPr>
          <a:xfrm>
            <a:off x="548640" y="4709160"/>
            <a:ext cx="5486400" cy="274320"/>
          </a:xfrm>
          <a:prstGeom prst="rect">
            <a:avLst/>
          </a:prstGeom>
          <a:noFill/>
        </p:spPr>
        <p:txBody>
          <a:bodyPr wrap="none" lIns="0" tIns="0">
            <a:spAutoFit/>
          </a:bodyPr>
          <a:lstStyle/>
          <a:p>
            <a:r>
              <a:rPr sz="800">
                <a:solidFill>
                  <a:srgbClr val="8AA0BF"/>
                </a:solidFill>
                <a:latin typeface="MiSans"/>
              </a:rPr>
              <a:t>SQL MASTER  ·  SQL-C021: UNION vs UNION ALL</a:t>
            </a:r>
          </a:p>
        </p:txBody>
      </p:sp>
      <p:sp>
        <p:nvSpPr>
          <p:cNvPr id="6" name="TextBox 5"/>
          <p:cNvSpPr txBox="1"/>
          <p:nvPr/>
        </p:nvSpPr>
        <p:spPr>
          <a:xfrm>
            <a:off x="7772400" y="4709160"/>
            <a:ext cx="822960" cy="274320"/>
          </a:xfrm>
          <a:prstGeom prst="rect">
            <a:avLst/>
          </a:prstGeom>
          <a:noFill/>
        </p:spPr>
        <p:txBody>
          <a:bodyPr wrap="none" rIns="0" tIns="0">
            <a:spAutoFit/>
          </a:bodyPr>
          <a:lstStyle/>
          <a:p>
            <a:pPr algn="r"/>
            <a:r>
              <a:rPr sz="800">
                <a:solidFill>
                  <a:srgbClr val="8AA0BF"/>
                </a:solidFill>
                <a:latin typeface="MiSans"/>
              </a:rPr>
              <a:t>07 / 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579</Words>
  <Application>Microsoft Office PowerPoint</Application>
  <PresentationFormat>On-screen Show (16:9)</PresentationFormat>
  <Paragraphs>186</Paragraphs>
  <Slides>6</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vt:i4>
      </vt:variant>
    </vt:vector>
  </HeadingPairs>
  <TitlesOfParts>
    <vt:vector size="12" baseType="lpstr">
      <vt:lpstr>Arial</vt:lpstr>
      <vt:lpstr>Calibri</vt:lpstr>
      <vt:lpstr>Inter</vt:lpstr>
      <vt:lpstr>JetBrains Mono</vt:lpstr>
      <vt:lpstr>MiSans SemiBold</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SQL-002 — WHERE</dc:title>
  <dc:subject>PptxGenJS Presentation</dc:subject>
  <dc:creator>SQL Master</dc:creator>
  <cp:lastModifiedBy>Zuboraj</cp:lastModifiedBy>
  <cp:revision>4</cp:revision>
  <dcterms:created xsi:type="dcterms:W3CDTF">2026-07-08T08:16:46Z</dcterms:created>
  <dcterms:modified xsi:type="dcterms:W3CDTF">2026-07-08T09:47:15Z</dcterms:modified>
</cp:coreProperties>
</file>