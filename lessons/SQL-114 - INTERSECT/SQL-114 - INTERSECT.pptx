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 id="262"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1" d="100"/>
          <a:sy n="151" d="100"/>
        </p:scale>
        <p:origin x="47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1350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526"/>
        </a:solidFill>
        <a:effectLst/>
      </p:bgPr>
    </p:bg>
    <p:spTree>
      <p:nvGrpSpPr>
        <p:cNvPr id="1" name=""/>
        <p:cNvGrpSpPr/>
        <p:nvPr/>
      </p:nvGrpSpPr>
      <p:grpSpPr>
        <a:xfrm>
          <a:off x="0" y="0"/>
          <a:ext cx="0" cy="0"/>
          <a:chOff x="0" y="0"/>
          <a:chExt cx="0" cy="0"/>
        </a:xfrm>
      </p:grpSpPr>
      <p:sp>
        <p:nvSpPr>
          <p:cNvPr id="2" name="Shape 0"/>
          <p:cNvSpPr/>
          <p:nvPr/>
        </p:nvSpPr>
        <p:spPr>
          <a:xfrm>
            <a:off x="548640" y="457200"/>
            <a:ext cx="1371600" cy="365760"/>
          </a:xfrm>
          <a:prstGeom prst="roundRect">
            <a:avLst>
              <a:gd name="adj" fmla="val 50000"/>
            </a:avLst>
          </a:prstGeom>
          <a:solidFill>
            <a:srgbClr val="0F2540"/>
          </a:solidFill>
          <a:ln w="12700">
            <a:solidFill>
              <a:srgbClr val="3B82F6"/>
            </a:solidFill>
            <a:prstDash val="solid"/>
          </a:ln>
        </p:spPr>
        <p:txBody>
          <a:bodyPr/>
          <a:p/>
        </p:txBody>
      </p:sp>
      <p:sp>
        <p:nvSpPr>
          <p:cNvPr id="3" name="Text 1"/>
          <p:cNvSpPr/>
          <p:nvPr/>
        </p:nvSpPr>
        <p:spPr>
          <a:xfrm>
            <a:off x="548640" y="457200"/>
            <a:ext cx="1371600" cy="36576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2000" b="0">
                <a:solidFill>
                  <a:srgbClr val="8AA0BF"/>
                </a:solidFill>
                <a:latin typeface="MiSans"/>
              </a:rPr>
              <a:t>SQL-114</a:t>
            </a:r>
          </a:p>
        </p:txBody>
      </p:sp>
      <p:sp>
        <p:nvSpPr>
          <p:cNvPr id="4" name="Text 2"/>
          <p:cNvSpPr/>
          <p:nvPr/>
        </p:nvSpPr>
        <p:spPr>
          <a:xfrm>
            <a:off x="548640" y="914400"/>
            <a:ext cx="5669280" cy="9144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2000" b="1">
                <a:solidFill>
                  <a:srgbClr val="FFFFFF"/>
                </a:solidFill>
                <a:latin typeface="MiSans"/>
              </a:rPr>
              <a:t>INTERSECT</a:t>
            </a:r>
          </a:p>
        </p:txBody>
      </p:sp>
      <p:sp>
        <p:nvSpPr>
          <p:cNvPr id="5" name="Text 3"/>
          <p:cNvSpPr/>
          <p:nvPr/>
        </p:nvSpPr>
        <p:spPr>
          <a:xfrm>
            <a:off x="548640" y="1691640"/>
            <a:ext cx="5486400"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2000" b="0">
                <a:solidFill>
                  <a:srgbClr val="C9D4E5"/>
                </a:solidFill>
                <a:latin typeface="MiSans"/>
              </a:rPr>
              <a:t>Filter rows matching values inside a set list.</a:t>
            </a:r>
          </a:p>
        </p:txBody>
      </p:sp>
      <p:sp>
        <p:nvSpPr>
          <p:cNvPr id="6" name="Text 4"/>
          <p:cNvSpPr/>
          <p:nvPr/>
        </p:nvSpPr>
        <p:spPr>
          <a:xfrm>
            <a:off x="548640" y="2148840"/>
            <a:ext cx="5120640" cy="82296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500" b="0">
                <a:solidFill>
                  <a:srgbClr val="C9D4E5"/>
                </a:solidFill>
                <a:latin typeface="MiSans"/>
              </a:rPr>
              <a:t>IN is a comparison operator that checks if a column value matches any element in a list.</a:t>
            </a:r>
          </a:p>
        </p:txBody>
      </p:sp>
      <p:sp>
        <p:nvSpPr>
          <p:cNvPr id="7" name="Text 5"/>
          <p:cNvSpPr/>
          <p:nvPr/>
        </p:nvSpPr>
        <p:spPr>
          <a:xfrm>
            <a:off x="548640" y="3246120"/>
            <a:ext cx="274320" cy="320040"/>
          </a:xfrm>
          <a:prstGeom prst="rect">
            <a:avLst/>
          </a:prstGeom>
          <a:noFill/>
          <a:ln/>
        </p:spPr>
        <p:txBody>
          <a:bodyPr wrap="square" lIns="0" tIns="0" rIns="0" bIns="0" rtlCol="0" anchor="ctr"/>
          <a:lstStyle/>
          <a:p>
            <a:pPr marL="0" indent="0">
              <a:buNone/>
            </a:pPr>
            <a:r>
              <a:rPr lang="en-US" sz="1400" b="1" dirty="0">
                <a:solidFill>
                  <a:srgbClr val="22C55E"/>
                </a:solidFill>
                <a:latin typeface="Inter" pitchFamily="34" charset="0"/>
                <a:ea typeface="Inter" pitchFamily="34" charset="-122"/>
                <a:cs typeface="Inter" pitchFamily="34" charset="-120"/>
              </a:rPr>
              <a:t>✓</a:t>
            </a:r>
            <a:endParaRPr lang="en-US" sz="1400" dirty="0"/>
          </a:p>
        </p:txBody>
      </p:sp>
      <p:sp>
        <p:nvSpPr>
          <p:cNvPr id="8" name="Text 6"/>
          <p:cNvSpPr/>
          <p:nvPr/>
        </p:nvSpPr>
        <p:spPr>
          <a:xfrm>
            <a:off x="868680" y="3246120"/>
            <a:ext cx="4389120"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400" b="0">
                <a:solidFill>
                  <a:srgbClr val="C9D4E5"/>
                </a:solidFill>
                <a:latin typeface="MiSans"/>
              </a:rPr>
              <a:t>Practical Business Examples</a:t>
            </a:r>
          </a:p>
        </p:txBody>
      </p:sp>
      <p:sp>
        <p:nvSpPr>
          <p:cNvPr id="9" name="Text 7"/>
          <p:cNvSpPr/>
          <p:nvPr/>
        </p:nvSpPr>
        <p:spPr>
          <a:xfrm>
            <a:off x="548640" y="3630168"/>
            <a:ext cx="274320" cy="320040"/>
          </a:xfrm>
          <a:prstGeom prst="rect">
            <a:avLst/>
          </a:prstGeom>
          <a:noFill/>
          <a:ln/>
        </p:spPr>
        <p:txBody>
          <a:bodyPr wrap="square" lIns="0" tIns="0" rIns="0" bIns="0" rtlCol="0" anchor="ctr"/>
          <a:lstStyle/>
          <a:p>
            <a:pPr marL="0" indent="0">
              <a:buNone/>
            </a:pPr>
            <a:r>
              <a:rPr lang="en-US" sz="1400" b="1" dirty="0">
                <a:solidFill>
                  <a:srgbClr val="22C55E"/>
                </a:solidFill>
                <a:latin typeface="Inter" pitchFamily="34" charset="0"/>
                <a:ea typeface="Inter" pitchFamily="34" charset="-122"/>
                <a:cs typeface="Inter" pitchFamily="34" charset="-120"/>
              </a:rPr>
              <a:t>✓</a:t>
            </a:r>
            <a:endParaRPr lang="en-US" sz="1400" dirty="0"/>
          </a:p>
        </p:txBody>
      </p:sp>
      <p:sp>
        <p:nvSpPr>
          <p:cNvPr id="10" name="Text 8"/>
          <p:cNvSpPr/>
          <p:nvPr/>
        </p:nvSpPr>
        <p:spPr>
          <a:xfrm>
            <a:off x="868680" y="3630168"/>
            <a:ext cx="4389120"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400" b="0">
                <a:solidFill>
                  <a:srgbClr val="C9D4E5"/>
                </a:solidFill>
                <a:latin typeface="MiSans"/>
              </a:rPr>
              <a:t>Real SQL Practice</a:t>
            </a:r>
          </a:p>
        </p:txBody>
      </p:sp>
      <p:sp>
        <p:nvSpPr>
          <p:cNvPr id="11" name="Text 9"/>
          <p:cNvSpPr/>
          <p:nvPr/>
        </p:nvSpPr>
        <p:spPr>
          <a:xfrm>
            <a:off x="548640" y="4014216"/>
            <a:ext cx="274320" cy="320040"/>
          </a:xfrm>
          <a:prstGeom prst="rect">
            <a:avLst/>
          </a:prstGeom>
          <a:noFill/>
          <a:ln/>
        </p:spPr>
        <p:txBody>
          <a:bodyPr wrap="square" lIns="0" tIns="0" rIns="0" bIns="0" rtlCol="0" anchor="ctr"/>
          <a:lstStyle/>
          <a:p>
            <a:pPr marL="0" indent="0">
              <a:buNone/>
            </a:pPr>
            <a:r>
              <a:rPr lang="en-US" sz="1400" b="1" dirty="0">
                <a:solidFill>
                  <a:srgbClr val="22C55E"/>
                </a:solidFill>
                <a:latin typeface="Inter" pitchFamily="34" charset="0"/>
                <a:ea typeface="Inter" pitchFamily="34" charset="-122"/>
                <a:cs typeface="Inter" pitchFamily="34" charset="-120"/>
              </a:rPr>
              <a:t>✓</a:t>
            </a:r>
            <a:endParaRPr lang="en-US" sz="1400" dirty="0"/>
          </a:p>
        </p:txBody>
      </p:sp>
      <p:sp>
        <p:nvSpPr>
          <p:cNvPr id="12" name="Text 10"/>
          <p:cNvSpPr/>
          <p:nvPr/>
        </p:nvSpPr>
        <p:spPr>
          <a:xfrm>
            <a:off x="868680" y="4014216"/>
            <a:ext cx="4389120"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400" b="0">
                <a:solidFill>
                  <a:srgbClr val="C9D4E5"/>
                </a:solidFill>
                <a:latin typeface="MiSans"/>
              </a:rPr>
              <a:t>Beginner Friendly</a:t>
            </a:r>
          </a:p>
        </p:txBody>
      </p:sp>
      <p:sp>
        <p:nvSpPr>
          <p:cNvPr id="13" name="Shape 11"/>
          <p:cNvSpPr/>
          <p:nvPr/>
        </p:nvSpPr>
        <p:spPr>
          <a:xfrm>
            <a:off x="5989320" y="502920"/>
            <a:ext cx="2651760" cy="1691640"/>
          </a:xfrm>
          <a:prstGeom prst="roundRect">
            <a:avLst>
              <a:gd name="adj" fmla="val 4324"/>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4" name="Text 12"/>
          <p:cNvSpPr/>
          <p:nvPr/>
        </p:nvSpPr>
        <p:spPr>
          <a:xfrm>
            <a:off x="6190488" y="649224"/>
            <a:ext cx="2249424" cy="1399032"/>
          </a:xfrm>
          <a:prstGeom prst="rect">
            <a:avLst/>
          </a:prstGeom>
          <a:noFill/>
          <a:ln/>
        </p:spPr>
        <p:txBody>
          <a:bodyPr wrap="square" lIns="109728" tIns="109728" rIns="109728" bIns="109728" rtlCol="0" anchor="ctr"/>
          <a:lstStyle/>
          <a:p>
            <a:pPr algn="l">
              <a:lnSpc>
                <a:spcPct val="100000"/>
              </a:lnSpc>
              <a:spcBef>
                <a:spcPts val="0"/>
              </a:spcBef>
              <a:spcAft>
                <a:spcPts val="0"/>
              </a:spcAft>
            </a:pPr>
            <a:r>
              <a:rPr sz="900">
                <a:solidFill>
                  <a:srgbClr val="2F80FF"/>
                </a:solidFill>
                <a:latin typeface="Consolas"/>
              </a:rPr>
              <a:t>SELECT DISTINCT</a:t>
            </a:r>
          </a:p>
          <a:p>
            <a:pPr algn="l">
              <a:lnSpc>
                <a:spcPct val="100000"/>
              </a:lnSpc>
              <a:spcBef>
                <a:spcPts val="0"/>
              </a:spcBef>
              <a:spcAft>
                <a:spcPts val="0"/>
              </a:spcAft>
            </a:pPr>
            <a:r>
              <a:rPr sz="900">
                <a:solidFill>
                  <a:srgbClr val="2F80FF"/>
                </a:solidFill>
                <a:latin typeface="Consolas"/>
              </a:rPr>
              <a:t>    d.tracking_number</a:t>
            </a:r>
          </a:p>
          <a:p>
            <a:pPr algn="l">
              <a:lnSpc>
                <a:spcPct val="100000"/>
              </a:lnSpc>
              <a:spcBef>
                <a:spcPts val="0"/>
              </a:spcBef>
              <a:spcAft>
                <a:spcPts val="0"/>
              </a:spcAft>
            </a:pPr>
            <a:r>
              <a:rPr sz="900">
                <a:solidFill>
                  <a:srgbClr val="2F80FF"/>
                </a:solidFill>
                <a:latin typeface="Consolas"/>
              </a:rPr>
              <a:t>FROM domestic_shipments d</a:t>
            </a:r>
          </a:p>
          <a:p>
            <a:pPr algn="l">
              <a:lnSpc>
                <a:spcPct val="100000"/>
              </a:lnSpc>
              <a:spcBef>
                <a:spcPts val="0"/>
              </a:spcBef>
              <a:spcAft>
                <a:spcPts val="0"/>
              </a:spcAft>
            </a:pPr>
            <a:r>
              <a:rPr sz="900">
                <a:solidFill>
                  <a:srgbClr val="2F80FF"/>
                </a:solidFill>
                <a:latin typeface="Consolas"/>
              </a:rPr>
              <a:t>INNER JOIN returned_shipments r ON d.tracking_number = r.tracking_number;</a:t>
            </a:r>
          </a:p>
        </p:txBody>
      </p:sp>
      <p:sp>
        <p:nvSpPr>
          <p:cNvPr id="15" name="Shape 13"/>
          <p:cNvSpPr/>
          <p:nvPr/>
        </p:nvSpPr>
        <p:spPr>
          <a:xfrm>
            <a:off x="5989320" y="2395728"/>
            <a:ext cx="2651760" cy="457200"/>
          </a:xfrm>
          <a:prstGeom prst="roundRect">
            <a:avLst>
              <a:gd name="adj" fmla="val 12000"/>
            </a:avLst>
          </a:prstGeom>
          <a:solidFill>
            <a:srgbClr val="0F2540"/>
          </a:solidFill>
          <a:ln w="12700">
            <a:solidFill>
              <a:srgbClr val="21314A"/>
            </a:solidFill>
            <a:prstDash val="solid"/>
          </a:ln>
        </p:spPr>
        <p:txBody>
          <a:bodyPr/>
          <a:p/>
        </p:txBody>
      </p:sp>
      <p:sp>
        <p:nvSpPr>
          <p:cNvPr id="16" name="Text 14"/>
          <p:cNvSpPr/>
          <p:nvPr/>
        </p:nvSpPr>
        <p:spPr>
          <a:xfrm>
            <a:off x="5989320" y="2395728"/>
            <a:ext cx="2651760"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Database</a:t>
            </a:r>
          </a:p>
        </p:txBody>
      </p:sp>
      <p:sp>
        <p:nvSpPr>
          <p:cNvPr id="17" name="Text 15"/>
          <p:cNvSpPr/>
          <p:nvPr/>
        </p:nvSpPr>
        <p:spPr>
          <a:xfrm>
            <a:off x="5989320" y="2834640"/>
            <a:ext cx="2651760" cy="27432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18" name="Shape 16"/>
          <p:cNvSpPr/>
          <p:nvPr/>
        </p:nvSpPr>
        <p:spPr>
          <a:xfrm>
            <a:off x="5989320" y="2980944"/>
            <a:ext cx="2651760" cy="457200"/>
          </a:xfrm>
          <a:prstGeom prst="roundRect">
            <a:avLst>
              <a:gd name="adj" fmla="val 12000"/>
            </a:avLst>
          </a:prstGeom>
          <a:solidFill>
            <a:srgbClr val="0F2540"/>
          </a:solidFill>
          <a:ln w="12700">
            <a:solidFill>
              <a:srgbClr val="21314A"/>
            </a:solidFill>
            <a:prstDash val="solid"/>
          </a:ln>
        </p:spPr>
        <p:txBody>
          <a:bodyPr/>
          <a:p/>
        </p:txBody>
      </p:sp>
      <p:sp>
        <p:nvSpPr>
          <p:cNvPr id="19" name="Text 17"/>
          <p:cNvSpPr/>
          <p:nvPr/>
        </p:nvSpPr>
        <p:spPr>
          <a:xfrm>
            <a:off x="5989320" y="2980944"/>
            <a:ext cx="2651760"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domestic_shipments Table</a:t>
            </a:r>
          </a:p>
        </p:txBody>
      </p:sp>
      <p:sp>
        <p:nvSpPr>
          <p:cNvPr id="20" name="Text 18"/>
          <p:cNvSpPr/>
          <p:nvPr/>
        </p:nvSpPr>
        <p:spPr>
          <a:xfrm>
            <a:off x="5989320" y="3419856"/>
            <a:ext cx="2651760" cy="27432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21" name="Shape 19"/>
          <p:cNvSpPr/>
          <p:nvPr/>
        </p:nvSpPr>
        <p:spPr>
          <a:xfrm>
            <a:off x="5989320" y="3566160"/>
            <a:ext cx="2651760" cy="457200"/>
          </a:xfrm>
          <a:prstGeom prst="roundRect">
            <a:avLst>
              <a:gd name="adj" fmla="val 12000"/>
            </a:avLst>
          </a:prstGeom>
          <a:solidFill>
            <a:srgbClr val="0F2540"/>
          </a:solidFill>
          <a:ln w="12700">
            <a:solidFill>
              <a:srgbClr val="21314A"/>
            </a:solidFill>
            <a:prstDash val="solid"/>
          </a:ln>
        </p:spPr>
        <p:txBody>
          <a:bodyPr/>
          <a:p/>
        </p:txBody>
      </p:sp>
      <p:sp>
        <p:nvSpPr>
          <p:cNvPr id="22" name="Text 20"/>
          <p:cNvSpPr/>
          <p:nvPr/>
        </p:nvSpPr>
        <p:spPr>
          <a:xfrm>
            <a:off x="5989320" y="3566160"/>
            <a:ext cx="2651760"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SELECT</a:t>
            </a:r>
          </a:p>
        </p:txBody>
      </p:sp>
      <p:sp>
        <p:nvSpPr>
          <p:cNvPr id="23" name="Text 21"/>
          <p:cNvSpPr/>
          <p:nvPr/>
        </p:nvSpPr>
        <p:spPr>
          <a:xfrm>
            <a:off x="5989320" y="4005072"/>
            <a:ext cx="2651760" cy="27432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24" name="Shape 22"/>
          <p:cNvSpPr/>
          <p:nvPr/>
        </p:nvSpPr>
        <p:spPr>
          <a:xfrm>
            <a:off x="5989320" y="4151376"/>
            <a:ext cx="2651760" cy="457200"/>
          </a:xfrm>
          <a:prstGeom prst="roundRect">
            <a:avLst>
              <a:gd name="adj" fmla="val 12000"/>
            </a:avLst>
          </a:prstGeom>
          <a:solidFill>
            <a:srgbClr val="0F2540"/>
          </a:solidFill>
          <a:ln w="12700">
            <a:solidFill>
              <a:srgbClr val="21314A"/>
            </a:solidFill>
            <a:prstDash val="solid"/>
          </a:ln>
        </p:spPr>
        <p:txBody>
          <a:bodyPr/>
          <a:p/>
        </p:txBody>
      </p:sp>
      <p:sp>
        <p:nvSpPr>
          <p:cNvPr id="25" name="Text 23"/>
          <p:cNvSpPr/>
          <p:nvPr/>
        </p:nvSpPr>
        <p:spPr>
          <a:xfrm>
            <a:off x="5989320" y="4151376"/>
            <a:ext cx="2651760"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Returned Result</a:t>
            </a:r>
          </a:p>
        </p:txBody>
      </p:sp>
      <p:sp>
        <p:nvSpPr>
          <p:cNvPr id="26" name="Text 24"/>
          <p:cNvSpPr/>
          <p:nvPr/>
        </p:nvSpPr>
        <p:spPr>
          <a:xfrm>
            <a:off x="457200" y="4777740"/>
            <a:ext cx="45720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SQL MASTER  ·  SQL-114: INTERSECT</a:t>
            </a:r>
          </a:p>
        </p:txBody>
      </p:sp>
      <p:sp>
        <p:nvSpPr>
          <p:cNvPr id="27" name="Text 25"/>
          <p:cNvSpPr/>
          <p:nvPr/>
        </p:nvSpPr>
        <p:spPr>
          <a:xfrm>
            <a:off x="7772400" y="4777740"/>
            <a:ext cx="9144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01 / 06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65760"/>
            <a:ext cx="8046720" cy="59436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2400" b="1">
                <a:solidFill>
                  <a:srgbClr val="FFFFFF"/>
                </a:solidFill>
                <a:latin typeface="MiSans"/>
              </a:rPr>
              <a:t>What is INTERSECT?</a:t>
            </a:r>
          </a:p>
        </p:txBody>
      </p:sp>
      <p:sp>
        <p:nvSpPr>
          <p:cNvPr id="3" name="Shape 1"/>
          <p:cNvSpPr/>
          <p:nvPr/>
        </p:nvSpPr>
        <p:spPr>
          <a:xfrm>
            <a:off x="548640" y="1143000"/>
            <a:ext cx="2606040" cy="1417320"/>
          </a:xfrm>
          <a:prstGeom prst="roundRect">
            <a:avLst>
              <a:gd name="adj" fmla="val 5161"/>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4" name="Text 2"/>
          <p:cNvSpPr/>
          <p:nvPr/>
        </p:nvSpPr>
        <p:spPr>
          <a:xfrm>
            <a:off x="749808" y="1307592"/>
            <a:ext cx="2203704" cy="2743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800" b="1">
                <a:solidFill>
                  <a:srgbClr val="FFFFFF"/>
                </a:solidFill>
                <a:latin typeface="MiSans"/>
              </a:rPr>
              <a:t>WHAT</a:t>
            </a:r>
          </a:p>
        </p:txBody>
      </p:sp>
      <p:sp>
        <p:nvSpPr>
          <p:cNvPr id="5" name="Text 3"/>
          <p:cNvSpPr/>
          <p:nvPr/>
        </p:nvSpPr>
        <p:spPr>
          <a:xfrm>
            <a:off x="749808" y="1645920"/>
            <a:ext cx="2203704" cy="7315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500" b="0">
                <a:solidFill>
                  <a:srgbClr val="C9D4E5"/>
                </a:solidFill>
                <a:latin typeface="MiSans"/>
              </a:rPr>
              <a:t>IN is a comparison operator that checks if a column value matches any element in a list.</a:t>
            </a:r>
          </a:p>
        </p:txBody>
      </p:sp>
      <p:sp>
        <p:nvSpPr>
          <p:cNvPr id="6" name="Shape 4"/>
          <p:cNvSpPr/>
          <p:nvPr/>
        </p:nvSpPr>
        <p:spPr>
          <a:xfrm>
            <a:off x="3383280" y="1143000"/>
            <a:ext cx="2606040" cy="1417320"/>
          </a:xfrm>
          <a:prstGeom prst="roundRect">
            <a:avLst>
              <a:gd name="adj" fmla="val 5161"/>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7" name="Text 5"/>
          <p:cNvSpPr/>
          <p:nvPr/>
        </p:nvSpPr>
        <p:spPr>
          <a:xfrm>
            <a:off x="3584448" y="1307592"/>
            <a:ext cx="2203704" cy="2743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800" b="1">
                <a:solidFill>
                  <a:srgbClr val="FFFFFF"/>
                </a:solidFill>
                <a:latin typeface="MiSans"/>
              </a:rPr>
              <a:t>WHY</a:t>
            </a:r>
          </a:p>
        </p:txBody>
      </p:sp>
      <p:sp>
        <p:nvSpPr>
          <p:cNvPr id="8" name="Text 6"/>
          <p:cNvSpPr/>
          <p:nvPr/>
        </p:nvSpPr>
        <p:spPr>
          <a:xfrm>
            <a:off x="3584448" y="1645920"/>
            <a:ext cx="2203704" cy="7315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500" b="0">
                <a:solidFill>
                  <a:srgbClr val="C9D4E5"/>
                </a:solidFill>
                <a:latin typeface="MiSans"/>
              </a:rPr>
              <a:t>It replaces multiple OR conditions, keeping the SQL clean, readable, and highly maintainable.</a:t>
            </a:r>
          </a:p>
        </p:txBody>
      </p:sp>
      <p:sp>
        <p:nvSpPr>
          <p:cNvPr id="9" name="Shape 7"/>
          <p:cNvSpPr/>
          <p:nvPr/>
        </p:nvSpPr>
        <p:spPr>
          <a:xfrm>
            <a:off x="6217920" y="1143000"/>
            <a:ext cx="2606040" cy="1417320"/>
          </a:xfrm>
          <a:prstGeom prst="roundRect">
            <a:avLst>
              <a:gd name="adj" fmla="val 5161"/>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0" name="Text 8"/>
          <p:cNvSpPr/>
          <p:nvPr/>
        </p:nvSpPr>
        <p:spPr>
          <a:xfrm>
            <a:off x="6419088" y="1307592"/>
            <a:ext cx="2203704" cy="2743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800" b="1">
                <a:solidFill>
                  <a:srgbClr val="FFFFFF"/>
                </a:solidFill>
                <a:latin typeface="MiSans"/>
              </a:rPr>
              <a:t>WHEN</a:t>
            </a:r>
          </a:p>
        </p:txBody>
      </p:sp>
      <p:sp>
        <p:nvSpPr>
          <p:cNvPr id="11" name="Text 9"/>
          <p:cNvSpPr/>
          <p:nvPr/>
        </p:nvSpPr>
        <p:spPr>
          <a:xfrm>
            <a:off x="6419088" y="1645920"/>
            <a:ext cx="2203704" cy="7315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500" b="0">
                <a:solidFill>
                  <a:srgbClr val="C9D4E5"/>
                </a:solidFill>
                <a:latin typeface="MiSans"/>
              </a:rPr>
              <a:t>Use IN when comparing a column to a set list of states, categories, or IDs.</a:t>
            </a:r>
          </a:p>
        </p:txBody>
      </p:sp>
      <p:sp>
        <p:nvSpPr>
          <p:cNvPr id="12" name="Text 10"/>
          <p:cNvSpPr/>
          <p:nvPr/>
        </p:nvSpPr>
        <p:spPr>
          <a:xfrm>
            <a:off x="548640" y="2880360"/>
            <a:ext cx="8046720" cy="274320"/>
          </a:xfrm>
          <a:prstGeom prst="rect">
            <a:avLst/>
          </a:prstGeom>
          <a:noFill/>
          <a:ln/>
        </p:spPr>
        <p:txBody>
          <a:bodyPr wrap="square" lIns="0" tIns="0" rIns="0" bIns="0" rtlCol="0" anchor="ctr"/>
          <a:lstStyle/>
          <a:p>
            <a:pPr marL="0" indent="0">
              <a:buNone/>
            </a:pPr>
            <a:r>
              <a:rPr lang="en-US" sz="1200" b="1" kern="0" spc="150" dirty="0">
                <a:solidFill>
                  <a:srgbClr val="3B82F6"/>
                </a:solidFill>
                <a:latin typeface="Inter" pitchFamily="34" charset="0"/>
                <a:ea typeface="Inter" pitchFamily="34" charset="-122"/>
                <a:cs typeface="Inter" pitchFamily="34" charset="-120"/>
              </a:rPr>
              <a:t>EXAMPLE</a:t>
            </a:r>
            <a:endParaRPr lang="en-US" sz="1200" dirty="0"/>
          </a:p>
        </p:txBody>
      </p:sp>
      <p:sp>
        <p:nvSpPr>
          <p:cNvPr id="13" name="Shape 11"/>
          <p:cNvSpPr/>
          <p:nvPr/>
        </p:nvSpPr>
        <p:spPr>
          <a:xfrm>
            <a:off x="548640" y="3246120"/>
            <a:ext cx="2606040" cy="1188720"/>
          </a:xfrm>
          <a:prstGeom prst="roundRect">
            <a:avLst>
              <a:gd name="adj" fmla="val 6154"/>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4" name="Text 12"/>
          <p:cNvSpPr/>
          <p:nvPr/>
        </p:nvSpPr>
        <p:spPr>
          <a:xfrm>
            <a:off x="749808" y="3410712"/>
            <a:ext cx="2203704"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Database</a:t>
            </a:r>
          </a:p>
        </p:txBody>
      </p:sp>
      <p:sp>
        <p:nvSpPr>
          <p:cNvPr id="15" name="Text 13"/>
          <p:cNvSpPr/>
          <p:nvPr/>
        </p:nvSpPr>
        <p:spPr>
          <a:xfrm>
            <a:off x="749808" y="3794760"/>
            <a:ext cx="2203704"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C9D4E5"/>
                </a:solidFill>
                <a:latin typeface="MiSans"/>
              </a:rPr>
              <a:t>Full source data</a:t>
            </a:r>
          </a:p>
        </p:txBody>
      </p:sp>
      <p:sp>
        <p:nvSpPr>
          <p:cNvPr id="16" name="Shape 14"/>
          <p:cNvSpPr/>
          <p:nvPr/>
        </p:nvSpPr>
        <p:spPr>
          <a:xfrm>
            <a:off x="3383280" y="3246120"/>
            <a:ext cx="2606040" cy="1188720"/>
          </a:xfrm>
          <a:prstGeom prst="roundRect">
            <a:avLst>
              <a:gd name="adj" fmla="val 6154"/>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7" name="Text 15"/>
          <p:cNvSpPr/>
          <p:nvPr/>
        </p:nvSpPr>
        <p:spPr>
          <a:xfrm>
            <a:off x="3584448" y="3410712"/>
            <a:ext cx="2203704"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INTERSECT</a:t>
            </a:r>
          </a:p>
        </p:txBody>
      </p:sp>
      <p:sp>
        <p:nvSpPr>
          <p:cNvPr id="18" name="Text 16"/>
          <p:cNvSpPr/>
          <p:nvPr/>
        </p:nvSpPr>
        <p:spPr>
          <a:xfrm>
            <a:off x="3584448" y="3794760"/>
            <a:ext cx="2203704"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C9D4E5"/>
                </a:solidFill>
                <a:latin typeface="MiSans"/>
              </a:rPr>
              <a:t>Apply criteria</a:t>
            </a:r>
          </a:p>
        </p:txBody>
      </p:sp>
      <p:sp>
        <p:nvSpPr>
          <p:cNvPr id="19" name="Shape 17"/>
          <p:cNvSpPr/>
          <p:nvPr/>
        </p:nvSpPr>
        <p:spPr>
          <a:xfrm>
            <a:off x="6217920" y="3246120"/>
            <a:ext cx="2606040" cy="1188720"/>
          </a:xfrm>
          <a:prstGeom prst="roundRect">
            <a:avLst>
              <a:gd name="adj" fmla="val 6154"/>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20" name="Text 18"/>
          <p:cNvSpPr/>
          <p:nvPr/>
        </p:nvSpPr>
        <p:spPr>
          <a:xfrm>
            <a:off x="6419088" y="3410712"/>
            <a:ext cx="2203704"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Returned Result</a:t>
            </a:r>
          </a:p>
        </p:txBody>
      </p:sp>
      <p:sp>
        <p:nvSpPr>
          <p:cNvPr id="21" name="Text 19"/>
          <p:cNvSpPr/>
          <p:nvPr/>
        </p:nvSpPr>
        <p:spPr>
          <a:xfrm>
            <a:off x="6419088" y="3794760"/>
            <a:ext cx="2203704"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C9D4E5"/>
                </a:solidFill>
                <a:latin typeface="MiSans"/>
              </a:rPr>
              <a:t>Only requested rows</a:t>
            </a:r>
          </a:p>
        </p:txBody>
      </p:sp>
      <p:sp>
        <p:nvSpPr>
          <p:cNvPr id="22" name="Text 20"/>
          <p:cNvSpPr/>
          <p:nvPr/>
        </p:nvSpPr>
        <p:spPr>
          <a:xfrm>
            <a:off x="544830" y="4457700"/>
            <a:ext cx="8046720"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400" b="0">
                <a:solidFill>
                  <a:srgbClr val="FFC83D"/>
                </a:solidFill>
                <a:latin typeface="MiSans"/>
              </a:rPr>
              <a:t>TIP:  Always verify performance of INTERSECT on large tables.</a:t>
            </a:r>
          </a:p>
        </p:txBody>
      </p:sp>
      <p:sp>
        <p:nvSpPr>
          <p:cNvPr id="23" name="Text 21"/>
          <p:cNvSpPr/>
          <p:nvPr/>
        </p:nvSpPr>
        <p:spPr>
          <a:xfrm>
            <a:off x="457200" y="4777740"/>
            <a:ext cx="45720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SQL MASTER  ·  SQL-114: INTERSECT</a:t>
            </a:r>
          </a:p>
        </p:txBody>
      </p:sp>
      <p:sp>
        <p:nvSpPr>
          <p:cNvPr id="24" name="Text 22"/>
          <p:cNvSpPr/>
          <p:nvPr/>
        </p:nvSpPr>
        <p:spPr>
          <a:xfrm>
            <a:off x="7772400" y="4777740"/>
            <a:ext cx="9144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02 / 06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2400" b="1">
                <a:solidFill>
                  <a:srgbClr val="FFFFFF"/>
                </a:solidFill>
                <a:latin typeface="MiSans"/>
              </a:rPr>
              <a:t>How Does INTERSECT Work?</a:t>
            </a:r>
          </a:p>
        </p:txBody>
      </p:sp>
      <p:sp>
        <p:nvSpPr>
          <p:cNvPr id="3" name="Shape 1"/>
          <p:cNvSpPr/>
          <p:nvPr/>
        </p:nvSpPr>
        <p:spPr>
          <a:xfrm>
            <a:off x="649224"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4" name="Text 2"/>
          <p:cNvSpPr/>
          <p:nvPr/>
        </p:nvSpPr>
        <p:spPr>
          <a:xfrm>
            <a:off x="649224"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Database</a:t>
            </a:r>
            <a:endParaRPr lang="en-US" sz="1050" dirty="0"/>
          </a:p>
        </p:txBody>
      </p:sp>
      <p:sp>
        <p:nvSpPr>
          <p:cNvPr id="5" name="Text 3"/>
          <p:cNvSpPr/>
          <p:nvPr/>
        </p:nvSpPr>
        <p:spPr>
          <a:xfrm>
            <a:off x="2130552"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6" name="Shape 4"/>
          <p:cNvSpPr/>
          <p:nvPr/>
        </p:nvSpPr>
        <p:spPr>
          <a:xfrm>
            <a:off x="2240280"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7" name="Text 5"/>
          <p:cNvSpPr/>
          <p:nvPr/>
        </p:nvSpPr>
        <p:spPr>
          <a:xfrm>
            <a:off x="2240280"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Products Table</a:t>
            </a:r>
            <a:endParaRPr lang="en-US" sz="1050" dirty="0"/>
          </a:p>
        </p:txBody>
      </p:sp>
      <p:sp>
        <p:nvSpPr>
          <p:cNvPr id="8" name="Text 6"/>
          <p:cNvSpPr/>
          <p:nvPr/>
        </p:nvSpPr>
        <p:spPr>
          <a:xfrm>
            <a:off x="3721608"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9" name="Shape 7"/>
          <p:cNvSpPr/>
          <p:nvPr/>
        </p:nvSpPr>
        <p:spPr>
          <a:xfrm>
            <a:off x="3831336"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10" name="Text 8"/>
          <p:cNvSpPr/>
          <p:nvPr/>
        </p:nvSpPr>
        <p:spPr>
          <a:xfrm>
            <a:off x="3895344"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Evaluate Condition</a:t>
            </a:r>
            <a:endParaRPr lang="en-US" sz="1050" dirty="0"/>
          </a:p>
        </p:txBody>
      </p:sp>
      <p:sp>
        <p:nvSpPr>
          <p:cNvPr id="11" name="Text 9"/>
          <p:cNvSpPr/>
          <p:nvPr/>
        </p:nvSpPr>
        <p:spPr>
          <a:xfrm>
            <a:off x="5312664"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12" name="Shape 10"/>
          <p:cNvSpPr/>
          <p:nvPr/>
        </p:nvSpPr>
        <p:spPr>
          <a:xfrm>
            <a:off x="5477256"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13" name="Text 11"/>
          <p:cNvSpPr/>
          <p:nvPr/>
        </p:nvSpPr>
        <p:spPr>
          <a:xfrm>
            <a:off x="5422392"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Keep Matching Rows</a:t>
            </a:r>
            <a:endParaRPr lang="en-US" sz="1050" dirty="0"/>
          </a:p>
        </p:txBody>
      </p:sp>
      <p:sp>
        <p:nvSpPr>
          <p:cNvPr id="14" name="Text 12"/>
          <p:cNvSpPr/>
          <p:nvPr/>
        </p:nvSpPr>
        <p:spPr>
          <a:xfrm>
            <a:off x="6903720"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15" name="Shape 13"/>
          <p:cNvSpPr/>
          <p:nvPr/>
        </p:nvSpPr>
        <p:spPr>
          <a:xfrm>
            <a:off x="7141464" y="948690"/>
            <a:ext cx="1481328" cy="548640"/>
          </a:xfrm>
          <a:prstGeom prst="roundRect">
            <a:avLst>
              <a:gd name="adj" fmla="val 13333"/>
            </a:avLst>
          </a:prstGeom>
          <a:solidFill>
            <a:srgbClr val="0F2E1E"/>
          </a:solidFill>
          <a:ln w="12700">
            <a:solidFill>
              <a:srgbClr val="21314A"/>
            </a:solidFill>
            <a:prstDash val="solid"/>
          </a:ln>
        </p:spPr>
        <p:txBody>
          <a:bodyPr/>
          <a:p/>
        </p:txBody>
      </p:sp>
      <p:sp>
        <p:nvSpPr>
          <p:cNvPr id="16" name="Text 14"/>
          <p:cNvSpPr/>
          <p:nvPr/>
        </p:nvSpPr>
        <p:spPr>
          <a:xfrm>
            <a:off x="7013448" y="960120"/>
            <a:ext cx="1481328" cy="548640"/>
          </a:xfrm>
          <a:prstGeom prst="rect">
            <a:avLst/>
          </a:prstGeom>
          <a:noFill/>
          <a:ln/>
        </p:spPr>
        <p:txBody>
          <a:bodyPr wrap="square" lIns="0" tIns="0" rIns="0" bIns="0" rtlCol="0" anchor="ctr"/>
          <a:lstStyle/>
          <a:p>
            <a:pPr marL="0" indent="0" algn="ctr">
              <a:buNone/>
            </a:pPr>
            <a:r>
              <a:rPr lang="en-US" sz="1050" b="1" dirty="0">
                <a:solidFill>
                  <a:srgbClr val="22C55E"/>
                </a:solidFill>
                <a:latin typeface="Inter" pitchFamily="34" charset="0"/>
                <a:ea typeface="Inter" pitchFamily="34" charset="-122"/>
                <a:cs typeface="Inter" pitchFamily="34" charset="-120"/>
              </a:rPr>
              <a:t>Return Result</a:t>
            </a:r>
            <a:endParaRPr lang="en-US" sz="1050" dirty="0"/>
          </a:p>
        </p:txBody>
      </p:sp>
      <p:sp>
        <p:nvSpPr>
          <p:cNvPr id="17" name="Text 15"/>
          <p:cNvSpPr/>
          <p:nvPr/>
        </p:nvSpPr>
        <p:spPr>
          <a:xfrm>
            <a:off x="548640" y="1783080"/>
            <a:ext cx="393192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DATABASE PREVIEW</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3931920" cy="1828800"/>
        </p:xfrm>
        <a:graphic>
          <a:graphicData uri="http://schemas.openxmlformats.org/drawingml/2006/table">
            <a:tbl>
              <a:tblPr/>
              <a:tblGrid>
                <a:gridCol w="50292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304800">
                <a:tc>
                  <a:txBody>
                    <a:bodyPr anchor="ctr"/>
                    <a:lstStyle/>
                    <a:p>
                      <a:pPr algn="ctr">
                        <a:lnSpc>
                          <a:spcPct val="100000"/>
                        </a:lnSpc>
                        <a:spcBef>
                          <a:spcPts val="0"/>
                        </a:spcBef>
                        <a:spcAft>
                          <a:spcPts val="0"/>
                        </a:spcAft>
                      </a:pPr>
                      <a:r>
                        <a:rPr sz="800" b="1">
                          <a:solidFill>
                            <a:srgbClr val="FFFFFF"/>
                          </a:solidFill>
                          <a:latin typeface="MiSans"/>
                        </a:rPr>
                        <a:t>shipment_id</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r>
                        <a:rPr sz="800" b="1">
                          <a:solidFill>
                            <a:srgbClr val="FFFFFF"/>
                          </a:solidFill>
                          <a:latin typeface="MiSans"/>
                        </a:rPr>
                        <a:t>tracking_number</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r>
                        <a:rPr sz="800" b="1">
                          <a:solidFill>
                            <a:srgbClr val="FFFFFF"/>
                          </a:solidFill>
                          <a:latin typeface="MiSans"/>
                        </a:rPr>
                        <a:t>sender_city</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r>
                        <a:rPr sz="800" b="1">
                          <a:solidFill>
                            <a:srgbClr val="FFFFFF"/>
                          </a:solidFill>
                          <a:latin typeface="MiSans"/>
                        </a:rPr>
                        <a:t>receiver_city</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extLst>
                  <a:ext uri="{0D108BD9-81ED-4DB2-BD59-A6C34878D82A}">
                    <a16:rowId xmlns:a16="http://schemas.microsoft.com/office/drawing/2014/main" val="10000"/>
                  </a:ext>
                </a:extLst>
              </a:tr>
              <a:tr h="304800">
                <a:tc>
                  <a:txBody>
                    <a:bodyPr anchor="ctr"/>
                    <a:lstStyle/>
                    <a:p>
                      <a:pPr algn="ctr">
                        <a:lnSpc>
                          <a:spcPct val="100000"/>
                        </a:lnSpc>
                        <a:spcBef>
                          <a:spcPts val="0"/>
                        </a:spcBef>
                        <a:spcAft>
                          <a:spcPts val="0"/>
                        </a:spcAft>
                      </a:pPr>
                      <a:r>
                        <a:rPr sz="800" b="0">
                          <a:solidFill>
                            <a:srgbClr val="C9D4E5"/>
                          </a:solidFill>
                          <a:latin typeface="MiSans"/>
                        </a:rPr>
                        <a:t>1</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BD-1001</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Dhaka</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Chittagong</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1"/>
                  </a:ext>
                </a:extLst>
              </a:tr>
              <a:tr h="304800">
                <a:tc>
                  <a:txBody>
                    <a:bodyPr anchor="ctr"/>
                    <a:lstStyle/>
                    <a:p>
                      <a:pPr algn="ctr">
                        <a:lnSpc>
                          <a:spcPct val="100000"/>
                        </a:lnSpc>
                        <a:spcBef>
                          <a:spcPts val="0"/>
                        </a:spcBef>
                        <a:spcAft>
                          <a:spcPts val="0"/>
                        </a:spcAft>
                      </a:pPr>
                      <a:r>
                        <a:rPr sz="800" b="0">
                          <a:solidFill>
                            <a:srgbClr val="C9D4E5"/>
                          </a:solidFill>
                          <a:latin typeface="MiSans"/>
                        </a:rPr>
                        <a:t>2</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BD-1002</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Rajshahi</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Dhaka</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2"/>
                  </a:ext>
                </a:extLst>
              </a:tr>
              <a:tr h="304800">
                <a:tc>
                  <a:txBody>
                    <a:bodyPr anchor="ctr"/>
                    <a:lstStyle/>
                    <a:p>
                      <a:pPr algn="ctr">
                        <a:lnSpc>
                          <a:spcPct val="100000"/>
                        </a:lnSpc>
                        <a:spcBef>
                          <a:spcPts val="0"/>
                        </a:spcBef>
                        <a:spcAft>
                          <a:spcPts val="0"/>
                        </a:spcAft>
                      </a:pPr>
                      <a:r>
                        <a:rPr sz="800" b="0">
                          <a:solidFill>
                            <a:srgbClr val="C9D4E5"/>
                          </a:solidFill>
                          <a:latin typeface="MiSans"/>
                        </a:rPr>
                        <a:t>3</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BD-1003</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Dhaka</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Sylhet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3"/>
                  </a:ext>
                </a:extLst>
              </a:tr>
              <a:tr h="304800">
                <a:tc>
                  <a:txBody>
                    <a:bodyPr anchor="ctr"/>
                    <a:lstStyle/>
                    <a:p>
                      <a:pPr algn="ctr">
                        <a:lnSpc>
                          <a:spcPct val="100000"/>
                        </a:lnSpc>
                        <a:spcBef>
                          <a:spcPts val="0"/>
                        </a:spcBef>
                        <a:spcAft>
                          <a:spcPts val="0"/>
                        </a:spcAft>
                      </a:pPr>
                      <a:r>
                        <a:rPr sz="800" b="0">
                          <a:solidFill>
                            <a:srgbClr val="C9D4E5"/>
                          </a:solidFill>
                          <a:latin typeface="MiSans"/>
                        </a:rPr>
                        <a: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4"/>
                  </a:ext>
                </a:extLst>
              </a:tr>
              <a:tr h="304800">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5"/>
                  </a:ext>
                </a:extLst>
              </a:tr>
            </a:tbl>
          </a:graphicData>
        </a:graphic>
      </p:graphicFrame>
      <p:sp>
        <p:nvSpPr>
          <p:cNvPr id="19" name="Text 16"/>
          <p:cNvSpPr/>
          <p:nvPr/>
        </p:nvSpPr>
        <p:spPr>
          <a:xfrm>
            <a:off x="4709160" y="1783080"/>
            <a:ext cx="388620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SQL QUERY</a:t>
            </a:r>
            <a:endParaRPr lang="en-US" sz="1200" dirty="0"/>
          </a:p>
        </p:txBody>
      </p:sp>
      <p:sp>
        <p:nvSpPr>
          <p:cNvPr id="20" name="Shape 17"/>
          <p:cNvSpPr/>
          <p:nvPr/>
        </p:nvSpPr>
        <p:spPr>
          <a:xfrm>
            <a:off x="4709160" y="2103120"/>
            <a:ext cx="3886200" cy="1143000"/>
          </a:xfrm>
          <a:prstGeom prst="roundRect">
            <a:avLst>
              <a:gd name="adj" fmla="val 6400"/>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21" name="Text 18"/>
          <p:cNvSpPr/>
          <p:nvPr/>
        </p:nvSpPr>
        <p:spPr>
          <a:xfrm>
            <a:off x="4910328" y="2249424"/>
            <a:ext cx="3483864" cy="850392"/>
          </a:xfrm>
          <a:prstGeom prst="rect">
            <a:avLst/>
          </a:prstGeom>
          <a:noFill/>
          <a:ln/>
        </p:spPr>
        <p:txBody>
          <a:bodyPr wrap="square" lIns="109728" tIns="109728" rIns="109728" bIns="109728" rtlCol="0" anchor="t"/>
          <a:lstStyle/>
          <a:p>
            <a:pPr algn="l">
              <a:lnSpc>
                <a:spcPct val="100000"/>
              </a:lnSpc>
              <a:spcBef>
                <a:spcPts val="0"/>
              </a:spcBef>
              <a:spcAft>
                <a:spcPts val="0"/>
              </a:spcAft>
            </a:pPr>
            <a:r>
              <a:rPr sz="900">
                <a:solidFill>
                  <a:srgbClr val="2F80FF"/>
                </a:solidFill>
                <a:latin typeface="Consolas"/>
              </a:rPr>
              <a:t>SELECT DISTINCT</a:t>
            </a:r>
          </a:p>
          <a:p>
            <a:pPr algn="l">
              <a:lnSpc>
                <a:spcPct val="100000"/>
              </a:lnSpc>
              <a:spcBef>
                <a:spcPts val="0"/>
              </a:spcBef>
              <a:spcAft>
                <a:spcPts val="0"/>
              </a:spcAft>
            </a:pPr>
            <a:r>
              <a:rPr sz="900">
                <a:solidFill>
                  <a:srgbClr val="2F80FF"/>
                </a:solidFill>
                <a:latin typeface="Consolas"/>
              </a:rPr>
              <a:t>    d.tracking_number</a:t>
            </a:r>
          </a:p>
          <a:p>
            <a:pPr algn="l">
              <a:lnSpc>
                <a:spcPct val="100000"/>
              </a:lnSpc>
              <a:spcBef>
                <a:spcPts val="0"/>
              </a:spcBef>
              <a:spcAft>
                <a:spcPts val="0"/>
              </a:spcAft>
            </a:pPr>
            <a:r>
              <a:rPr sz="900">
                <a:solidFill>
                  <a:srgbClr val="2F80FF"/>
                </a:solidFill>
                <a:latin typeface="Consolas"/>
              </a:rPr>
              <a:t>FROM domestic_shipments d</a:t>
            </a:r>
          </a:p>
          <a:p>
            <a:pPr algn="l">
              <a:lnSpc>
                <a:spcPct val="100000"/>
              </a:lnSpc>
              <a:spcBef>
                <a:spcPts val="0"/>
              </a:spcBef>
              <a:spcAft>
                <a:spcPts val="0"/>
              </a:spcAft>
            </a:pPr>
            <a:r>
              <a:rPr sz="900">
                <a:solidFill>
                  <a:srgbClr val="2F80FF"/>
                </a:solidFill>
                <a:latin typeface="Consolas"/>
              </a:rPr>
              <a:t>INNER JOIN returned_shipments r ON d.tracking_number = r.tracking_number;</a:t>
            </a:r>
          </a:p>
        </p:txBody>
      </p:sp>
      <p:sp>
        <p:nvSpPr>
          <p:cNvPr id="22" name="Text 19"/>
          <p:cNvSpPr/>
          <p:nvPr/>
        </p:nvSpPr>
        <p:spPr>
          <a:xfrm>
            <a:off x="4709160" y="3383280"/>
            <a:ext cx="3886200" cy="274320"/>
          </a:xfrm>
          <a:prstGeom prst="rect">
            <a:avLst/>
          </a:prstGeom>
          <a:noFill/>
          <a:ln/>
        </p:spPr>
        <p:txBody>
          <a:bodyPr wrap="square" lIns="0" tIns="0" rIns="0" bIns="0" rtlCol="0" anchor="ctr"/>
          <a:lstStyle/>
          <a:p>
            <a:pPr marL="0" indent="0" algn="l">
              <a:buNone/>
            </a:pPr>
            <a:r>
              <a:rPr lang="en-US" sz="1200" b="1" kern="0" spc="150" dirty="0">
                <a:solidFill>
                  <a:srgbClr val="22C55E"/>
                </a:solidFill>
                <a:latin typeface="Inter" pitchFamily="34" charset="0"/>
                <a:ea typeface="Inter" pitchFamily="34" charset="-122"/>
                <a:cs typeface="Inter" pitchFamily="34" charset="-120"/>
              </a:rPr>
              <a:t>RETURNED RESULT</a:t>
            </a:r>
            <a:endParaRPr lang="en-US" sz="12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709160" y="3703320"/>
          <a:ext cx="3886200" cy="1066800"/>
        </p:xfrm>
        <a:graphic>
          <a:graphicData uri="http://schemas.openxmlformats.org/drawingml/2006/table">
            <a:tbl>
              <a:tblPr/>
              <a:tblGrid>
                <a:gridCol w="3886200">
                  <a:extLst>
                    <a:ext uri="{9D8B030D-6E8A-4147-A177-3AD203B41FA5}">
                      <a16:colId xmlns:a16="http://schemas.microsoft.com/office/drawing/2014/main" val="20000"/>
                    </a:ext>
                  </a:extLst>
                </a:gridCol>
              </a:tblGrid>
              <a:tr h="217170">
                <a:tc>
                  <a:txBody>
                    <a:bodyPr anchor="ctr"/>
                    <a:lstStyle/>
                    <a:p>
                      <a:pPr algn="ctr">
                        <a:lnSpc>
                          <a:spcPct val="100000"/>
                        </a:lnSpc>
                        <a:spcBef>
                          <a:spcPts val="0"/>
                        </a:spcBef>
                        <a:spcAft>
                          <a:spcPts val="0"/>
                        </a:spcAft>
                      </a:pPr>
                      <a:r>
                        <a:rPr sz="600" b="1">
                          <a:solidFill>
                            <a:srgbClr val="FFFFFF"/>
                          </a:solidFill>
                          <a:latin typeface="MiSans"/>
                        </a:rPr>
                        <a:t>tracking_number</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extLst>
                  <a:ext uri="{0D108BD9-81ED-4DB2-BD59-A6C34878D82A}">
                    <a16:rowId xmlns:a16="http://schemas.microsoft.com/office/drawing/2014/main" val="10000"/>
                  </a:ext>
                </a:extLst>
              </a:tr>
              <a:tr h="217170">
                <a:tc>
                  <a:txBody>
                    <a:bodyPr anchor="ctr"/>
                    <a:lstStyle/>
                    <a:p>
                      <a:pPr algn="ctr">
                        <a:lnSpc>
                          <a:spcPct val="100000"/>
                        </a:lnSpc>
                        <a:spcBef>
                          <a:spcPts val="0"/>
                        </a:spcBef>
                        <a:spcAft>
                          <a:spcPts val="0"/>
                        </a:spcAft>
                      </a:pPr>
                      <a:r>
                        <a:rPr sz="600" b="0">
                          <a:solidFill>
                            <a:srgbClr val="C9D4E5"/>
                          </a:solidFill>
                          <a:latin typeface="MiSans"/>
                        </a:rPr>
                        <a:t>BD-1005</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1"/>
                  </a:ext>
                </a:extLst>
              </a:tr>
              <a:tr h="217170">
                <a:tc>
                  <a:txBody>
                    <a:bodyPr anchor="ctr"/>
                    <a:lstStyle/>
                    <a:p>
                      <a:pPr algn="ctr">
                        <a:lnSpc>
                          <a:spcPct val="100000"/>
                        </a:lnSpc>
                        <a:spcBef>
                          <a:spcPts val="0"/>
                        </a:spcBef>
                        <a:spcAft>
                          <a:spcPts val="0"/>
                        </a:spcAft>
                      </a:pPr>
                      <a:r>
                        <a:rPr sz="600" b="0">
                          <a:solidFill>
                            <a:srgbClr val="C9D4E5"/>
                          </a:solidFill>
                          <a:latin typeface="MiSans"/>
                        </a:rPr>
                        <a: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2"/>
                  </a:ext>
                </a:extLst>
              </a:tr>
              <a:tr h="217170">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3"/>
                  </a:ext>
                </a:extLst>
              </a:tr>
            </a:tbl>
          </a:graphicData>
        </a:graphic>
      </p:graphicFrame>
      <p:sp>
        <p:nvSpPr>
          <p:cNvPr id="25" name="Text 21"/>
          <p:cNvSpPr/>
          <p:nvPr/>
        </p:nvSpPr>
        <p:spPr>
          <a:xfrm>
            <a:off x="457200" y="4777740"/>
            <a:ext cx="45720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SQL MASTER  ·  SQL-114: INTERSECT</a:t>
            </a:r>
          </a:p>
        </p:txBody>
      </p:sp>
      <p:sp>
        <p:nvSpPr>
          <p:cNvPr id="26" name="Text 22"/>
          <p:cNvSpPr/>
          <p:nvPr/>
        </p:nvSpPr>
        <p:spPr>
          <a:xfrm>
            <a:off x="7772400" y="4777740"/>
            <a:ext cx="9144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03 / 06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2400" b="1">
                <a:solidFill>
                  <a:srgbClr val="FFFFFF"/>
                </a:solidFill>
                <a:latin typeface="MiSans"/>
              </a:rPr>
              <a:t>INTERSECT in Action</a:t>
            </a:r>
          </a:p>
        </p:txBody>
      </p:sp>
      <p:sp>
        <p:nvSpPr>
          <p:cNvPr id="3" name="Text 1"/>
          <p:cNvSpPr/>
          <p:nvPr/>
        </p:nvSpPr>
        <p:spPr>
          <a:xfrm>
            <a:off x="570230" y="1005840"/>
            <a:ext cx="374904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SYNTAX</a:t>
            </a:r>
            <a:endParaRPr lang="en-US" sz="1200" dirty="0"/>
          </a:p>
        </p:txBody>
      </p:sp>
      <p:sp>
        <p:nvSpPr>
          <p:cNvPr id="4" name="Shape 2"/>
          <p:cNvSpPr/>
          <p:nvPr/>
        </p:nvSpPr>
        <p:spPr>
          <a:xfrm>
            <a:off x="548640" y="1371600"/>
            <a:ext cx="3794760" cy="1005840"/>
          </a:xfrm>
          <a:prstGeom prst="roundRect">
            <a:avLst>
              <a:gd name="adj" fmla="val 8000"/>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5" name="Text 3"/>
          <p:cNvSpPr/>
          <p:nvPr/>
        </p:nvSpPr>
        <p:spPr>
          <a:xfrm>
            <a:off x="749808" y="1517904"/>
            <a:ext cx="3346704" cy="621792"/>
          </a:xfrm>
          <a:prstGeom prst="rect">
            <a:avLst/>
          </a:prstGeom>
          <a:noFill/>
          <a:ln/>
        </p:spPr>
        <p:txBody>
          <a:bodyPr wrap="square" lIns="109728" tIns="109728" rIns="109728" bIns="109728" rtlCol="0" anchor="t"/>
          <a:lstStyle/>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column_name</a:t>
            </a:r>
          </a:p>
          <a:p>
            <a:pPr algn="l">
              <a:lnSpc>
                <a:spcPct val="100000"/>
              </a:lnSpc>
              <a:spcBef>
                <a:spcPts val="0"/>
              </a:spcBef>
              <a:spcAft>
                <a:spcPts val="0"/>
              </a:spcAft>
            </a:pPr>
            <a:r>
              <a:rPr sz="900">
                <a:solidFill>
                  <a:srgbClr val="2F80FF"/>
                </a:solidFill>
                <a:latin typeface="Consolas"/>
              </a:rPr>
              <a:t>FROM domestic_shipments</a:t>
            </a:r>
          </a:p>
          <a:p>
            <a:pPr algn="l">
              <a:lnSpc>
                <a:spcPct val="100000"/>
              </a:lnSpc>
              <a:spcBef>
                <a:spcPts val="0"/>
              </a:spcBef>
              <a:spcAft>
                <a:spcPts val="0"/>
              </a:spcAft>
            </a:pPr>
            <a:r>
              <a:rPr sz="900">
                <a:solidFill>
                  <a:srgbClr val="2F80FF"/>
                </a:solidFill>
                <a:latin typeface="Consolas"/>
              </a:rPr>
              <a:t>WHERE condition;</a:t>
            </a:r>
          </a:p>
        </p:txBody>
      </p:sp>
      <p:sp>
        <p:nvSpPr>
          <p:cNvPr id="6" name="Text 4"/>
          <p:cNvSpPr/>
          <p:nvPr/>
        </p:nvSpPr>
        <p:spPr>
          <a:xfrm>
            <a:off x="548640" y="2423160"/>
            <a:ext cx="3749040" cy="274320"/>
          </a:xfrm>
          <a:prstGeom prst="rect">
            <a:avLst/>
          </a:prstGeom>
          <a:noFill/>
          <a:ln/>
        </p:spPr>
        <p:txBody>
          <a:bodyPr wrap="square" lIns="0" tIns="0" rIns="0" bIns="0" rtlCol="0" anchor="ctr"/>
          <a:lstStyle/>
          <a:p>
            <a:pPr marL="0" indent="0" algn="l">
              <a:buNone/>
            </a:pPr>
            <a:r>
              <a:rPr lang="en-US" sz="1200" b="1" kern="0" spc="150" dirty="0">
                <a:solidFill>
                  <a:srgbClr val="FACC15"/>
                </a:solidFill>
                <a:latin typeface="Inter" pitchFamily="34" charset="0"/>
                <a:ea typeface="Inter" pitchFamily="34" charset="-122"/>
                <a:cs typeface="Inter" pitchFamily="34" charset="-120"/>
              </a:rPr>
              <a:t>BUSINESS SCENARIO</a:t>
            </a:r>
            <a:endParaRPr lang="en-US" sz="1200" dirty="0"/>
          </a:p>
        </p:txBody>
      </p:sp>
      <p:sp>
        <p:nvSpPr>
          <p:cNvPr id="7" name="Shape 5"/>
          <p:cNvSpPr/>
          <p:nvPr/>
        </p:nvSpPr>
        <p:spPr>
          <a:xfrm>
            <a:off x="548640" y="2743200"/>
            <a:ext cx="3749040" cy="1051560"/>
          </a:xfrm>
          <a:prstGeom prst="roundRect">
            <a:avLst>
              <a:gd name="adj" fmla="val 6957"/>
            </a:avLst>
          </a:prstGeom>
          <a:solidFill>
            <a:srgbClr val="1F1A0D"/>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8" name="Text 6"/>
          <p:cNvSpPr/>
          <p:nvPr/>
        </p:nvSpPr>
        <p:spPr>
          <a:xfrm>
            <a:off x="749808" y="2889504"/>
            <a:ext cx="3346704" cy="77724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600" b="0">
                <a:solidFill>
                  <a:srgbClr val="C9D4E5"/>
                </a:solidFill>
                <a:latin typeface="MiSans"/>
              </a:rPr>
              <a:t>INTERSECT</a:t>
            </a:r>
          </a:p>
        </p:txBody>
      </p:sp>
      <p:sp>
        <p:nvSpPr>
          <p:cNvPr id="9" name="Text 7"/>
          <p:cNvSpPr/>
          <p:nvPr/>
        </p:nvSpPr>
        <p:spPr>
          <a:xfrm>
            <a:off x="4709160" y="1005840"/>
            <a:ext cx="388620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EXAMPLE QUERY</a:t>
            </a:r>
            <a:endParaRPr lang="en-US" sz="1200" dirty="0"/>
          </a:p>
        </p:txBody>
      </p:sp>
      <p:sp>
        <p:nvSpPr>
          <p:cNvPr id="10" name="Shape 8"/>
          <p:cNvSpPr/>
          <p:nvPr/>
        </p:nvSpPr>
        <p:spPr>
          <a:xfrm>
            <a:off x="4709160" y="1303020"/>
            <a:ext cx="3977640" cy="1394460"/>
          </a:xfrm>
          <a:prstGeom prst="roundRect">
            <a:avLst>
              <a:gd name="adj" fmla="val 6154"/>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1" name="Text 9"/>
          <p:cNvSpPr/>
          <p:nvPr/>
        </p:nvSpPr>
        <p:spPr>
          <a:xfrm>
            <a:off x="4910328" y="1517904"/>
            <a:ext cx="3483864" cy="896112"/>
          </a:xfrm>
          <a:prstGeom prst="rect">
            <a:avLst/>
          </a:prstGeom>
          <a:noFill/>
          <a:ln/>
        </p:spPr>
        <p:txBody>
          <a:bodyPr wrap="square" lIns="109728" tIns="109728" rIns="109728" bIns="109728" rtlCol="0" anchor="t"/>
          <a:lstStyle/>
          <a:p>
            <a:pPr algn="l">
              <a:lnSpc>
                <a:spcPct val="100000"/>
              </a:lnSpc>
              <a:spcBef>
                <a:spcPts val="0"/>
              </a:spcBef>
              <a:spcAft>
                <a:spcPts val="0"/>
              </a:spcAft>
            </a:pPr>
            <a:r>
              <a:rPr sz="900">
                <a:solidFill>
                  <a:srgbClr val="2F80FF"/>
                </a:solidFill>
                <a:latin typeface="Consolas"/>
              </a:rPr>
              <a:t>SELECT DISTINCT</a:t>
            </a:r>
          </a:p>
          <a:p>
            <a:pPr algn="l">
              <a:lnSpc>
                <a:spcPct val="100000"/>
              </a:lnSpc>
              <a:spcBef>
                <a:spcPts val="0"/>
              </a:spcBef>
              <a:spcAft>
                <a:spcPts val="0"/>
              </a:spcAft>
            </a:pPr>
            <a:r>
              <a:rPr sz="900">
                <a:solidFill>
                  <a:srgbClr val="2F80FF"/>
                </a:solidFill>
                <a:latin typeface="Consolas"/>
              </a:rPr>
              <a:t>    d.tracking_number</a:t>
            </a:r>
          </a:p>
          <a:p>
            <a:pPr algn="l">
              <a:lnSpc>
                <a:spcPct val="100000"/>
              </a:lnSpc>
              <a:spcBef>
                <a:spcPts val="0"/>
              </a:spcBef>
              <a:spcAft>
                <a:spcPts val="0"/>
              </a:spcAft>
            </a:pPr>
            <a:r>
              <a:rPr sz="900">
                <a:solidFill>
                  <a:srgbClr val="2F80FF"/>
                </a:solidFill>
                <a:latin typeface="Consolas"/>
              </a:rPr>
              <a:t>FROM domestic_shipments d</a:t>
            </a:r>
          </a:p>
          <a:p>
            <a:pPr algn="l">
              <a:lnSpc>
                <a:spcPct val="100000"/>
              </a:lnSpc>
              <a:spcBef>
                <a:spcPts val="0"/>
              </a:spcBef>
              <a:spcAft>
                <a:spcPts val="0"/>
              </a:spcAft>
            </a:pPr>
            <a:r>
              <a:rPr sz="900">
                <a:solidFill>
                  <a:srgbClr val="2F80FF"/>
                </a:solidFill>
                <a:latin typeface="Consolas"/>
              </a:rPr>
              <a:t>INNER JOIN returned_shipments r ON d.tracking_number = r.tracking_number;</a:t>
            </a:r>
          </a:p>
        </p:txBody>
      </p:sp>
      <p:sp>
        <p:nvSpPr>
          <p:cNvPr id="12" name="Text 10"/>
          <p:cNvSpPr/>
          <p:nvPr/>
        </p:nvSpPr>
        <p:spPr>
          <a:xfrm>
            <a:off x="4709160" y="2743200"/>
            <a:ext cx="3886200" cy="274320"/>
          </a:xfrm>
          <a:prstGeom prst="rect">
            <a:avLst/>
          </a:prstGeom>
          <a:noFill/>
          <a:ln/>
        </p:spPr>
        <p:txBody>
          <a:bodyPr wrap="square" lIns="0" tIns="0" rIns="0" bIns="0" rtlCol="0" anchor="ctr"/>
          <a:lstStyle/>
          <a:p>
            <a:pPr marL="0" indent="0" algn="l">
              <a:buNone/>
            </a:pPr>
            <a:r>
              <a:rPr lang="en-US" sz="1200" b="1" kern="0" spc="150" dirty="0">
                <a:solidFill>
                  <a:srgbClr val="22C55E"/>
                </a:solidFill>
                <a:latin typeface="Inter" pitchFamily="34" charset="0"/>
                <a:ea typeface="Inter" pitchFamily="34" charset="-122"/>
                <a:cs typeface="Inter" pitchFamily="34" charset="-120"/>
              </a:rPr>
              <a:t>EXPECTED RESULT</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709160" y="3063240"/>
          <a:ext cx="3886200" cy="1066800"/>
        </p:xfrm>
        <a:graphic>
          <a:graphicData uri="http://schemas.openxmlformats.org/drawingml/2006/table">
            <a:tbl>
              <a:tblPr/>
              <a:tblGrid>
                <a:gridCol w="105156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251460">
                <a:tc>
                  <a:txBody>
                    <a:bodyPr anchor="ctr"/>
                    <a:lstStyle/>
                    <a:p>
                      <a:pPr algn="ctr">
                        <a:lnSpc>
                          <a:spcPct val="100000"/>
                        </a:lnSpc>
                        <a:spcBef>
                          <a:spcPts val="0"/>
                        </a:spcBef>
                        <a:spcAft>
                          <a:spcPts val="0"/>
                        </a:spcAft>
                      </a:pPr>
                      <a:r>
                        <a:rPr sz="1100" b="1">
                          <a:solidFill>
                            <a:srgbClr val="FFFFFF"/>
                          </a:solidFill>
                          <a:latin typeface="MiSans"/>
                        </a:rPr>
                        <a:t>tracking_number</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extLst>
                  <a:ext uri="{0D108BD9-81ED-4DB2-BD59-A6C34878D82A}">
                    <a16:rowId xmlns:a16="http://schemas.microsoft.com/office/drawing/2014/main" val="10000"/>
                  </a:ext>
                </a:extLst>
              </a:tr>
              <a:tr h="251460">
                <a:tc>
                  <a:txBody>
                    <a:bodyPr anchor="ctr"/>
                    <a:lstStyle/>
                    <a:p>
                      <a:pPr algn="ctr">
                        <a:lnSpc>
                          <a:spcPct val="100000"/>
                        </a:lnSpc>
                        <a:spcBef>
                          <a:spcPts val="0"/>
                        </a:spcBef>
                        <a:spcAft>
                          <a:spcPts val="0"/>
                        </a:spcAft>
                      </a:pPr>
                      <a:r>
                        <a:rPr sz="1100" b="0">
                          <a:solidFill>
                            <a:srgbClr val="C9D4E5"/>
                          </a:solidFill>
                          <a:latin typeface="MiSans"/>
                        </a:rPr>
                        <a:t>BD-1005</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1"/>
                  </a:ext>
                </a:extLst>
              </a:tr>
              <a:tr h="251460">
                <a:tc>
                  <a:txBody>
                    <a:bodyPr anchor="ctr"/>
                    <a:lstStyle/>
                    <a:p>
                      <a:pPr algn="ctr">
                        <a:lnSpc>
                          <a:spcPct val="100000"/>
                        </a:lnSpc>
                        <a:spcBef>
                          <a:spcPts val="0"/>
                        </a:spcBef>
                        <a:spcAft>
                          <a:spcPts val="0"/>
                        </a:spcAft>
                      </a:pPr>
                      <a:r>
                        <a:rPr sz="1100" b="0">
                          <a:solidFill>
                            <a:srgbClr val="C9D4E5"/>
                          </a:solidFill>
                          <a:latin typeface="MiSans"/>
                        </a:rPr>
                        <a: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2"/>
                  </a:ext>
                </a:extLst>
              </a:tr>
              <a:tr h="251460">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3"/>
                  </a:ext>
                </a:extLst>
              </a:tr>
            </a:tbl>
          </a:graphicData>
        </a:graphic>
      </p:graphicFrame>
      <p:sp>
        <p:nvSpPr>
          <p:cNvPr id="22" name="Text 19"/>
          <p:cNvSpPr/>
          <p:nvPr/>
        </p:nvSpPr>
        <p:spPr>
          <a:xfrm>
            <a:off x="158750" y="4873244"/>
            <a:ext cx="45720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SQL MASTER  ·  SQL-114: INTERSECT</a:t>
            </a:r>
          </a:p>
        </p:txBody>
      </p:sp>
      <p:sp>
        <p:nvSpPr>
          <p:cNvPr id="23" name="Text 20"/>
          <p:cNvSpPr/>
          <p:nvPr/>
        </p:nvSpPr>
        <p:spPr>
          <a:xfrm>
            <a:off x="8020050" y="4859020"/>
            <a:ext cx="9144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04 / 06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52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046720" cy="502920"/>
          </a:xfrm>
          <a:prstGeom prst="rect">
            <a:avLst/>
          </a:prstGeom>
          <a:noFill/>
        </p:spPr>
        <p:txBody>
          <a:bodyPr wrap="none" lIns="0" tIns="0">
            <a:spAutoFit/>
          </a:bodyPr>
          <a:lstStyle/>
          <a:p>
            <a:pPr algn="l"/>
            <a:r>
              <a:rPr sz="2800" b="1">
                <a:solidFill>
                  <a:srgbClr val="FFFFFF"/>
                </a:solidFill>
                <a:latin typeface="MiSans"/>
              </a:rPr>
              <a:t>Common Mistakes &amp; Best Practices</a:t>
            </a:r>
          </a:p>
        </p:txBody>
      </p:sp>
      <p:sp>
        <p:nvSpPr>
          <p:cNvPr id="3" name="TextBox 2"/>
          <p:cNvSpPr txBox="1"/>
          <p:nvPr/>
        </p:nvSpPr>
        <p:spPr>
          <a:xfrm>
            <a:off x="548640" y="1005840"/>
            <a:ext cx="3749039" cy="3474720"/>
          </a:xfrm>
          <a:prstGeom prst="rect">
            <a:avLst/>
          </a:prstGeom>
          <a:noFill/>
        </p:spPr>
        <p:txBody>
          <a:bodyPr wrap="square" lIns="0" rIns="0" tIns="0" bIns="0">
            <a:spAutoFit/>
          </a:bodyPr>
          <a:lstStyle/>
          <a:p>
            <a:pPr>
              <a:spcBef>
                <a:spcPts val="0"/>
              </a:spcBef>
              <a:spcAft>
                <a:spcPts val="800"/>
              </a:spcAft>
            </a:pPr>
            <a:r>
              <a:rPr sz="1500" b="1">
                <a:solidFill>
                  <a:srgbClr val="FF5C5C"/>
                </a:solidFill>
                <a:latin typeface="MiSans"/>
              </a:rPr>
              <a:t>MISTAKES</a:t>
            </a:r>
          </a:p>
          <a:p>
            <a:pPr>
              <a:lnSpc>
                <a:spcPct val="115000"/>
              </a:lnSpc>
              <a:spcBef>
                <a:spcPts val="0"/>
              </a:spcBef>
              <a:spcAft>
                <a:spcPts val="800"/>
              </a:spcAft>
            </a:pPr>
            <a:r>
              <a:rPr sz="1100" b="0">
                <a:solidFill>
                  <a:srgbClr val="C9D4E5"/>
                </a:solidFill>
                <a:latin typeface="MiSans"/>
              </a:rPr>
              <a:t>•  Using multiple OR statements instead of the IN operator.</a:t>
            </a:r>
          </a:p>
          <a:p>
            <a:pPr>
              <a:lnSpc>
                <a:spcPct val="115000"/>
              </a:lnSpc>
              <a:spcBef>
                <a:spcPts val="0"/>
              </a:spcBef>
              <a:spcAft>
                <a:spcPts val="800"/>
              </a:spcAft>
            </a:pPr>
            <a:r>
              <a:rPr sz="1100" b="0">
                <a:solidFill>
                  <a:srgbClr val="C9D4E5"/>
                </a:solidFill>
                <a:latin typeface="MiSans"/>
              </a:rPr>
              <a:t>•  Forgetting that BETWEEN is inclusive of boundaries.</a:t>
            </a:r>
          </a:p>
          <a:p>
            <a:pPr>
              <a:lnSpc>
                <a:spcPct val="115000"/>
              </a:lnSpc>
              <a:spcBef>
                <a:spcPts val="0"/>
              </a:spcBef>
              <a:spcAft>
                <a:spcPts val="2400"/>
              </a:spcAft>
            </a:pPr>
            <a:r>
              <a:rPr sz="1100" b="0">
                <a:solidFill>
                  <a:srgbClr val="C9D4E5"/>
                </a:solidFill>
                <a:latin typeface="MiSans"/>
              </a:rPr>
              <a:t>•  Matching empty strings or NULL values using IN.</a:t>
            </a:r>
          </a:p>
          <a:p>
            <a:pPr>
              <a:spcBef>
                <a:spcPts val="0"/>
              </a:spcBef>
              <a:spcAft>
                <a:spcPts val="800"/>
              </a:spcAft>
            </a:pPr>
            <a:r>
              <a:rPr sz="1500" b="1">
                <a:solidFill>
                  <a:srgbClr val="FF5C5C"/>
                </a:solidFill>
                <a:latin typeface="MiSans"/>
              </a:rPr>
              <a:t>MESSY SQL</a:t>
            </a:r>
          </a:p>
          <a:p>
            <a:pPr>
              <a:lnSpc>
                <a:spcPct val="115000"/>
              </a:lnSpc>
              <a:spcBef>
                <a:spcPts val="0"/>
              </a:spcBef>
              <a:spcAft>
                <a:spcPts val="800"/>
              </a:spcAft>
            </a:pPr>
            <a:r>
              <a:rPr sz="1100" b="0">
                <a:solidFill>
                  <a:srgbClr val="C9D4E5"/>
                </a:solidFill>
                <a:latin typeface="MiSans"/>
              </a:rPr>
              <a:t>•  Hardcoding very long list values inside the IN clause.</a:t>
            </a:r>
          </a:p>
          <a:p>
            <a:pPr>
              <a:lnSpc>
                <a:spcPct val="115000"/>
              </a:lnSpc>
              <a:spcBef>
                <a:spcPts val="0"/>
              </a:spcBef>
              <a:spcAft>
                <a:spcPts val="800"/>
              </a:spcAft>
            </a:pPr>
            <a:r>
              <a:rPr sz="1100" b="0">
                <a:solidFill>
                  <a:srgbClr val="C9D4E5"/>
                </a:solidFill>
                <a:latin typeface="MiSans"/>
              </a:rPr>
              <a:t>•  Using BETWEEN with incompatible date string formats.</a:t>
            </a:r>
          </a:p>
          <a:p>
            <a:pPr>
              <a:lnSpc>
                <a:spcPct val="115000"/>
              </a:lnSpc>
              <a:spcBef>
                <a:spcPts val="0"/>
              </a:spcBef>
              <a:spcAft>
                <a:spcPts val="800"/>
              </a:spcAft>
            </a:pPr>
            <a:r>
              <a:rPr sz="1100" b="0">
                <a:solidFill>
                  <a:srgbClr val="C9D4E5"/>
                </a:solidFill>
                <a:latin typeface="MiSans"/>
              </a:rPr>
              <a:t>•  Combining IN with NOT without explicit parentheses.</a:t>
            </a:r>
          </a:p>
        </p:txBody>
      </p:sp>
      <p:sp>
        <p:nvSpPr>
          <p:cNvPr id="4" name="TextBox 3"/>
          <p:cNvSpPr txBox="1"/>
          <p:nvPr/>
        </p:nvSpPr>
        <p:spPr>
          <a:xfrm>
            <a:off x="4846320" y="1005840"/>
            <a:ext cx="3749039" cy="3474720"/>
          </a:xfrm>
          <a:prstGeom prst="rect">
            <a:avLst/>
          </a:prstGeom>
          <a:noFill/>
        </p:spPr>
        <p:txBody>
          <a:bodyPr wrap="square" lIns="0" rIns="0" tIns="0" bIns="0">
            <a:spAutoFit/>
          </a:bodyPr>
          <a:lstStyle/>
          <a:p>
            <a:pPr>
              <a:spcBef>
                <a:spcPts val="0"/>
              </a:spcBef>
              <a:spcAft>
                <a:spcPts val="800"/>
              </a:spcAft>
            </a:pPr>
            <a:r>
              <a:rPr sz="1500" b="1">
                <a:solidFill>
                  <a:srgbClr val="2ECC71"/>
                </a:solidFill>
                <a:latin typeface="MiSans"/>
              </a:rPr>
              <a:t>BEST PRACTICES</a:t>
            </a:r>
          </a:p>
          <a:p>
            <a:pPr>
              <a:lnSpc>
                <a:spcPct val="115000"/>
              </a:lnSpc>
              <a:spcBef>
                <a:spcPts val="0"/>
              </a:spcBef>
              <a:spcAft>
                <a:spcPts val="800"/>
              </a:spcAft>
            </a:pPr>
            <a:r>
              <a:rPr sz="1100" b="0">
                <a:solidFill>
                  <a:srgbClr val="C9D4E5"/>
                </a:solidFill>
                <a:latin typeface="MiSans"/>
              </a:rPr>
              <a:t>•  Replace long OR lists with a clean IN condition.</a:t>
            </a:r>
          </a:p>
          <a:p>
            <a:pPr>
              <a:lnSpc>
                <a:spcPct val="115000"/>
              </a:lnSpc>
              <a:spcBef>
                <a:spcPts val="0"/>
              </a:spcBef>
              <a:spcAft>
                <a:spcPts val="800"/>
              </a:spcAft>
            </a:pPr>
            <a:r>
              <a:rPr sz="1100" b="0">
                <a:solidFill>
                  <a:srgbClr val="C9D4E5"/>
                </a:solidFill>
                <a:latin typeface="MiSans"/>
              </a:rPr>
              <a:t>•  Verify range boundaries before applying BETWEEN.</a:t>
            </a:r>
          </a:p>
          <a:p>
            <a:pPr>
              <a:lnSpc>
                <a:spcPct val="115000"/>
              </a:lnSpc>
              <a:spcBef>
                <a:spcPts val="0"/>
              </a:spcBef>
              <a:spcAft>
                <a:spcPts val="2400"/>
              </a:spcAft>
            </a:pPr>
            <a:r>
              <a:rPr sz="1100" b="0">
                <a:solidFill>
                  <a:srgbClr val="C9D4E5"/>
                </a:solidFill>
                <a:latin typeface="MiSans"/>
              </a:rPr>
              <a:t>•  Ensure IN lists are sorted or indexed for speed.</a:t>
            </a:r>
          </a:p>
          <a:p>
            <a:pPr>
              <a:spcBef>
                <a:spcPts val="0"/>
              </a:spcBef>
              <a:spcAft>
                <a:spcPts val="800"/>
              </a:spcAft>
            </a:pPr>
            <a:r>
              <a:rPr sz="1500" b="1">
                <a:solidFill>
                  <a:srgbClr val="2ECC71"/>
                </a:solidFill>
                <a:latin typeface="MiSans"/>
              </a:rPr>
              <a:t>CLEAN SQL</a:t>
            </a:r>
          </a:p>
          <a:p>
            <a:pPr>
              <a:lnSpc>
                <a:spcPct val="115000"/>
              </a:lnSpc>
              <a:spcBef>
                <a:spcPts val="0"/>
              </a:spcBef>
              <a:spcAft>
                <a:spcPts val="800"/>
              </a:spcAft>
            </a:pPr>
            <a:r>
              <a:rPr sz="1100" b="0">
                <a:solidFill>
                  <a:srgbClr val="C9D4E5"/>
                </a:solidFill>
                <a:latin typeface="MiSans"/>
              </a:rPr>
              <a:t>•  Format IN list elements on new lines if very long.</a:t>
            </a:r>
          </a:p>
          <a:p>
            <a:pPr>
              <a:lnSpc>
                <a:spcPct val="115000"/>
              </a:lnSpc>
              <a:spcBef>
                <a:spcPts val="0"/>
              </a:spcBef>
              <a:spcAft>
                <a:spcPts val="800"/>
              </a:spcAft>
            </a:pPr>
            <a:r>
              <a:rPr sz="1100" b="0">
                <a:solidFill>
                  <a:srgbClr val="C9D4E5"/>
                </a:solidFill>
                <a:latin typeface="MiSans"/>
              </a:rPr>
              <a:t>•  Use BETWEEN for numeric, date, and time ranges.</a:t>
            </a:r>
          </a:p>
          <a:p>
            <a:pPr>
              <a:lnSpc>
                <a:spcPct val="115000"/>
              </a:lnSpc>
              <a:spcBef>
                <a:spcPts val="0"/>
              </a:spcBef>
              <a:spcAft>
                <a:spcPts val="800"/>
              </a:spcAft>
            </a:pPr>
            <a:r>
              <a:rPr sz="1100" b="0">
                <a:solidFill>
                  <a:srgbClr val="C9D4E5"/>
                </a:solidFill>
                <a:latin typeface="MiSans"/>
              </a:rPr>
              <a:t>•  Verify execution paths for subqueries inside IN.</a:t>
            </a:r>
          </a:p>
        </p:txBody>
      </p:sp>
      <p:sp>
        <p:nvSpPr>
          <p:cNvPr id="5" name="TextBox 4"/>
          <p:cNvSpPr txBox="1"/>
          <p:nvPr/>
        </p:nvSpPr>
        <p:spPr>
          <a:xfrm>
            <a:off x="548640" y="4709160"/>
            <a:ext cx="5486400" cy="274320"/>
          </a:xfrm>
          <a:prstGeom prst="rect">
            <a:avLst/>
          </a:prstGeom>
          <a:noFill/>
        </p:spPr>
        <p:txBody>
          <a:bodyPr wrap="none" lIns="0" tIns="0">
            <a:spAutoFit/>
          </a:bodyPr>
          <a:lstStyle/>
          <a:p>
            <a:pPr algn="l"/>
            <a:r>
              <a:rPr sz="800">
                <a:solidFill>
                  <a:srgbClr val="8AA0BF"/>
                </a:solidFill>
                <a:latin typeface="MiSans"/>
              </a:rPr>
              <a:t>SQL MASTER  ·  SQL-114: INTERSECT</a:t>
            </a:r>
          </a:p>
        </p:txBody>
      </p:sp>
      <p:sp>
        <p:nvSpPr>
          <p:cNvPr id="6" name="TextBox 5"/>
          <p:cNvSpPr txBox="1"/>
          <p:nvPr/>
        </p:nvSpPr>
        <p:spPr>
          <a:xfrm>
            <a:off x="7772400" y="4709160"/>
            <a:ext cx="822960" cy="274320"/>
          </a:xfrm>
          <a:prstGeom prst="rect">
            <a:avLst/>
          </a:prstGeom>
          <a:noFill/>
        </p:spPr>
        <p:txBody>
          <a:bodyPr wrap="none" rIns="0" tIns="0">
            <a:spAutoFit/>
          </a:bodyPr>
          <a:lstStyle/>
          <a:p>
            <a:pPr algn="r"/>
            <a:r>
              <a:rPr sz="800">
                <a:solidFill>
                  <a:srgbClr val="8AA0BF"/>
                </a:solidFill>
                <a:latin typeface="MiSans"/>
              </a:rPr>
              <a:t>05 / 06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2400" b="1">
                <a:solidFill>
                  <a:srgbClr val="FFFFFF"/>
                </a:solidFill>
                <a:latin typeface="MiSans"/>
              </a:rPr>
              <a:t>Key Takeaways &amp; Your Challenge</a:t>
            </a:r>
          </a:p>
        </p:txBody>
      </p:sp>
      <p:sp>
        <p:nvSpPr>
          <p:cNvPr id="3" name="Text 1"/>
          <p:cNvSpPr/>
          <p:nvPr/>
        </p:nvSpPr>
        <p:spPr>
          <a:xfrm>
            <a:off x="548640" y="1005840"/>
            <a:ext cx="374904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KEY TAKEAWAYS</a:t>
            </a:r>
            <a:endParaRPr lang="en-US" sz="1200" dirty="0"/>
          </a:p>
        </p:txBody>
      </p:sp>
      <p:sp>
        <p:nvSpPr>
          <p:cNvPr id="4" name="Shape 2"/>
          <p:cNvSpPr/>
          <p:nvPr/>
        </p:nvSpPr>
        <p:spPr>
          <a:xfrm>
            <a:off x="548640" y="1325880"/>
            <a:ext cx="3749040" cy="1874520"/>
          </a:xfrm>
          <a:prstGeom prst="roundRect">
            <a:avLst>
              <a:gd name="adj" fmla="val 3902"/>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5" name="Text 3"/>
          <p:cNvSpPr/>
          <p:nvPr/>
        </p:nvSpPr>
        <p:spPr>
          <a:xfrm>
            <a:off x="749808" y="1481328"/>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6" name="Text 4"/>
          <p:cNvSpPr/>
          <p:nvPr/>
        </p:nvSpPr>
        <p:spPr>
          <a:xfrm>
            <a:off x="1024128" y="1481328"/>
            <a:ext cx="3108960" cy="384048"/>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300" b="0">
                <a:solidFill>
                  <a:srgbClr val="C9D4E5"/>
                </a:solidFill>
                <a:latin typeface="MiSans"/>
              </a:rPr>
              <a:t>INTERSECT is a core component of SQL query structure.</a:t>
            </a:r>
          </a:p>
        </p:txBody>
      </p:sp>
      <p:sp>
        <p:nvSpPr>
          <p:cNvPr id="7" name="Text 5"/>
          <p:cNvSpPr/>
          <p:nvPr/>
        </p:nvSpPr>
        <p:spPr>
          <a:xfrm>
            <a:off x="749808" y="1901952"/>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8" name="Text 6"/>
          <p:cNvSpPr/>
          <p:nvPr/>
        </p:nvSpPr>
        <p:spPr>
          <a:xfrm>
            <a:off x="1024128" y="1901952"/>
            <a:ext cx="3108960" cy="384048"/>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300" b="0">
                <a:solidFill>
                  <a:srgbClr val="C9D4E5"/>
                </a:solidFill>
                <a:latin typeface="MiSans"/>
              </a:rPr>
              <a:t>It helps optimize data retrieval and organization.</a:t>
            </a:r>
          </a:p>
        </p:txBody>
      </p:sp>
      <p:sp>
        <p:nvSpPr>
          <p:cNvPr id="9" name="Text 7"/>
          <p:cNvSpPr/>
          <p:nvPr/>
        </p:nvSpPr>
        <p:spPr>
          <a:xfrm>
            <a:off x="749808" y="2322576"/>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10" name="Text 8"/>
          <p:cNvSpPr/>
          <p:nvPr/>
        </p:nvSpPr>
        <p:spPr>
          <a:xfrm>
            <a:off x="1024128" y="2322576"/>
            <a:ext cx="3108960" cy="384048"/>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300" b="0">
                <a:solidFill>
                  <a:srgbClr val="C9D4E5"/>
                </a:solidFill>
                <a:latin typeface="MiSans"/>
              </a:rPr>
              <a:t>Use it to satisfy specific business scenario criteria.</a:t>
            </a:r>
          </a:p>
        </p:txBody>
      </p:sp>
      <p:sp>
        <p:nvSpPr>
          <p:cNvPr id="11" name="Text 9"/>
          <p:cNvSpPr/>
          <p:nvPr/>
        </p:nvSpPr>
        <p:spPr>
          <a:xfrm>
            <a:off x="749808" y="2743200"/>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12" name="Text 10"/>
          <p:cNvSpPr/>
          <p:nvPr/>
        </p:nvSpPr>
        <p:spPr>
          <a:xfrm>
            <a:off x="1024128" y="2743200"/>
            <a:ext cx="3108960" cy="384048"/>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300" b="0">
                <a:solidFill>
                  <a:srgbClr val="C9D4E5"/>
                </a:solidFill>
                <a:latin typeface="MiSans"/>
              </a:rPr>
              <a:t>Combine with other clauses for advanced calculations.</a:t>
            </a:r>
          </a:p>
        </p:txBody>
      </p:sp>
      <p:sp>
        <p:nvSpPr>
          <p:cNvPr id="19" name="Text 17"/>
          <p:cNvSpPr/>
          <p:nvPr/>
        </p:nvSpPr>
        <p:spPr>
          <a:xfrm>
            <a:off x="4846320" y="1005840"/>
            <a:ext cx="3749040" cy="274320"/>
          </a:xfrm>
          <a:prstGeom prst="rect">
            <a:avLst/>
          </a:prstGeom>
          <a:noFill/>
          <a:ln/>
        </p:spPr>
        <p:txBody>
          <a:bodyPr wrap="square" lIns="0" tIns="0" rIns="0" bIns="0" rtlCol="0" anchor="ctr"/>
          <a:lstStyle/>
          <a:p>
            <a:pPr marL="0" indent="0" algn="l">
              <a:buNone/>
            </a:pPr>
            <a:r>
              <a:rPr lang="en-US" sz="1050" b="1" kern="0" spc="150" dirty="0">
                <a:solidFill>
                  <a:srgbClr val="3B82F6"/>
                </a:solidFill>
                <a:latin typeface="Inter" pitchFamily="34" charset="0"/>
                <a:ea typeface="Inter" pitchFamily="34" charset="-122"/>
                <a:cs typeface="Inter" pitchFamily="34" charset="-120"/>
              </a:rPr>
              <a:t>CONTINUE LEARNING</a:t>
            </a:r>
            <a:endParaRPr lang="en-US" sz="1200" dirty="0"/>
          </a:p>
        </p:txBody>
      </p:sp>
      <p:sp>
        <p:nvSpPr>
          <p:cNvPr id="21" name="Text 19"/>
          <p:cNvSpPr/>
          <p:nvPr/>
        </p:nvSpPr>
        <p:spPr>
          <a:xfrm>
            <a:off x="5102352" y="1325880"/>
            <a:ext cx="3291840" cy="274320"/>
          </a:xfrm>
          <a:prstGeom prst="rect">
            <a:avLst/>
          </a:prstGeom>
          <a:noFill/>
          <a:ln/>
        </p:spPr>
        <p:txBody>
          <a:bodyPr wrap="square" lIns="0" tIns="0" rIns="0" bIns="0" rtlCol="0" anchor="ctr"/>
          <a:lstStyle/>
          <a:p>
            <a:pPr marL="0" indent="0">
              <a:buNone/>
            </a:pPr>
            <a:r>
              <a:rPr lang="en-US" sz="1250" dirty="0">
                <a:solidFill>
                  <a:srgbClr val="D7DEE8"/>
                </a:solidFill>
                <a:latin typeface="Inter" pitchFamily="34" charset="0"/>
                <a:ea typeface="Inter" pitchFamily="34" charset="-122"/>
                <a:cs typeface="Inter" pitchFamily="34" charset="-120"/>
              </a:rPr>
              <a:t>Practice on DB Fiddle</a:t>
            </a:r>
            <a:endParaRPr lang="en-US" sz="1250" dirty="0"/>
          </a:p>
        </p:txBody>
      </p:sp>
      <p:sp>
        <p:nvSpPr>
          <p:cNvPr id="23" name="Text 21"/>
          <p:cNvSpPr/>
          <p:nvPr/>
        </p:nvSpPr>
        <p:spPr>
          <a:xfrm>
            <a:off x="5102352" y="1655064"/>
            <a:ext cx="3291840" cy="274320"/>
          </a:xfrm>
          <a:prstGeom prst="rect">
            <a:avLst/>
          </a:prstGeom>
          <a:noFill/>
          <a:ln/>
        </p:spPr>
        <p:txBody>
          <a:bodyPr wrap="square" lIns="0" tIns="0" rIns="0" bIns="0" rtlCol="0" anchor="ctr"/>
          <a:lstStyle/>
          <a:p>
            <a:pPr marL="0" indent="0">
              <a:buNone/>
            </a:pPr>
            <a:r>
              <a:rPr lang="en-US" sz="1250" dirty="0">
                <a:solidFill>
                  <a:srgbClr val="D7DEE8"/>
                </a:solidFill>
                <a:latin typeface="Inter" pitchFamily="34" charset="0"/>
                <a:ea typeface="Inter" pitchFamily="34" charset="-122"/>
                <a:cs typeface="Inter" pitchFamily="34" charset="-120"/>
              </a:rPr>
              <a:t>View Solution on GitHub</a:t>
            </a:r>
            <a:endParaRPr lang="en-US" sz="1250" dirty="0"/>
          </a:p>
        </p:txBody>
      </p:sp>
      <p:sp>
        <p:nvSpPr>
          <p:cNvPr id="26" name="Text 24"/>
          <p:cNvSpPr/>
          <p:nvPr/>
        </p:nvSpPr>
        <p:spPr>
          <a:xfrm>
            <a:off x="457200" y="4777740"/>
            <a:ext cx="45720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SQL MASTER  ·  SQL-114: INTERSECT</a:t>
            </a:r>
          </a:p>
        </p:txBody>
      </p:sp>
      <p:sp>
        <p:nvSpPr>
          <p:cNvPr id="27" name="Text 25"/>
          <p:cNvSpPr/>
          <p:nvPr/>
        </p:nvSpPr>
        <p:spPr>
          <a:xfrm>
            <a:off x="7772400" y="4777740"/>
            <a:ext cx="9144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06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526"/>
        </a:solidFill>
        <a:effectLst/>
      </p:bgPr>
    </p:bg>
    <p:spTree>
      <p:nvGrpSpPr>
        <p:cNvPr id="1" name=""/>
        <p:cNvGrpSpPr/>
        <p:nvPr/>
      </p:nvGrpSpPr>
      <p:grpSpPr/>
      <p:sp>
        <p:nvSpPr>
          <p:cNvPr id="2" name="TextBox 1"/>
          <p:cNvSpPr txBox="1"/>
          <p:nvPr/>
        </p:nvSpPr>
        <p:spPr>
          <a:xfrm>
            <a:off x="548640" y="292608"/>
            <a:ext cx="8046720" cy="502920"/>
          </a:xfrm>
          <a:prstGeom prst="rect">
            <a:avLst/>
          </a:prstGeom>
          <a:noFill/>
        </p:spPr>
        <p:txBody>
          <a:bodyPr wrap="none" lIns="0" tIns="0">
            <a:spAutoFit/>
          </a:bodyPr>
          <a:lstStyle/>
          <a:p>
            <a:r>
              <a:rPr sz="2800" b="1">
                <a:solidFill>
                  <a:srgbClr val="FFFFFF"/>
                </a:solidFill>
                <a:latin typeface="MiSans"/>
              </a:rPr>
              <a:t>PRACTICE CHALLENGE</a:t>
            </a:r>
          </a:p>
        </p:txBody>
      </p:sp>
      <p:sp>
        <p:nvSpPr>
          <p:cNvPr id="3" name="TextBox 2"/>
          <p:cNvSpPr txBox="1"/>
          <p:nvPr/>
        </p:nvSpPr>
        <p:spPr>
          <a:xfrm>
            <a:off x="548640" y="795528"/>
            <a:ext cx="8046720" cy="320040"/>
          </a:xfrm>
          <a:prstGeom prst="rect">
            <a:avLst/>
          </a:prstGeom>
          <a:noFill/>
        </p:spPr>
        <p:txBody>
          <a:bodyPr wrap="none" lIns="0" tIns="0">
            <a:spAutoFit/>
          </a:bodyPr>
          <a:lstStyle/>
          <a:p>
            <a:r>
              <a:rPr sz="1400">
                <a:solidFill>
                  <a:srgbClr val="C9D4E5"/>
                </a:solidFill>
                <a:latin typeface="MiSans"/>
              </a:rPr>
              <a:t>Test your understanding by solving the following questions before viewing the solution.</a:t>
            </a:r>
          </a:p>
        </p:txBody>
      </p:sp>
      <p:sp>
        <p:nvSpPr>
          <p:cNvPr id="4" name="TextBox 3"/>
          <p:cNvSpPr txBox="1"/>
          <p:nvPr/>
        </p:nvSpPr>
        <p:spPr>
          <a:xfrm>
            <a:off x="548640" y="1234440"/>
            <a:ext cx="8046720" cy="2926080"/>
          </a:xfrm>
          <a:prstGeom prst="rect">
            <a:avLst/>
          </a:prstGeom>
          <a:noFill/>
        </p:spPr>
        <p:txBody>
          <a:bodyPr wrap="square" lIns="0" rIns="0" tIns="0" bIns="0">
            <a:spAutoFit/>
          </a:bodyPr>
          <a:lstStyle/>
          <a:p>
            <a:pPr>
              <a:spcBef>
                <a:spcPts val="0"/>
              </a:spcBef>
              <a:spcAft>
                <a:spcPts val="400"/>
              </a:spcAft>
            </a:pPr>
            <a:r>
              <a:rPr sz="1400" b="1">
                <a:solidFill>
                  <a:srgbClr val="FFFFFF"/>
                </a:solidFill>
                <a:latin typeface="MiSans"/>
              </a:rPr>
              <a:t>Question 1</a:t>
            </a:r>
          </a:p>
          <a:p>
            <a:pPr>
              <a:lnSpc>
                <a:spcPct val="120000"/>
              </a:lnSpc>
              <a:spcBef>
                <a:spcPts val="0"/>
              </a:spcBef>
              <a:spcAft>
                <a:spcPts val="1000"/>
              </a:spcAft>
            </a:pPr>
            <a:r>
              <a:rPr sz="1100">
                <a:solidFill>
                  <a:srgbClr val="C9D4E5"/>
                </a:solidFill>
                <a:latin typeface="MiSans"/>
              </a:rPr>
              <a:t>MySQL doesn't support INTERSECT directly. Simulate with INNER </a:t>
            </a:r>
            <a:r>
              <a:rPr sz="900">
                <a:solidFill>
                  <a:srgbClr val="C9D4E5"/>
                </a:solidFill>
                <a:latin typeface="Consolas"/>
              </a:rPr>
              <a:t>JOIN: find tracking_numbers that appear in BOTH domestic and returned shipments</a:t>
            </a:r>
            <a:r>
              <a:rPr sz="1100">
                <a:solidFill>
                  <a:srgbClr val="C9D4E5"/>
                </a:solidFill>
                <a:latin typeface="MiSans"/>
              </a:rPr>
              <a:t>. Use </a:t>
            </a:r>
            <a:r>
              <a:rPr sz="900">
                <a:solidFill>
                  <a:srgbClr val="C9D4E5"/>
                </a:solidFill>
                <a:latin typeface="Consolas"/>
              </a:rPr>
              <a:t>JOIN or IN subquery</a:t>
            </a:r>
            <a:r>
              <a:rPr sz="1100">
                <a:solidFill>
                  <a:srgbClr val="C9D4E5"/>
                </a:solidFill>
                <a:latin typeface="MiSans"/>
              </a:rPr>
              <a:t>.</a:t>
            </a:r>
          </a:p>
          <a:p>
            <a:pPr>
              <a:spcBef>
                <a:spcPts val="1200"/>
              </a:spcBef>
              <a:spcAft>
                <a:spcPts val="400"/>
              </a:spcAft>
            </a:pPr>
            <a:r>
              <a:rPr sz="1400" b="1">
                <a:solidFill>
                  <a:srgbClr val="FFFFFF"/>
                </a:solidFill>
                <a:latin typeface="MiSans"/>
              </a:rPr>
              <a:t>Question 2</a:t>
            </a:r>
          </a:p>
          <a:p>
            <a:pPr>
              <a:lnSpc>
                <a:spcPct val="120000"/>
              </a:lnSpc>
              <a:spcBef>
                <a:spcPts val="0"/>
              </a:spcBef>
              <a:spcAft>
                <a:spcPts val="1000"/>
              </a:spcAft>
            </a:pPr>
            <a:r>
              <a:rPr sz="1100">
                <a:solidFill>
                  <a:srgbClr val="C9D4E5"/>
                </a:solidFill>
                <a:latin typeface="MiSans"/>
              </a:rPr>
              <a:t>Write an INTERSECT simulation: </a:t>
            </a:r>
            <a:r>
              <a:rPr sz="900">
                <a:solidFill>
                  <a:srgbClr val="C9D4E5"/>
                </a:solidFill>
                <a:latin typeface="Consolas"/>
              </a:rPr>
              <a:t>SELECT tracking_number FROM domestic_shipments WHERE tracking_number IN (SELECT tracking_number FROM returned_shipments)</a:t>
            </a:r>
            <a:r>
              <a:rPr sz="1100">
                <a:solidFill>
                  <a:srgbClr val="C9D4E5"/>
                </a:solidFill>
                <a:latin typeface="MiSans"/>
              </a:rPr>
              <a:t>. These are domestics that were returned.</a:t>
            </a:r>
          </a:p>
          <a:p>
            <a:pPr>
              <a:spcBef>
                <a:spcPts val="1200"/>
              </a:spcBef>
              <a:spcAft>
                <a:spcPts val="400"/>
              </a:spcAft>
            </a:pPr>
            <a:r>
              <a:rPr sz="1400" b="1">
                <a:solidFill>
                  <a:srgbClr val="FFFFFF"/>
                </a:solidFill>
                <a:latin typeface="MiSans"/>
              </a:rPr>
              <a:t>Question 3</a:t>
            </a:r>
          </a:p>
          <a:p>
            <a:pPr>
              <a:lnSpc>
                <a:spcPct val="120000"/>
              </a:lnSpc>
              <a:spcBef>
                <a:spcPts val="0"/>
              </a:spcBef>
              <a:spcAft>
                <a:spcPts val="1000"/>
              </a:spcAft>
            </a:pPr>
            <a:r>
              <a:rPr sz="1100">
                <a:solidFill>
                  <a:srgbClr val="C9D4E5"/>
                </a:solidFill>
                <a:latin typeface="MiSans"/>
              </a:rPr>
              <a:t>The returns team needs to find which domestic shipments ended up as returned. Write an INTERSECT simulation to find tracking numbers common to both tables. Display the returned reason too (join back to returned_shipments).</a:t>
            </a:r>
          </a:p>
          <a:p>
            <a:pPr>
              <a:spcBef>
                <a:spcPts val="1200"/>
              </a:spcBef>
              <a:spcAft>
                <a:spcPts val="400"/>
              </a:spcAft>
            </a:pPr>
            <a:r>
              <a:rPr sz="1400" b="1">
                <a:solidFill>
                  <a:srgbClr val="FFFFFF"/>
                </a:solidFill>
                <a:latin typeface="MiSans"/>
              </a:rPr>
              <a:t>Question 4</a:t>
            </a:r>
          </a:p>
          <a:p>
            <a:pPr>
              <a:lnSpc>
                <a:spcPct val="120000"/>
              </a:lnSpc>
              <a:spcBef>
                <a:spcPts val="0"/>
              </a:spcBef>
              <a:spcAft>
                <a:spcPts val="1000"/>
              </a:spcAft>
            </a:pPr>
            <a:r>
              <a:rPr sz="1100">
                <a:solidFill>
                  <a:srgbClr val="C9D4E5"/>
                </a:solidFill>
                <a:latin typeface="MiSans"/>
              </a:rPr>
              <a:t>Simulate INTERSECT for weight_kg values that appear in both warehouses_dhaka and warehouses_ctg tables. Find common weights: </a:t>
            </a:r>
            <a:r>
              <a:rPr sz="900">
                <a:solidFill>
                  <a:srgbClr val="C9D4E5"/>
                </a:solidFill>
                <a:latin typeface="Consolas"/>
              </a:rPr>
              <a:t>SELECT weight_kg FROM warehouses_dhaka WHERE weight_kg IN (SELECT weight_kg FROM warehouses_ctg)</a:t>
            </a:r>
            <a:r>
              <a:rPr sz="1100">
                <a:solidFill>
                  <a:srgbClr val="C9D4E5"/>
                </a:solidFill>
                <a:latin typeface="MiSans"/>
              </a:rPr>
              <a:t>.</a:t>
            </a:r>
          </a:p>
        </p:txBody>
      </p:sp>
      <p:sp>
        <p:nvSpPr>
          <p:cNvPr id="5" name="TextBox 4"/>
          <p:cNvSpPr txBox="1"/>
          <p:nvPr/>
        </p:nvSpPr>
        <p:spPr>
          <a:xfrm>
            <a:off x="548640" y="4709160"/>
            <a:ext cx="5486400" cy="274320"/>
          </a:xfrm>
          <a:prstGeom prst="rect">
            <a:avLst/>
          </a:prstGeom>
          <a:noFill/>
        </p:spPr>
        <p:txBody>
          <a:bodyPr wrap="none" lIns="0" tIns="0">
            <a:spAutoFit/>
          </a:bodyPr>
          <a:lstStyle/>
          <a:p>
            <a:r>
              <a:rPr sz="800">
                <a:solidFill>
                  <a:srgbClr val="8AA0BF"/>
                </a:solidFill>
                <a:latin typeface="MiSans"/>
              </a:rPr>
              <a:t>SQL MASTER  ·  SQL-114: INTERSECT</a:t>
            </a:r>
          </a:p>
        </p:txBody>
      </p:sp>
      <p:sp>
        <p:nvSpPr>
          <p:cNvPr id="6" name="TextBox 5"/>
          <p:cNvSpPr txBox="1"/>
          <p:nvPr/>
        </p:nvSpPr>
        <p:spPr>
          <a:xfrm>
            <a:off x="7772400" y="4709160"/>
            <a:ext cx="822960" cy="274320"/>
          </a:xfrm>
          <a:prstGeom prst="rect">
            <a:avLst/>
          </a:prstGeom>
          <a:noFill/>
        </p:spPr>
        <p:txBody>
          <a:bodyPr wrap="none" rIns="0" tIns="0">
            <a:spAutoFit/>
          </a:bodyPr>
          <a:lstStyle/>
          <a:p>
            <a:pPr algn="r"/>
            <a:r>
              <a:rPr sz="800">
                <a:solidFill>
                  <a:srgbClr val="8AA0BF"/>
                </a:solidFill>
                <a:latin typeface="MiSans"/>
              </a:rPr>
              <a:t>07 / 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579</Words>
  <Application>Microsoft Office PowerPoint</Application>
  <PresentationFormat>On-screen Show (16:9)</PresentationFormat>
  <Paragraphs>186</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Inter</vt:lpstr>
      <vt:lpstr>JetBrains Mono</vt:lpstr>
      <vt:lpstr>MiSans SemiBold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SQL-002 — WHERE</dc:title>
  <dc:subject>PptxGenJS Presentation</dc:subject>
  <dc:creator>SQL Master</dc:creator>
  <cp:lastModifiedBy>Zuboraj</cp:lastModifiedBy>
  <cp:revision>4</cp:revision>
  <dcterms:created xsi:type="dcterms:W3CDTF">2026-07-08T08:16:46Z</dcterms:created>
  <dcterms:modified xsi:type="dcterms:W3CDTF">2026-07-08T09:47:15Z</dcterms:modified>
</cp:coreProperties>
</file>