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1" d="100"/>
          <a:sy n="151" d="100"/>
        </p:scale>
        <p:origin x="47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13508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0F2540"/>
          </a:solidFill>
          <a:ln w="12700">
            <a:solidFill>
              <a:srgbClr val="3B82F6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457200"/>
            <a:ext cx="1371600" cy="36576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8AA0BF"/>
                </a:solidFill>
                <a:latin typeface="MiSans"/>
              </a:rPr>
              <a:t>SQL-023</a:t>
            </a:r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5669280" cy="9144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MiSans"/>
              </a:rPr>
              <a:t>CEILING()</a:t>
            </a:r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5486400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C9D4E5"/>
                </a:solidFill>
                <a:latin typeface="MiSans"/>
              </a:rPr>
              <a:t>Filter rows matching values inside a set list.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148840"/>
            <a:ext cx="5120640" cy="82296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IN is a comparison operator that checks if a column value matches any element in a list.</a:t>
            </a:r>
          </a:p>
        </p:txBody>
      </p:sp>
      <p:sp>
        <p:nvSpPr>
          <p:cNvPr id="7" name="Text 5"/>
          <p:cNvSpPr/>
          <p:nvPr/>
        </p:nvSpPr>
        <p:spPr>
          <a:xfrm>
            <a:off x="548640" y="324612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3246120"/>
            <a:ext cx="4389120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Practical Business Examples</a:t>
            </a:r>
          </a:p>
        </p:txBody>
      </p:sp>
      <p:sp>
        <p:nvSpPr>
          <p:cNvPr id="9" name="Text 7"/>
          <p:cNvSpPr/>
          <p:nvPr/>
        </p:nvSpPr>
        <p:spPr>
          <a:xfrm>
            <a:off x="548640" y="3630168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3630168"/>
            <a:ext cx="4389120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Real SQL Practice</a:t>
            </a:r>
          </a:p>
        </p:txBody>
      </p:sp>
      <p:sp>
        <p:nvSpPr>
          <p:cNvPr id="11" name="Text 9"/>
          <p:cNvSpPr/>
          <p:nvPr/>
        </p:nvSpPr>
        <p:spPr>
          <a:xfrm>
            <a:off x="548640" y="4014216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4014216"/>
            <a:ext cx="4389120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Beginner Friendly</a:t>
            </a:r>
          </a:p>
        </p:txBody>
      </p:sp>
      <p:sp>
        <p:nvSpPr>
          <p:cNvPr id="13" name="Shape 11"/>
          <p:cNvSpPr/>
          <p:nvPr/>
        </p:nvSpPr>
        <p:spPr>
          <a:xfrm>
            <a:off x="5989320" y="502920"/>
            <a:ext cx="2651760" cy="1691640"/>
          </a:xfrm>
          <a:prstGeom prst="roundRect">
            <a:avLst>
              <a:gd name="adj" fmla="val 432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190488" y="649224"/>
            <a:ext cx="2249424" cy="1399032"/>
          </a:xfrm>
          <a:prstGeom prst="rect">
            <a:avLst/>
          </a:prstGeom>
          <a:noFill/>
          <a:ln/>
        </p:spPr>
        <p:txBody>
          <a:bodyPr wrap="square" lIns="182880" tIns="182880" rIns="182880" bIns="182880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CEILING(price)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products;</a:t>
            </a:r>
          </a:p>
        </p:txBody>
      </p:sp>
      <p:sp>
        <p:nvSpPr>
          <p:cNvPr id="15" name="Shape 13"/>
          <p:cNvSpPr/>
          <p:nvPr/>
        </p:nvSpPr>
        <p:spPr>
          <a:xfrm>
            <a:off x="5989320" y="2395728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989320" y="2395728"/>
            <a:ext cx="2651760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7" name="Text 15"/>
          <p:cNvSpPr/>
          <p:nvPr/>
        </p:nvSpPr>
        <p:spPr>
          <a:xfrm>
            <a:off x="5989320" y="28346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989320" y="2980944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5989320" y="2980944"/>
            <a:ext cx="2651760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products Table</a:t>
            </a:r>
          </a:p>
        </p:txBody>
      </p:sp>
      <p:sp>
        <p:nvSpPr>
          <p:cNvPr id="20" name="Text 18"/>
          <p:cNvSpPr/>
          <p:nvPr/>
        </p:nvSpPr>
        <p:spPr>
          <a:xfrm>
            <a:off x="5989320" y="341985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89320" y="3566160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5989320" y="3566160"/>
            <a:ext cx="2651760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SELECT</a:t>
            </a:r>
          </a:p>
        </p:txBody>
      </p:sp>
      <p:sp>
        <p:nvSpPr>
          <p:cNvPr id="23" name="Text 21"/>
          <p:cNvSpPr/>
          <p:nvPr/>
        </p:nvSpPr>
        <p:spPr>
          <a:xfrm>
            <a:off x="5989320" y="400507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989320" y="4151376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5989320" y="4151376"/>
            <a:ext cx="2651760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Returned Result</a:t>
            </a:r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SQL MASTER  ·  SQL-023: CEILING()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01 / 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9436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MiSans"/>
              </a:rPr>
              <a:t>What is CEILING()?</a:t>
            </a:r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4980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MiSans"/>
              </a:rPr>
              <a:t>WHAT</a:t>
            </a:r>
          </a:p>
        </p:txBody>
      </p:sp>
      <p:sp>
        <p:nvSpPr>
          <p:cNvPr id="5" name="Text 3"/>
          <p:cNvSpPr/>
          <p:nvPr/>
        </p:nvSpPr>
        <p:spPr>
          <a:xfrm>
            <a:off x="74980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IN is a comparison operator that checks if a column value matches any element in a list.</a:t>
            </a:r>
          </a:p>
        </p:txBody>
      </p:sp>
      <p:sp>
        <p:nvSpPr>
          <p:cNvPr id="6" name="Shape 4"/>
          <p:cNvSpPr/>
          <p:nvPr/>
        </p:nvSpPr>
        <p:spPr>
          <a:xfrm>
            <a:off x="338328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358444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MiSans"/>
              </a:rPr>
              <a:t>WHY</a:t>
            </a:r>
          </a:p>
        </p:txBody>
      </p:sp>
      <p:sp>
        <p:nvSpPr>
          <p:cNvPr id="8" name="Text 6"/>
          <p:cNvSpPr/>
          <p:nvPr/>
        </p:nvSpPr>
        <p:spPr>
          <a:xfrm>
            <a:off x="358444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It replaces multiple OR conditions, keeping the SQL clean, readable, and highly maintainable.</a:t>
            </a:r>
          </a:p>
        </p:txBody>
      </p:sp>
      <p:sp>
        <p:nvSpPr>
          <p:cNvPr id="9" name="Shape 7"/>
          <p:cNvSpPr/>
          <p:nvPr/>
        </p:nvSpPr>
        <p:spPr>
          <a:xfrm>
            <a:off x="621792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41908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MiSans"/>
              </a:rPr>
              <a:t>WHEN</a:t>
            </a:r>
          </a:p>
        </p:txBody>
      </p:sp>
      <p:sp>
        <p:nvSpPr>
          <p:cNvPr id="11" name="Text 9"/>
          <p:cNvSpPr/>
          <p:nvPr/>
        </p:nvSpPr>
        <p:spPr>
          <a:xfrm>
            <a:off x="641908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Use IN when comparing a column to a set list of states, categories, or IDs.</a:t>
            </a:r>
          </a:p>
        </p:txBody>
      </p:sp>
      <p:sp>
        <p:nvSpPr>
          <p:cNvPr id="12" name="Text 10"/>
          <p:cNvSpPr/>
          <p:nvPr/>
        </p:nvSpPr>
        <p:spPr>
          <a:xfrm>
            <a:off x="548640" y="28803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4980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5" name="Text 13"/>
          <p:cNvSpPr/>
          <p:nvPr/>
        </p:nvSpPr>
        <p:spPr>
          <a:xfrm>
            <a:off x="74980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Full source data</a:t>
            </a:r>
          </a:p>
        </p:txBody>
      </p:sp>
      <p:sp>
        <p:nvSpPr>
          <p:cNvPr id="16" name="Shape 14"/>
          <p:cNvSpPr/>
          <p:nvPr/>
        </p:nvSpPr>
        <p:spPr>
          <a:xfrm>
            <a:off x="338328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358444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CEILING()</a:t>
            </a:r>
          </a:p>
        </p:txBody>
      </p:sp>
      <p:sp>
        <p:nvSpPr>
          <p:cNvPr id="18" name="Text 16"/>
          <p:cNvSpPr/>
          <p:nvPr/>
        </p:nvSpPr>
        <p:spPr>
          <a:xfrm>
            <a:off x="358444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Apply criteria</a:t>
            </a:r>
          </a:p>
        </p:txBody>
      </p:sp>
      <p:sp>
        <p:nvSpPr>
          <p:cNvPr id="19" name="Shape 17"/>
          <p:cNvSpPr/>
          <p:nvPr/>
        </p:nvSpPr>
        <p:spPr>
          <a:xfrm>
            <a:off x="621792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41908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Returned Result</a:t>
            </a:r>
          </a:p>
        </p:txBody>
      </p:sp>
      <p:sp>
        <p:nvSpPr>
          <p:cNvPr id="21" name="Text 19"/>
          <p:cNvSpPr/>
          <p:nvPr/>
        </p:nvSpPr>
        <p:spPr>
          <a:xfrm>
            <a:off x="641908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Only requested rows</a:t>
            </a:r>
          </a:p>
        </p:txBody>
      </p:sp>
      <p:sp>
        <p:nvSpPr>
          <p:cNvPr id="22" name="Text 20"/>
          <p:cNvSpPr/>
          <p:nvPr/>
        </p:nvSpPr>
        <p:spPr>
          <a:xfrm>
            <a:off x="544830" y="4457700"/>
            <a:ext cx="8046720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1">
                <a:solidFill>
                  <a:srgbClr val="FFC83D"/>
                </a:solidFill>
                <a:latin typeface="MiSans"/>
              </a:rPr>
              <a:t>TIP:  Always verify performance of CEILING() on large tables.</a:t>
            </a:r>
          </a:p>
        </p:txBody>
      </p:sp>
      <p:sp>
        <p:nvSpPr>
          <p:cNvPr id="23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SQL MASTER  ·  SQL-023: CEILING()</a:t>
            </a:r>
          </a:p>
        </p:txBody>
      </p:sp>
      <p:sp>
        <p:nvSpPr>
          <p:cNvPr id="24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02 / 06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MiSans"/>
              </a:rPr>
              <a:t>How Does CEILING() Work?</a:t>
            </a:r>
          </a:p>
        </p:txBody>
      </p:sp>
      <p:sp>
        <p:nvSpPr>
          <p:cNvPr id="3" name="Shape 1"/>
          <p:cNvSpPr/>
          <p:nvPr/>
        </p:nvSpPr>
        <p:spPr>
          <a:xfrm>
            <a:off x="649224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4922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130552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40280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40280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Products Table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721608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83133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89534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Evaluate Condition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312664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7725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422392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Keep Matching Rows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903720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141464" y="94869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E1E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013448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 Result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48640" y="17830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 PREVIEW</a:t>
            </a:r>
            <a:endParaRPr lang="en-US" sz="1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3342132" cy="1554480"/>
        </p:xfrm>
        <a:graphic>
          <a:graphicData uri="http://schemas.openxmlformats.org/drawingml/2006/table">
            <a:tbl>
              <a:tblPr/>
              <a:tblGrid>
                <a:gridCol w="4274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24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1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606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908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product_id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product_name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brand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price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908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1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Wireless Mouse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Logitech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849.5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908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USB Keyboard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HP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1199.99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908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3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Desk Lamp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Philips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649.75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908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908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4709160" y="17830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SQL QUERY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709160" y="2103120"/>
            <a:ext cx="3886200" cy="1143000"/>
          </a:xfrm>
          <a:prstGeom prst="roundRect">
            <a:avLst>
              <a:gd name="adj" fmla="val 64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4910328" y="2249424"/>
            <a:ext cx="3483864" cy="850392"/>
          </a:xfrm>
          <a:prstGeom prst="rect">
            <a:avLst/>
          </a:prstGeom>
          <a:noFill/>
          <a:ln/>
        </p:spPr>
        <p:txBody>
          <a:bodyPr wrap="square" lIns="201168" tIns="201168" rIns="201168" bIns="164592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CEILING(price)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products;</a:t>
            </a:r>
          </a:p>
        </p:txBody>
      </p:sp>
      <p:sp>
        <p:nvSpPr>
          <p:cNvPr id="22" name="Text 19"/>
          <p:cNvSpPr/>
          <p:nvPr/>
        </p:nvSpPr>
        <p:spPr>
          <a:xfrm>
            <a:off x="4709160" y="33832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RETURNED RESULT</a:t>
            </a:r>
            <a:endParaRPr lang="en-US" sz="120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703320"/>
          <a:ext cx="3303270" cy="738376"/>
        </p:xfrm>
        <a:graphic>
          <a:graphicData uri="http://schemas.openxmlformats.org/drawingml/2006/table">
            <a:tbl>
              <a:tblPr/>
              <a:tblGrid>
                <a:gridCol w="33032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84594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FFFFFF"/>
                          </a:solidFill>
                          <a:latin typeface="MiSans"/>
                        </a:rPr>
                        <a:t>CEILING(price)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4594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850.0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4594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1200.0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4594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650.0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5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SQL MASTER  ·  SQL-023: CEILING()</a:t>
            </a:r>
          </a:p>
        </p:txBody>
      </p:sp>
      <p:sp>
        <p:nvSpPr>
          <p:cNvPr id="26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03 / 06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MiSans"/>
              </a:rPr>
              <a:t>CEILING() in Action</a:t>
            </a:r>
          </a:p>
        </p:txBody>
      </p:sp>
      <p:sp>
        <p:nvSpPr>
          <p:cNvPr id="3" name="Text 1"/>
          <p:cNvSpPr/>
          <p:nvPr/>
        </p:nvSpPr>
        <p:spPr>
          <a:xfrm>
            <a:off x="57023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SYNTAX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794760" cy="1005840"/>
          </a:xfrm>
          <a:prstGeom prst="roundRect">
            <a:avLst>
              <a:gd name="adj" fmla="val 80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517904"/>
            <a:ext cx="3346704" cy="621792"/>
          </a:xfrm>
          <a:prstGeom prst="rect">
            <a:avLst/>
          </a:prstGeom>
          <a:noFill/>
          <a:ln/>
        </p:spPr>
        <p:txBody>
          <a:bodyPr wrap="square" lIns="201168" tIns="201168" rIns="201168" bIns="164592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column_name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products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condition;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4231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FACC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SCENARIO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3749040" cy="1051560"/>
          </a:xfrm>
          <a:prstGeom prst="roundRect">
            <a:avLst>
              <a:gd name="adj" fmla="val 6957"/>
            </a:avLst>
          </a:prstGeom>
          <a:solidFill>
            <a:srgbClr val="1F1A0D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49808" y="2889504"/>
            <a:ext cx="3346704" cy="7772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9D4E5"/>
                </a:solidFill>
                <a:latin typeface="MiSans"/>
              </a:rPr>
              <a:t>Rounded up prices</a:t>
            </a:r>
          </a:p>
        </p:txBody>
      </p:sp>
      <p:sp>
        <p:nvSpPr>
          <p:cNvPr id="9" name="Text 7"/>
          <p:cNvSpPr/>
          <p:nvPr/>
        </p:nvSpPr>
        <p:spPr>
          <a:xfrm>
            <a:off x="4709160" y="100584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 QUERY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09160" y="1303020"/>
            <a:ext cx="3977640" cy="1394460"/>
          </a:xfrm>
          <a:prstGeom prst="roundRect">
            <a:avLst>
              <a:gd name="adj" fmla="val 615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910328" y="1517904"/>
            <a:ext cx="3483864" cy="896112"/>
          </a:xfrm>
          <a:prstGeom prst="rect">
            <a:avLst/>
          </a:prstGeom>
          <a:noFill/>
          <a:ln/>
        </p:spPr>
        <p:txBody>
          <a:bodyPr wrap="square" lIns="201168" tIns="201168" rIns="201168" bIns="164592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CEILING(price)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products;</a:t>
            </a:r>
          </a:p>
        </p:txBody>
      </p:sp>
      <p:sp>
        <p:nvSpPr>
          <p:cNvPr id="12" name="Text 10"/>
          <p:cNvSpPr/>
          <p:nvPr/>
        </p:nvSpPr>
        <p:spPr>
          <a:xfrm>
            <a:off x="4709160" y="274320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EXPECTED RESULT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063240"/>
          <a:ext cx="3303270" cy="854964"/>
        </p:xfrm>
        <a:graphic>
          <a:graphicData uri="http://schemas.openxmlformats.org/drawingml/2006/table">
            <a:tbl>
              <a:tblPr/>
              <a:tblGrid>
                <a:gridCol w="8938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378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1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3741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MiSans"/>
                        </a:rPr>
                        <a:t>CEILING(price)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3741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9D4E5"/>
                          </a:solidFill>
                          <a:latin typeface="MiSans"/>
                        </a:rPr>
                        <a:t>850.0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3741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9D4E5"/>
                          </a:solidFill>
                          <a:latin typeface="MiSans"/>
                        </a:rPr>
                        <a:t>1200.0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3741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9D4E5"/>
                          </a:solidFill>
                          <a:latin typeface="MiSans"/>
                        </a:rPr>
                        <a:t>650.0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2" name="Text 19"/>
          <p:cNvSpPr/>
          <p:nvPr/>
        </p:nvSpPr>
        <p:spPr>
          <a:xfrm>
            <a:off x="158750" y="4873244"/>
            <a:ext cx="45720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SQL MASTER  ·  SQL-023: CEILING()</a:t>
            </a:r>
          </a:p>
        </p:txBody>
      </p:sp>
      <p:sp>
        <p:nvSpPr>
          <p:cNvPr id="23" name="Text 20"/>
          <p:cNvSpPr/>
          <p:nvPr/>
        </p:nvSpPr>
        <p:spPr>
          <a:xfrm>
            <a:off x="8020050" y="4859020"/>
            <a:ext cx="9144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04 / 06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Sans"/>
              </a:rPr>
              <a:t>Common Mistakes &amp; Best Practices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MISTAKES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Using multiple OR statements instead of the IN operator.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Forgetting that BETWEEN is inclusive of boundaries.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Matching empty strings or NULL values using IN.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MESSY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Hardcoding very long list values inside the IN clause.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Using BETWEEN with incompatible date string formats.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Combining IN with NOT without explicit parentheses.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BEST PRACTICES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Replace long OR lists with a clean IN condition.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Verify range boundaries before applying BETWEEN.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Ensure IN lists are sorted or indexed for speed.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CLEAN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Format IN list elements on new lines if very long.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Use BETWEEN for numeric, date, and time ranges.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Verify execution paths for subqueries inside IN.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800">
                <a:solidFill>
                  <a:srgbClr val="8AA0BF"/>
                </a:solidFill>
                <a:latin typeface="MiSans"/>
              </a:rPr>
              <a:t>SQL MASTER  ·  SQL-023: CEILING()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05 / 06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MiSans"/>
              </a:rPr>
              <a:t>Key Takeaways &amp; Your Challenge</a:t>
            </a:r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TAKEAWAYS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3749040" cy="1874520"/>
          </a:xfrm>
          <a:prstGeom prst="roundRect">
            <a:avLst>
              <a:gd name="adj" fmla="val 3902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481328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24128" y="1481328"/>
            <a:ext cx="3108960" cy="384048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9D4E5"/>
                </a:solidFill>
                <a:latin typeface="MiSans"/>
              </a:rPr>
              <a:t>CEILING is a core component of SQL query structure.</a:t>
            </a:r>
          </a:p>
        </p:txBody>
      </p:sp>
      <p:sp>
        <p:nvSpPr>
          <p:cNvPr id="7" name="Text 5"/>
          <p:cNvSpPr/>
          <p:nvPr/>
        </p:nvSpPr>
        <p:spPr>
          <a:xfrm>
            <a:off x="749808" y="1901952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24128" y="1901952"/>
            <a:ext cx="3108960" cy="384048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9D4E5"/>
                </a:solidFill>
                <a:latin typeface="MiSans"/>
              </a:rPr>
              <a:t>It helps optimize data retrieval and organization.</a:t>
            </a:r>
          </a:p>
        </p:txBody>
      </p:sp>
      <p:sp>
        <p:nvSpPr>
          <p:cNvPr id="9" name="Text 7"/>
          <p:cNvSpPr/>
          <p:nvPr/>
        </p:nvSpPr>
        <p:spPr>
          <a:xfrm>
            <a:off x="749808" y="2322576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24128" y="2322576"/>
            <a:ext cx="3108960" cy="384048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9D4E5"/>
                </a:solidFill>
                <a:latin typeface="MiSans"/>
              </a:rPr>
              <a:t>Use it to satisfy specific business scenario criteria.</a:t>
            </a:r>
          </a:p>
        </p:txBody>
      </p:sp>
      <p:sp>
        <p:nvSpPr>
          <p:cNvPr id="11" name="Text 9"/>
          <p:cNvSpPr/>
          <p:nvPr/>
        </p:nvSpPr>
        <p:spPr>
          <a:xfrm>
            <a:off x="749808" y="274320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24128" y="2743200"/>
            <a:ext cx="3108960" cy="384048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9D4E5"/>
                </a:solidFill>
                <a:latin typeface="MiSans"/>
              </a:rPr>
              <a:t>Combine with other clauses for advanced calculations.</a:t>
            </a:r>
          </a:p>
        </p:txBody>
      </p:sp>
      <p:sp>
        <p:nvSpPr>
          <p:cNvPr id="19" name="Text 17"/>
          <p:cNvSpPr/>
          <p:nvPr/>
        </p:nvSpPr>
        <p:spPr>
          <a:xfrm>
            <a:off x="484632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CONTINUE LEARNING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102352" y="1325880"/>
            <a:ext cx="329184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Practice on DB Fiddle</a:t>
            </a:r>
          </a:p>
        </p:txBody>
      </p:sp>
      <p:sp>
        <p:nvSpPr>
          <p:cNvPr id="23" name="Text 21"/>
          <p:cNvSpPr/>
          <p:nvPr/>
        </p:nvSpPr>
        <p:spPr>
          <a:xfrm>
            <a:off x="5102352" y="1655064"/>
            <a:ext cx="329184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View Solution on GitHub</a:t>
            </a:r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SQL MASTER  ·  SQL-023: CEILING()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06 /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MiSans"/>
              </a:rPr>
              <a:t>PRACTICE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95528"/>
            <a:ext cx="804672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400">
                <a:solidFill>
                  <a:srgbClr val="C9D4E5"/>
                </a:solidFill>
                <a:latin typeface="MiSans"/>
              </a:rPr>
              <a:t>Test your understanding by solving the following questions before viewing the solution.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804672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1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query to display each product's price rounded UP to the nearest integer using CEILING(price).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2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query to calculate the discounted price (price * (1 - discount_pct/100)) and then apply CEILING() to round it up to the nearest integer. Label it "Ceiling Price".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3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The billing system always rounds up to the nearest whole number to avoid fractional amounts. Write a query to display product_name, brand, price, and CEILING(price) as "Billable Price".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4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query to calculate the ceiling of the discounted price: CEILING(price * (1 - discount_pct/100)). Display product_name, price, discount_pct, and the ceiling discounted price. Sort by ceiling discounted price ascending.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00">
                <a:solidFill>
                  <a:srgbClr val="8AA0BF"/>
                </a:solidFill>
                <a:latin typeface="MiSans"/>
              </a:rPr>
              <a:t>SQL MASTER  ·  SQL-023: CEILING()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07 / 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579</Words>
  <Application>Microsoft Office PowerPoint</Application>
  <PresentationFormat>On-screen Show (16:9)</PresentationFormat>
  <Paragraphs>186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Inter</vt:lpstr>
      <vt:lpstr>JetBrains Mono</vt:lpstr>
      <vt:lpstr>MiSans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SQL-002 — WHERE</dc:title>
  <dc:subject>PptxGenJS Presentation</dc:subject>
  <dc:creator>SQL Master</dc:creator>
  <cp:lastModifiedBy>Zuboraj</cp:lastModifiedBy>
  <cp:revision>4</cp:revision>
  <dcterms:created xsi:type="dcterms:W3CDTF">2026-07-08T08:16:46Z</dcterms:created>
  <dcterms:modified xsi:type="dcterms:W3CDTF">2026-07-08T09:47:15Z</dcterms:modified>
</cp:coreProperties>
</file>